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[Shourya] Good morning. I am Shourya, and with Shashwat, Rishik and Shubhankar I will present MirageAI: Concrete vs. Canopy, explainable machine learning for urban heat island drivers in Pune. In one sentence: we expected Pune to show a daytime urban heat island, and in the satellite data it turns out to be a mirage. The city core is cooler than its dry surroundings. Over the next twelve minutes we show how we measured that honestly, what the models associate with surface heat, and what that means for greening the hottest parts of the city. Every claim is an association from comparing places, not a causal effect.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[Shourya] Indian cities are writing heat action plans, and the practical question is where greening would cool most. Satellite land surface temperature is the usual evidence: free, city-wide and repeatable. Two things make it easy to misuse. First, textbook cities are warmer than their surroundings, but daytime Pune is the opposite: land cells within five kilometres of the centre are 3.4 to 4.0 °C cooler than the outer ring beyond twelve, in every one of the three years. Assume a hot core and you green the wrong places. Second, most published temperature models are scored on randomly held-out pixels, which flatters them.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[Shourya] Formally, this is supervised regression on spatially autocorrelated data. The inputs are satellite land cover, spectral indices and terrain for every hundred-metre cell; the output is that cell's daytime temperature anomaly. Three requirements make it hard. Accuracy must be honest, so whole areas and a whole year are held out. Explanations must survive a change of model or SHAP method. And greening scenarios must be ranges with stated assumptions. One hard rule runs through everything: coordinates are never inputs, otherwise the model memorises where a cell is instead of learning why it is hot.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[Shourya] Five research questions structure the work. The first asks which land-cover and terrain factors are associated with daytime surface temperature. The second asks whether nonlinear models find thresholds and interactions that a linear model misses. The third measures how much random cross-validation overstates accuracy. The fourth asks how much cooling is associated with more tree cover in the hottest urban cells. The fifth asks whether Pune has a daytime cool island, and whether the negative built-up association survives once vegetation and dryness are modelled. Each gets a number by the end. Shashwat will now take you through the data and method.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[Shourya] The study area is a box over Pune and Pimpri-Chinchwad on a hundred-metre grid, the native resolution of the Landsat thermal band. We use three pre-monsoon seasons, March to May of 2023, 2024 and 2025, when skies are clear and surface heat peaks. All four sources come through Google Earth Engine. Landsat 8 and 9 give the target, land surface temperature. Sentinel-2 gives NDVI, a dryness index and a moisture index. ESA WorldCover gives seven land-cover fractions per cell, and SRTM gives elevation and slope. We dropped 2,697 water-majority rows, leaving 81,084 land cells a year, 243,252 cell-years and 13 features.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[Shashwat] Thank you, Shourya. The target is each cell's temperature anomaly from that year's city median, because the absolute level shifts between years with weather and scene timing. The key design choice is validation. Neighbouring cells are nearly identical, so we hold out whole square blocks. The block size comes from the autocorrelation the model cannot explain: the residual variogram flattens at about 3,950 metres, so we use four-kilometre blocks. The map on the right shows one layout: blocks are dealt to 5 folds at random, repeated over 5 seeds, so every score is a mean over 25 runs. The 2025 season is held back as an untouched test.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[Shashwat] This is the whole pipeline. We extract and composite the data in Earth Engine, then build the hundred-metre table with the anomaly target and remove water cells. Stage three is the validation design you just saw. We then train a baseline and four learners, tuned inside the spatial folds, and evaluate them under random, spatial and spatio-temporal cross-validation. Stage six explains the models with SHAP; stage seven runs the greening scenarios; stage eight is this deck, the report and the dashboard. The blue stages are the ones that decide whether the results can be trusted. One command rebuilds everything, and a script re-checks every number we quote against the output tables.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[Shashwat] The first thing the data showed us. On the left is the 2024 temperature map: rivers and reservoirs are coolest, the dry hills and fringe are hottest, and the built-up core sits in between. On the right, cell by cell, the least-built tenth of cells runs 2.1 °C warmer than cells that are eighty to ninety percent built, in all three years. The second panel explains why NDBI misleads here. It was designed as a built-up index, but it peaks in the least-built cells, because it tracks dry grass, fallow fields and bare soil. So we call it a dryness index throughout, and MNDWI a moisture index.</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[Shashwat] We compare five models on exactly the same folds. The mean baseline is the floor. Linear regression, standardised inside each fold, stands for the linear status quo in heat island studies. Random Forest averages many deep trees; XGBoost and LightGBM are gradient boosting, which adds small trees one at a time to fix the previous errors. Hyperparameters come from a randomised search of 25 candidates per model, scored inside the four-kilometre spatial folds, on 2023 and 2024 only and a 60,000-row sample. So the 2025 test never influenced a single setting. All three tree models settle on large, slowly learning ensembles.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[Shashwat] We score every model by RMSE in degrees, with R squared and residual Moran's I as diagnostics, under random, block and spatio-temporal tests. Here error rises steadily as the held-out blocks grow from one to eight kilometres. The key finding is that the inflation depends on the model. Going from random to four-kilometre blocks, linear regression loses only 0.02 °C, while the tree models lose 0.12 to 0.15 °C. The most flexible model, XGBoost, loses the most, 0.15 °C. So random validation does not just inflate scores, it changes which model looks best. Rishik will now show the results.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[Rishik] Thank you, Shashwat. The table gives RMSE in degrees for each model under each test. Under random validation XGBoost looks best. Once whole blocks are held out, the three tree models are tied, between 1.75 and 1.76 °C, well inside the fold spread. The cleanest test is 2025: places and a year the models never saw. LightGBM scores 1.75 °C, R squared 0.72. The last column scores the same rows with a model that had seen those places in 2023 and 2024. The difference is the memorisation gap: 0.15 to 0.23 °C for the trees but only 0.02 for linear regression. We use LightGBM as the reference: lowest on 2025 and cheapest to explain.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[Rishik] SHAP splits each prediction into contributions from each feature, in degrees. NDVI, dryness and moisture are strongly correlated, so the models trade credit between them, and we rank groups instead. The spectral block dominates: 1.49 °C on average per cell, about 2.1 times dry cover at 0.72 °C. In urban cells, dry cover rises to 0.82 °C. Built-up fraction, the concrete in our title, is the smallest group. XGBoost gives the same ranking, rank correlation 0.99. The map shows the leading group per cell: spectral in 66.8% of cells and dry cover in 24.5%, rising to 42.7% of urban cells. The leading group is the same under XGBoost for 95% of cells. These are associations, not causes.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[Rishik] We targeted the 2,673 urban cells in the hottest tenth of observed three-year temperature: mostly tree-sparse fringe development on the eastern edge, shown on the left. We raised their tree cover, taking the new canopy from built, bare and grass in proportion. The lower bound holds the spectral indices fixed; the realistic bound lets them respond. Adding ten points of tree cover is associated with 0.37 to 1.02 °C cooler surfaces, and twenty points with 0.56 to 1.63. Gains per point roughly halve past the knot, from 0.12 to 0.05 °C. We exclude the first pixel of canopy: on its own it is worth 1.4 °C, which reflects what tree-less places are, not what one tree does.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[Rishik] Everything we have shown is also in an interactive Streamlit dashboard. It has nine pages, from the dataset and exploratory maps to evaluation, explainability and the scenario results. It is read-only: it loads the tables and figures the pipeline wrote, so it cannot disagree with the report. The one live page is interactive prediction, shown here. We pick a hot, tree-less fringe cell; the final LightGBM predicts its anomaly and breaks it into per-feature contributions, red for warming and blue for cooling. Then we add tree cover and see the lower-bound change. If the live demo is slow, this screenshot is the same page. Shubhankar will close with what we learned.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[Shubhankar] Thank you, Rishik. Three insights. First, concrete. On raw data more built-up cover goes with cooler surfaces, -0.22 °C per ten points. With vegetation and dryness in the model, that association shrinks to -0.029 °C, 87% smaller, and it does not flip. So the cool core is mostly a vegetation and dryness contrast, not an effect of buildings. Second, canopy. The tree-cover response bends: about -0.25 °C per ten points up to a knot at 10.2%, then only -0.07 beyond, and both models agree on that shape. Third, method. Random validation flatters flexible models, so spatial validation is the honest score.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[Shubhankar] Four limits. One: land surface temperature is the skin temperature the satellite sees in daytime, not air temperature or comfort. Two: everything is an association from comparing places; we have no before-and-after planting evidence. Three: the residuals are still clustered, with Moran's I around 0.6, which points to drivers we cannot see, such as building height, roofing material and irrigation. The map shows those clusters, red where a cell is hotter than predicted. Four: land cover is a single 2021 map for all three years. None of these changes the validation results; they bound how far the scenarios can be read.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[Shubhankar] With more time we would do six things. Add the urban-form layers the residuals point to: building height, roof material and irrigated green space. Pair surface temperature with ground or mobile air-temperature data, to see whether the associations carry over to the air people breathe. Use land-cover change over several years for before-and-after comparisons. Extend to night-time and post-monsoon composites, where the heat island may not be inverted. Run nested spatial cross-validation to remove the small tuning optimism. And ship the index models so the dashboard can show the realistic bound live.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[Shubhankar] To conclude, three numbers and one sentence. Spatially validated models map the anomaly to 1.75 °C RMSE, R squared 0.72, in places and a year they never saw. And the sentence we would give a planner, read as written: Pune's hottest urban surfaces are tree-sparse fringe developments, mostly on the eastern edge. In these data, raising them to about ten percent tree cover is associated with roughly 0.4 to 1.0 °C cooler daytime surfaces, with gains per point roughly halving beyond ten to twelve percent cover. These are cross-sectional associations, not measured effects of planting. In daytime Pune, the surface heat is in the dry fringe, not the dense core.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[Shubhankar] Thank you for listening. We are happy to take questions, and every number you have seen can be traced to an output table and a logged decision.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7.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9.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548640" y="6382512"/>
            <a:ext cx="11094415"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502920" y="6428232"/>
            <a:ext cx="5486400" cy="274320"/>
          </a:xfrm>
          <a:prstGeom prst="rect">
            <a:avLst/>
          </a:prstGeom>
          <a:noFill/>
        </p:spPr>
        <p:txBody>
          <a:bodyPr wrap="square" anchor="t" lIns="45720" rIns="45720">
            <a:spAutoFit/>
          </a:bodyPr>
          <a:lstStyle/>
          <a:p>
            <a:pPr algn="l">
              <a:spcAft>
                <a:spcPts val="600"/>
              </a:spcAft>
            </a:pPr>
            <a:r>
              <a:rPr sz="1000" b="0">
                <a:solidFill>
                  <a:srgbClr val="898781"/>
                </a:solidFill>
                <a:latin typeface="Calibri"/>
              </a:rPr>
              <a:t>MirageAI · Concrete vs. Canopy</a:t>
            </a:r>
          </a:p>
        </p:txBody>
      </p:sp>
      <p:sp>
        <p:nvSpPr>
          <p:cNvPr id="4" name="TextBox 3"/>
          <p:cNvSpPr txBox="1"/>
          <p:nvPr/>
        </p:nvSpPr>
        <p:spPr>
          <a:xfrm>
            <a:off x="10607040" y="6428232"/>
            <a:ext cx="1097280" cy="274320"/>
          </a:xfrm>
          <a:prstGeom prst="rect">
            <a:avLst/>
          </a:prstGeom>
          <a:noFill/>
        </p:spPr>
        <p:txBody>
          <a:bodyPr wrap="square" anchor="t" lIns="45720" rIns="45720">
            <a:spAutoFit/>
          </a:bodyPr>
          <a:lstStyle/>
          <a:p>
            <a:pPr algn="r">
              <a:spcAft>
                <a:spcPts val="600"/>
              </a:spcAft>
            </a:pPr>
            <a:r>
              <a:rPr sz="1000" b="0">
                <a:solidFill>
                  <a:srgbClr val="898781"/>
                </a:solidFill>
                <a:latin typeface="Calibri"/>
              </a:rPr>
              <a:t>1 / 19</a:t>
            </a:r>
          </a:p>
        </p:txBody>
      </p:sp>
      <p:sp>
        <p:nvSpPr>
          <p:cNvPr id="5" name="TextBox 4"/>
          <p:cNvSpPr txBox="1"/>
          <p:nvPr/>
        </p:nvSpPr>
        <p:spPr>
          <a:xfrm>
            <a:off x="548640" y="822960"/>
            <a:ext cx="6400800" cy="1005840"/>
          </a:xfrm>
          <a:prstGeom prst="rect">
            <a:avLst/>
          </a:prstGeom>
          <a:noFill/>
        </p:spPr>
        <p:txBody>
          <a:bodyPr wrap="square" anchor="t" lIns="45720" rIns="45720">
            <a:spAutoFit/>
          </a:bodyPr>
          <a:lstStyle/>
          <a:p>
            <a:pPr algn="l">
              <a:spcAft>
                <a:spcPts val="600"/>
              </a:spcAft>
            </a:pPr>
            <a:r>
              <a:rPr sz="5400" b="1">
                <a:solidFill>
                  <a:srgbClr val="2A78D6"/>
                </a:solidFill>
                <a:latin typeface="Calibri"/>
              </a:rPr>
              <a:t>MirageAI</a:t>
            </a:r>
          </a:p>
        </p:txBody>
      </p:sp>
      <p:sp>
        <p:nvSpPr>
          <p:cNvPr id="6" name="TextBox 5"/>
          <p:cNvSpPr txBox="1"/>
          <p:nvPr/>
        </p:nvSpPr>
        <p:spPr>
          <a:xfrm>
            <a:off x="548640" y="1874519"/>
            <a:ext cx="6035040" cy="1554480"/>
          </a:xfrm>
          <a:prstGeom prst="rect">
            <a:avLst/>
          </a:prstGeom>
          <a:noFill/>
        </p:spPr>
        <p:txBody>
          <a:bodyPr wrap="square" anchor="t" lIns="45720" rIns="45720">
            <a:spAutoFit/>
          </a:bodyPr>
          <a:lstStyle/>
          <a:p>
            <a:pPr algn="l">
              <a:spcAft>
                <a:spcPts val="600"/>
              </a:spcAft>
            </a:pPr>
            <a:r>
              <a:rPr sz="2800" b="1">
                <a:solidFill>
                  <a:srgbClr val="0B0B0B"/>
                </a:solidFill>
                <a:latin typeface="Calibri"/>
              </a:rPr>
              <a:t>Concrete vs. Canopy: Explainable Machine Learning for Urban Heat Island Drivers in Pune</a:t>
            </a:r>
          </a:p>
        </p:txBody>
      </p:sp>
      <p:cxnSp>
        <p:nvCxnSpPr>
          <p:cNvPr id="7" name="Connector 6"/>
          <p:cNvCxnSpPr/>
          <p:nvPr/>
        </p:nvCxnSpPr>
        <p:spPr>
          <a:xfrm>
            <a:off x="566928" y="3657600"/>
            <a:ext cx="1261872" cy="0"/>
          </a:xfrm>
          <a:prstGeom prst="line">
            <a:avLst/>
          </a:prstGeom>
          <a:ln w="38100">
            <a:solidFill>
              <a:srgbClr val="2A78D6"/>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3840480"/>
            <a:ext cx="6035040" cy="1371600"/>
          </a:xfrm>
          <a:prstGeom prst="rect">
            <a:avLst/>
          </a:prstGeom>
          <a:noFill/>
        </p:spPr>
        <p:txBody>
          <a:bodyPr wrap="square" anchor="t" lIns="45720" rIns="45720">
            <a:spAutoFit/>
          </a:bodyPr>
          <a:lstStyle/>
          <a:p>
            <a:pPr algn="l">
              <a:spcAft>
                <a:spcPts val="400"/>
              </a:spcAft>
            </a:pPr>
            <a:r>
              <a:rPr sz="1700" b="0">
                <a:solidFill>
                  <a:srgbClr val="0B0B0B"/>
                </a:solidFill>
                <a:latin typeface="Calibri"/>
              </a:rPr>
              <a:t>Shourya Tiwari · Shashwat Kumar</a:t>
            </a:r>
          </a:p>
          <a:p>
            <a:pPr algn="l">
              <a:spcAft>
                <a:spcPts val="400"/>
              </a:spcAft>
            </a:pPr>
            <a:r>
              <a:rPr sz="1700" b="0">
                <a:solidFill>
                  <a:srgbClr val="0B0B0B"/>
                </a:solidFill>
                <a:latin typeface="Calibri"/>
              </a:rPr>
              <a:t>Rishik Sinha · Shubhankar Bhan</a:t>
            </a:r>
          </a:p>
        </p:txBody>
      </p:sp>
      <p:sp>
        <p:nvSpPr>
          <p:cNvPr id="9" name="TextBox 8"/>
          <p:cNvSpPr txBox="1"/>
          <p:nvPr/>
        </p:nvSpPr>
        <p:spPr>
          <a:xfrm>
            <a:off x="548640" y="5074920"/>
            <a:ext cx="6217920" cy="822960"/>
          </a:xfrm>
          <a:prstGeom prst="rect">
            <a:avLst/>
          </a:prstGeom>
          <a:noFill/>
        </p:spPr>
        <p:txBody>
          <a:bodyPr wrap="square" anchor="t" lIns="45720" rIns="45720">
            <a:spAutoFit/>
          </a:bodyPr>
          <a:lstStyle/>
          <a:p>
            <a:pPr algn="l">
              <a:spcAft>
                <a:spcPts val="200"/>
              </a:spcAft>
            </a:pPr>
            <a:r>
              <a:rPr sz="1400" b="0">
                <a:solidFill>
                  <a:srgbClr val="898781"/>
                </a:solidFill>
                <a:latin typeface="Calibri"/>
              </a:rPr>
              <a:t>Applications and Use Cases of Machine Learning (TE7483)</a:t>
            </a:r>
          </a:p>
          <a:p>
            <a:pPr algn="l">
              <a:spcAft>
                <a:spcPts val="200"/>
              </a:spcAft>
            </a:pPr>
            <a:r>
              <a:rPr sz="1400" b="0">
                <a:solidFill>
                  <a:srgbClr val="898781"/>
                </a:solidFill>
                <a:latin typeface="Calibri"/>
              </a:rPr>
              <a:t>Symbiosis Institute of Technology, Pune</a:t>
            </a:r>
          </a:p>
        </p:txBody>
      </p:sp>
      <p:pic>
        <p:nvPicPr>
          <p:cNvPr id="10" name="Picture 9" descr="01_lst_map_2024.png"/>
          <p:cNvPicPr>
            <a:picLocks noChangeAspect="1"/>
          </p:cNvPicPr>
          <p:nvPr/>
        </p:nvPicPr>
        <p:blipFill>
          <a:blip r:embed="rId3"/>
          <a:stretch>
            <a:fillRect/>
          </a:stretch>
        </p:blipFill>
        <p:spPr>
          <a:xfrm>
            <a:off x="6812280" y="1402350"/>
            <a:ext cx="5029200" cy="3916138"/>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66928"/>
            <a:ext cx="11064240" cy="685800"/>
          </a:xfrm>
          <a:prstGeom prst="rect">
            <a:avLst/>
          </a:prstGeom>
          <a:noFill/>
        </p:spPr>
        <p:txBody>
          <a:bodyPr wrap="square" anchor="t" lIns="45720" rIns="45720">
            <a:spAutoFit/>
          </a:bodyPr>
          <a:lstStyle/>
          <a:p>
            <a:pPr algn="l">
              <a:spcAft>
                <a:spcPts val="600"/>
              </a:spcAft>
            </a:pPr>
            <a:r>
              <a:rPr sz="3000" b="1">
                <a:solidFill>
                  <a:srgbClr val="0B0B0B"/>
                </a:solidFill>
                <a:latin typeface="Calibri"/>
              </a:rPr>
              <a:t>Where would greening cool Pune most?</a:t>
            </a:r>
          </a:p>
        </p:txBody>
      </p:sp>
      <p:sp>
        <p:nvSpPr>
          <p:cNvPr id="3" name="TextBox 2"/>
          <p:cNvSpPr txBox="1"/>
          <p:nvPr/>
        </p:nvSpPr>
        <p:spPr>
          <a:xfrm>
            <a:off x="566928" y="274320"/>
            <a:ext cx="7315200" cy="320040"/>
          </a:xfrm>
          <a:prstGeom prst="rect">
            <a:avLst/>
          </a:prstGeom>
          <a:noFill/>
        </p:spPr>
        <p:txBody>
          <a:bodyPr wrap="square" anchor="t" lIns="45720" rIns="45720">
            <a:spAutoFit/>
          </a:bodyPr>
          <a:lstStyle/>
          <a:p>
            <a:pPr algn="l">
              <a:spcAft>
                <a:spcPts val="600"/>
              </a:spcAft>
            </a:pPr>
            <a:r>
              <a:rPr sz="1200" b="1">
                <a:solidFill>
                  <a:srgbClr val="2A78D6"/>
                </a:solidFill>
                <a:latin typeface="Calibri"/>
              </a:rPr>
              <a:t>MOTIVATION</a:t>
            </a:r>
          </a:p>
        </p:txBody>
      </p:sp>
      <p:cxnSp>
        <p:nvCxnSpPr>
          <p:cNvPr id="4" name="Connector 3"/>
          <p:cNvCxnSpPr/>
          <p:nvPr/>
        </p:nvCxnSpPr>
        <p:spPr>
          <a:xfrm>
            <a:off x="548640" y="6382512"/>
            <a:ext cx="11094415"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428232"/>
            <a:ext cx="5486400" cy="274320"/>
          </a:xfrm>
          <a:prstGeom prst="rect">
            <a:avLst/>
          </a:prstGeom>
          <a:noFill/>
        </p:spPr>
        <p:txBody>
          <a:bodyPr wrap="square" anchor="t" lIns="45720" rIns="45720">
            <a:spAutoFit/>
          </a:bodyPr>
          <a:lstStyle/>
          <a:p>
            <a:pPr algn="l">
              <a:spcAft>
                <a:spcPts val="600"/>
              </a:spcAft>
            </a:pPr>
            <a:r>
              <a:rPr sz="1000" b="0">
                <a:solidFill>
                  <a:srgbClr val="898781"/>
                </a:solidFill>
                <a:latin typeface="Calibri"/>
              </a:rPr>
              <a:t>MirageAI · Concrete vs. Canopy</a:t>
            </a:r>
          </a:p>
        </p:txBody>
      </p:sp>
      <p:sp>
        <p:nvSpPr>
          <p:cNvPr id="6" name="TextBox 5"/>
          <p:cNvSpPr txBox="1"/>
          <p:nvPr/>
        </p:nvSpPr>
        <p:spPr>
          <a:xfrm>
            <a:off x="10607040" y="6428232"/>
            <a:ext cx="1097280" cy="274320"/>
          </a:xfrm>
          <a:prstGeom prst="rect">
            <a:avLst/>
          </a:prstGeom>
          <a:noFill/>
        </p:spPr>
        <p:txBody>
          <a:bodyPr wrap="square" anchor="t" lIns="45720" rIns="45720">
            <a:spAutoFit/>
          </a:bodyPr>
          <a:lstStyle/>
          <a:p>
            <a:pPr algn="r">
              <a:spcAft>
                <a:spcPts val="600"/>
              </a:spcAft>
            </a:pPr>
            <a:r>
              <a:rPr sz="1000" b="0">
                <a:solidFill>
                  <a:srgbClr val="898781"/>
                </a:solidFill>
                <a:latin typeface="Calibri"/>
              </a:rPr>
              <a:t>2 / 19</a:t>
            </a:r>
          </a:p>
        </p:txBody>
      </p:sp>
      <p:sp>
        <p:nvSpPr>
          <p:cNvPr id="7" name="TextBox 6"/>
          <p:cNvSpPr txBox="1"/>
          <p:nvPr/>
        </p:nvSpPr>
        <p:spPr>
          <a:xfrm>
            <a:off x="731520" y="1737360"/>
            <a:ext cx="5120640" cy="952500"/>
          </a:xfrm>
          <a:prstGeom prst="rect">
            <a:avLst/>
          </a:prstGeom>
          <a:noFill/>
        </p:spPr>
        <p:txBody>
          <a:bodyPr wrap="square" anchor="t" lIns="45720" rIns="45720">
            <a:spAutoFit/>
          </a:bodyPr>
          <a:lstStyle/>
          <a:p>
            <a:pPr algn="l">
              <a:spcAft>
                <a:spcPts val="600"/>
              </a:spcAft>
            </a:pPr>
            <a:r>
              <a:rPr sz="6000" b="1">
                <a:solidFill>
                  <a:srgbClr val="2A78D6"/>
                </a:solidFill>
                <a:latin typeface="Calibri"/>
              </a:rPr>
              <a:t>3.4–4.0 °C</a:t>
            </a:r>
          </a:p>
        </p:txBody>
      </p:sp>
      <p:sp>
        <p:nvSpPr>
          <p:cNvPr id="8" name="TextBox 7"/>
          <p:cNvSpPr txBox="1"/>
          <p:nvPr/>
        </p:nvSpPr>
        <p:spPr>
          <a:xfrm>
            <a:off x="731520" y="2689860"/>
            <a:ext cx="5120640" cy="822960"/>
          </a:xfrm>
          <a:prstGeom prst="rect">
            <a:avLst/>
          </a:prstGeom>
          <a:noFill/>
        </p:spPr>
        <p:txBody>
          <a:bodyPr wrap="square" anchor="t" lIns="45720" rIns="45720">
            <a:spAutoFit/>
          </a:bodyPr>
          <a:lstStyle/>
          <a:p>
            <a:pPr algn="l">
              <a:spcAft>
                <a:spcPts val="600"/>
              </a:spcAft>
            </a:pPr>
            <a:r>
              <a:rPr sz="1500" b="0">
                <a:solidFill>
                  <a:srgbClr val="52514E"/>
                </a:solidFill>
                <a:latin typeface="Calibri"/>
              </a:rPr>
              <a:t>cooler: city core vs outer ring, land cells, daytime, 2023–25</a:t>
            </a:r>
          </a:p>
        </p:txBody>
      </p:sp>
      <p:sp>
        <p:nvSpPr>
          <p:cNvPr id="9" name="TextBox 8"/>
          <p:cNvSpPr txBox="1"/>
          <p:nvPr/>
        </p:nvSpPr>
        <p:spPr>
          <a:xfrm>
            <a:off x="6400800" y="1783080"/>
            <a:ext cx="5212080" cy="3474720"/>
          </a:xfrm>
          <a:prstGeom prst="rect">
            <a:avLst/>
          </a:prstGeom>
          <a:noFill/>
        </p:spPr>
        <p:txBody>
          <a:bodyPr wrap="square" anchor="t" lIns="45720" rIns="45720">
            <a:spAutoFit/>
          </a:bodyPr>
          <a:lstStyle/>
          <a:p>
            <a:pPr algn="l">
              <a:spcAft>
                <a:spcPts val="1600"/>
              </a:spcAft>
            </a:pPr>
            <a:r>
              <a:rPr sz="2000" b="0">
                <a:solidFill>
                  <a:srgbClr val="2A78D6"/>
                </a:solidFill>
                <a:latin typeface="Calibri"/>
              </a:rPr>
              <a:t>▪  </a:t>
            </a:r>
            <a:r>
              <a:rPr sz="2000" b="0">
                <a:solidFill>
                  <a:srgbClr val="52514E"/>
                </a:solidFill>
                <a:latin typeface="Calibri"/>
              </a:rPr>
              <a:t>Heat plans ask where greening cools most.</a:t>
            </a:r>
          </a:p>
          <a:p>
            <a:pPr algn="l">
              <a:spcAft>
                <a:spcPts val="1600"/>
              </a:spcAft>
            </a:pPr>
            <a:r>
              <a:rPr sz="2000" b="0">
                <a:solidFill>
                  <a:srgbClr val="2A78D6"/>
                </a:solidFill>
                <a:latin typeface="Calibri"/>
              </a:rPr>
              <a:t>▪  </a:t>
            </a:r>
            <a:r>
              <a:rPr sz="2000" b="0">
                <a:solidFill>
                  <a:srgbClr val="52514E"/>
                </a:solidFill>
                <a:latin typeface="Calibri"/>
              </a:rPr>
              <a:t>Satellite LST: free, city-wide, repeatable.</a:t>
            </a:r>
          </a:p>
          <a:p>
            <a:pPr algn="l">
              <a:spcAft>
                <a:spcPts val="1600"/>
              </a:spcAft>
            </a:pPr>
            <a:r>
              <a:rPr sz="2000" b="0">
                <a:solidFill>
                  <a:srgbClr val="2A78D6"/>
                </a:solidFill>
                <a:latin typeface="Calibri"/>
              </a:rPr>
              <a:t>▪  </a:t>
            </a:r>
            <a:r>
              <a:rPr sz="2000" b="0">
                <a:solidFill>
                  <a:srgbClr val="52514E"/>
                </a:solidFill>
                <a:latin typeface="Calibri"/>
              </a:rPr>
              <a:t>Assume a hot core, target the wrong places.</a:t>
            </a:r>
          </a:p>
          <a:p>
            <a:pPr algn="l">
              <a:spcAft>
                <a:spcPts val="1600"/>
              </a:spcAft>
            </a:pPr>
            <a:r>
              <a:rPr sz="2000" b="0">
                <a:solidFill>
                  <a:srgbClr val="2A78D6"/>
                </a:solidFill>
                <a:latin typeface="Calibri"/>
              </a:rPr>
              <a:t>▪  </a:t>
            </a:r>
            <a:r>
              <a:rPr sz="2000" b="0">
                <a:solidFill>
                  <a:srgbClr val="52514E"/>
                </a:solidFill>
                <a:latin typeface="Calibri"/>
              </a:rPr>
              <a:t>Random-pixel validation flatters models.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66928"/>
            <a:ext cx="11064240" cy="685800"/>
          </a:xfrm>
          <a:prstGeom prst="rect">
            <a:avLst/>
          </a:prstGeom>
          <a:noFill/>
        </p:spPr>
        <p:txBody>
          <a:bodyPr wrap="square" anchor="t" lIns="45720" rIns="45720">
            <a:spAutoFit/>
          </a:bodyPr>
          <a:lstStyle/>
          <a:p>
            <a:pPr algn="l">
              <a:spcAft>
                <a:spcPts val="600"/>
              </a:spcAft>
            </a:pPr>
            <a:r>
              <a:rPr sz="3000" b="1">
                <a:solidFill>
                  <a:srgbClr val="0B0B0B"/>
                </a:solidFill>
                <a:latin typeface="Calibri"/>
              </a:rPr>
              <a:t>Predict and explain surface heat where the model has never looked</a:t>
            </a:r>
          </a:p>
        </p:txBody>
      </p:sp>
      <p:sp>
        <p:nvSpPr>
          <p:cNvPr id="3" name="TextBox 2"/>
          <p:cNvSpPr txBox="1"/>
          <p:nvPr/>
        </p:nvSpPr>
        <p:spPr>
          <a:xfrm>
            <a:off x="566928" y="274320"/>
            <a:ext cx="7315200" cy="320040"/>
          </a:xfrm>
          <a:prstGeom prst="rect">
            <a:avLst/>
          </a:prstGeom>
          <a:noFill/>
        </p:spPr>
        <p:txBody>
          <a:bodyPr wrap="square" anchor="t" lIns="45720" rIns="45720">
            <a:spAutoFit/>
          </a:bodyPr>
          <a:lstStyle/>
          <a:p>
            <a:pPr algn="l">
              <a:spcAft>
                <a:spcPts val="600"/>
              </a:spcAft>
            </a:pPr>
            <a:r>
              <a:rPr sz="1200" b="1">
                <a:solidFill>
                  <a:srgbClr val="2A78D6"/>
                </a:solidFill>
                <a:latin typeface="Calibri"/>
              </a:rPr>
              <a:t>PROBLEM STATEMENT</a:t>
            </a:r>
          </a:p>
        </p:txBody>
      </p:sp>
      <p:cxnSp>
        <p:nvCxnSpPr>
          <p:cNvPr id="4" name="Connector 3"/>
          <p:cNvCxnSpPr/>
          <p:nvPr/>
        </p:nvCxnSpPr>
        <p:spPr>
          <a:xfrm>
            <a:off x="548640" y="6382512"/>
            <a:ext cx="11094415"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428232"/>
            <a:ext cx="5486400" cy="274320"/>
          </a:xfrm>
          <a:prstGeom prst="rect">
            <a:avLst/>
          </a:prstGeom>
          <a:noFill/>
        </p:spPr>
        <p:txBody>
          <a:bodyPr wrap="square" anchor="t" lIns="45720" rIns="45720">
            <a:spAutoFit/>
          </a:bodyPr>
          <a:lstStyle/>
          <a:p>
            <a:pPr algn="l">
              <a:spcAft>
                <a:spcPts val="600"/>
              </a:spcAft>
            </a:pPr>
            <a:r>
              <a:rPr sz="1000" b="0">
                <a:solidFill>
                  <a:srgbClr val="898781"/>
                </a:solidFill>
                <a:latin typeface="Calibri"/>
              </a:rPr>
              <a:t>MirageAI · Concrete vs. Canopy</a:t>
            </a:r>
          </a:p>
        </p:txBody>
      </p:sp>
      <p:sp>
        <p:nvSpPr>
          <p:cNvPr id="6" name="TextBox 5"/>
          <p:cNvSpPr txBox="1"/>
          <p:nvPr/>
        </p:nvSpPr>
        <p:spPr>
          <a:xfrm>
            <a:off x="10607040" y="6428232"/>
            <a:ext cx="1097280" cy="274320"/>
          </a:xfrm>
          <a:prstGeom prst="rect">
            <a:avLst/>
          </a:prstGeom>
          <a:noFill/>
        </p:spPr>
        <p:txBody>
          <a:bodyPr wrap="square" anchor="t" lIns="45720" rIns="45720">
            <a:spAutoFit/>
          </a:bodyPr>
          <a:lstStyle/>
          <a:p>
            <a:pPr algn="r">
              <a:spcAft>
                <a:spcPts val="600"/>
              </a:spcAft>
            </a:pPr>
            <a:r>
              <a:rPr sz="1000" b="0">
                <a:solidFill>
                  <a:srgbClr val="898781"/>
                </a:solidFill>
                <a:latin typeface="Calibri"/>
              </a:rPr>
              <a:t>3 / 19</a:t>
            </a:r>
          </a:p>
        </p:txBody>
      </p:sp>
      <p:sp>
        <p:nvSpPr>
          <p:cNvPr id="7" name="TextBox 6"/>
          <p:cNvSpPr txBox="1"/>
          <p:nvPr/>
        </p:nvSpPr>
        <p:spPr>
          <a:xfrm>
            <a:off x="548640" y="1508760"/>
            <a:ext cx="11064240" cy="822960"/>
          </a:xfrm>
          <a:prstGeom prst="rect">
            <a:avLst/>
          </a:prstGeom>
          <a:noFill/>
        </p:spPr>
        <p:txBody>
          <a:bodyPr wrap="square" anchor="t" lIns="45720" rIns="45720">
            <a:spAutoFit/>
          </a:bodyPr>
          <a:lstStyle/>
          <a:p>
            <a:pPr algn="l">
              <a:spcAft>
                <a:spcPts val="600"/>
              </a:spcAft>
            </a:pPr>
            <a:r>
              <a:rPr sz="2000" b="0">
                <a:solidFill>
                  <a:srgbClr val="0B0B0B"/>
                </a:solidFill>
                <a:latin typeface="Calibri"/>
              </a:rPr>
              <a:t>Predict each 100 m cell's daytime LST anomaly in unseen places and years, and explain it.</a:t>
            </a:r>
          </a:p>
        </p:txBody>
      </p:sp>
      <p:sp>
        <p:nvSpPr>
          <p:cNvPr id="8" name="Rounded Rectangle 7"/>
          <p:cNvSpPr/>
          <p:nvPr/>
        </p:nvSpPr>
        <p:spPr>
          <a:xfrm>
            <a:off x="548640" y="2514600"/>
            <a:ext cx="3520440" cy="146304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651760"/>
            <a:ext cx="3154680" cy="411480"/>
          </a:xfrm>
          <a:prstGeom prst="rect">
            <a:avLst/>
          </a:prstGeom>
          <a:noFill/>
        </p:spPr>
        <p:txBody>
          <a:bodyPr wrap="square" anchor="t" lIns="45720" rIns="45720">
            <a:spAutoFit/>
          </a:bodyPr>
          <a:lstStyle/>
          <a:p>
            <a:pPr algn="l">
              <a:spcAft>
                <a:spcPts val="600"/>
              </a:spcAft>
            </a:pPr>
            <a:r>
              <a:rPr sz="2000" b="1">
                <a:solidFill>
                  <a:srgbClr val="0B0B0B"/>
                </a:solidFill>
                <a:latin typeface="Calibri"/>
              </a:rPr>
              <a:t>Honest accuracy</a:t>
            </a:r>
          </a:p>
        </p:txBody>
      </p:sp>
      <p:sp>
        <p:nvSpPr>
          <p:cNvPr id="10" name="TextBox 9"/>
          <p:cNvSpPr txBox="1"/>
          <p:nvPr/>
        </p:nvSpPr>
        <p:spPr>
          <a:xfrm>
            <a:off x="731520" y="3081528"/>
            <a:ext cx="3154680" cy="822960"/>
          </a:xfrm>
          <a:prstGeom prst="rect">
            <a:avLst/>
          </a:prstGeom>
          <a:noFill/>
        </p:spPr>
        <p:txBody>
          <a:bodyPr wrap="square" anchor="t" lIns="45720" rIns="45720">
            <a:spAutoFit/>
          </a:bodyPr>
          <a:lstStyle/>
          <a:p>
            <a:pPr algn="l">
              <a:spcAft>
                <a:spcPts val="600"/>
              </a:spcAft>
            </a:pPr>
            <a:r>
              <a:rPr sz="1800" b="0">
                <a:solidFill>
                  <a:srgbClr val="52514E"/>
                </a:solidFill>
                <a:latin typeface="Calibri"/>
              </a:rPr>
              <a:t>Unseen areas and an unseen year.</a:t>
            </a:r>
          </a:p>
        </p:txBody>
      </p:sp>
      <p:sp>
        <p:nvSpPr>
          <p:cNvPr id="11" name="Rounded Rectangle 10"/>
          <p:cNvSpPr/>
          <p:nvPr/>
        </p:nvSpPr>
        <p:spPr>
          <a:xfrm>
            <a:off x="4297679" y="2514600"/>
            <a:ext cx="3520440" cy="146304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0559" y="2651760"/>
            <a:ext cx="3154680" cy="411480"/>
          </a:xfrm>
          <a:prstGeom prst="rect">
            <a:avLst/>
          </a:prstGeom>
          <a:noFill/>
        </p:spPr>
        <p:txBody>
          <a:bodyPr wrap="square" anchor="t" lIns="45720" rIns="45720">
            <a:spAutoFit/>
          </a:bodyPr>
          <a:lstStyle/>
          <a:p>
            <a:pPr algn="l">
              <a:spcAft>
                <a:spcPts val="600"/>
              </a:spcAft>
            </a:pPr>
            <a:r>
              <a:rPr sz="2000" b="1">
                <a:solidFill>
                  <a:srgbClr val="0B0B0B"/>
                </a:solidFill>
                <a:latin typeface="Calibri"/>
              </a:rPr>
              <a:t>Trustworthy explanation</a:t>
            </a:r>
          </a:p>
        </p:txBody>
      </p:sp>
      <p:sp>
        <p:nvSpPr>
          <p:cNvPr id="13" name="TextBox 12"/>
          <p:cNvSpPr txBox="1"/>
          <p:nvPr/>
        </p:nvSpPr>
        <p:spPr>
          <a:xfrm>
            <a:off x="4480559" y="3081528"/>
            <a:ext cx="3154680" cy="822960"/>
          </a:xfrm>
          <a:prstGeom prst="rect">
            <a:avLst/>
          </a:prstGeom>
          <a:noFill/>
        </p:spPr>
        <p:txBody>
          <a:bodyPr wrap="square" anchor="t" lIns="45720" rIns="45720">
            <a:spAutoFit/>
          </a:bodyPr>
          <a:lstStyle/>
          <a:p>
            <a:pPr algn="l">
              <a:spcAft>
                <a:spcPts val="600"/>
              </a:spcAft>
            </a:pPr>
            <a:r>
              <a:rPr sz="1800" b="0">
                <a:solidFill>
                  <a:srgbClr val="52514E"/>
                </a:solidFill>
                <a:latin typeface="Calibri"/>
              </a:rPr>
              <a:t>Stable across models and methods.</a:t>
            </a:r>
          </a:p>
        </p:txBody>
      </p:sp>
      <p:sp>
        <p:nvSpPr>
          <p:cNvPr id="14" name="Rounded Rectangle 13"/>
          <p:cNvSpPr/>
          <p:nvPr/>
        </p:nvSpPr>
        <p:spPr>
          <a:xfrm>
            <a:off x="8046719" y="2514600"/>
            <a:ext cx="3520440" cy="146304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599" y="2651760"/>
            <a:ext cx="3154680" cy="411480"/>
          </a:xfrm>
          <a:prstGeom prst="rect">
            <a:avLst/>
          </a:prstGeom>
          <a:noFill/>
        </p:spPr>
        <p:txBody>
          <a:bodyPr wrap="square" anchor="t" lIns="45720" rIns="45720">
            <a:spAutoFit/>
          </a:bodyPr>
          <a:lstStyle/>
          <a:p>
            <a:pPr algn="l">
              <a:spcAft>
                <a:spcPts val="600"/>
              </a:spcAft>
            </a:pPr>
            <a:r>
              <a:rPr sz="2000" b="1">
                <a:solidFill>
                  <a:srgbClr val="0B0B0B"/>
                </a:solidFill>
                <a:latin typeface="Calibri"/>
              </a:rPr>
              <a:t>Bounded scenarios</a:t>
            </a:r>
          </a:p>
        </p:txBody>
      </p:sp>
      <p:sp>
        <p:nvSpPr>
          <p:cNvPr id="16" name="TextBox 15"/>
          <p:cNvSpPr txBox="1"/>
          <p:nvPr/>
        </p:nvSpPr>
        <p:spPr>
          <a:xfrm>
            <a:off x="8229599" y="3081528"/>
            <a:ext cx="3154680" cy="822960"/>
          </a:xfrm>
          <a:prstGeom prst="rect">
            <a:avLst/>
          </a:prstGeom>
          <a:noFill/>
        </p:spPr>
        <p:txBody>
          <a:bodyPr wrap="square" anchor="t" lIns="45720" rIns="45720">
            <a:spAutoFit/>
          </a:bodyPr>
          <a:lstStyle/>
          <a:p>
            <a:pPr algn="l">
              <a:spcAft>
                <a:spcPts val="600"/>
              </a:spcAft>
            </a:pPr>
            <a:r>
              <a:rPr sz="1800" b="0">
                <a:solidFill>
                  <a:srgbClr val="52514E"/>
                </a:solidFill>
                <a:latin typeface="Calibri"/>
              </a:rPr>
              <a:t>Ranges, not forecasts.</a:t>
            </a:r>
          </a:p>
        </p:txBody>
      </p:sp>
      <p:sp>
        <p:nvSpPr>
          <p:cNvPr id="17" name="TextBox 16"/>
          <p:cNvSpPr txBox="1"/>
          <p:nvPr/>
        </p:nvSpPr>
        <p:spPr>
          <a:xfrm>
            <a:off x="548640" y="4434840"/>
            <a:ext cx="11064240" cy="548640"/>
          </a:xfrm>
          <a:prstGeom prst="rect">
            <a:avLst/>
          </a:prstGeom>
          <a:noFill/>
        </p:spPr>
        <p:txBody>
          <a:bodyPr wrap="square" anchor="t" lIns="45720" rIns="45720">
            <a:spAutoFit/>
          </a:bodyPr>
          <a:lstStyle/>
          <a:p>
            <a:pPr algn="l">
              <a:spcAft>
                <a:spcPts val="600"/>
              </a:spcAft>
            </a:pPr>
            <a:r>
              <a:rPr sz="1900" b="1">
                <a:solidFill>
                  <a:srgbClr val="2A78D6"/>
                </a:solidFill>
                <a:latin typeface="Calibri"/>
              </a:rPr>
              <a:t>Hard rule:  </a:t>
            </a:r>
            <a:r>
              <a:rPr sz="1900" b="0">
                <a:solidFill>
                  <a:srgbClr val="0B0B0B"/>
                </a:solidFill>
                <a:latin typeface="Calibri"/>
              </a:rPr>
              <a:t>coordinates are never model inputs.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66928"/>
            <a:ext cx="11064240" cy="685800"/>
          </a:xfrm>
          <a:prstGeom prst="rect">
            <a:avLst/>
          </a:prstGeom>
          <a:noFill/>
        </p:spPr>
        <p:txBody>
          <a:bodyPr wrap="square" anchor="t" lIns="45720" rIns="45720">
            <a:spAutoFit/>
          </a:bodyPr>
          <a:lstStyle/>
          <a:p>
            <a:pPr algn="l">
              <a:spcAft>
                <a:spcPts val="600"/>
              </a:spcAft>
            </a:pPr>
            <a:r>
              <a:rPr sz="3000" b="1">
                <a:solidFill>
                  <a:srgbClr val="0B0B0B"/>
                </a:solidFill>
                <a:latin typeface="Calibri"/>
              </a:rPr>
              <a:t>Objectives: five research questions</a:t>
            </a:r>
          </a:p>
        </p:txBody>
      </p:sp>
      <p:sp>
        <p:nvSpPr>
          <p:cNvPr id="3" name="TextBox 2"/>
          <p:cNvSpPr txBox="1"/>
          <p:nvPr/>
        </p:nvSpPr>
        <p:spPr>
          <a:xfrm>
            <a:off x="566928" y="274320"/>
            <a:ext cx="7315200" cy="320040"/>
          </a:xfrm>
          <a:prstGeom prst="rect">
            <a:avLst/>
          </a:prstGeom>
          <a:noFill/>
        </p:spPr>
        <p:txBody>
          <a:bodyPr wrap="square" anchor="t" lIns="45720" rIns="45720">
            <a:spAutoFit/>
          </a:bodyPr>
          <a:lstStyle/>
          <a:p>
            <a:pPr algn="l">
              <a:spcAft>
                <a:spcPts val="600"/>
              </a:spcAft>
            </a:pPr>
            <a:r>
              <a:rPr sz="1200" b="1">
                <a:solidFill>
                  <a:srgbClr val="2A78D6"/>
                </a:solidFill>
                <a:latin typeface="Calibri"/>
              </a:rPr>
              <a:t>OBJECTIVES</a:t>
            </a:r>
          </a:p>
        </p:txBody>
      </p:sp>
      <p:cxnSp>
        <p:nvCxnSpPr>
          <p:cNvPr id="4" name="Connector 3"/>
          <p:cNvCxnSpPr/>
          <p:nvPr/>
        </p:nvCxnSpPr>
        <p:spPr>
          <a:xfrm>
            <a:off x="548640" y="6382512"/>
            <a:ext cx="11094415"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428232"/>
            <a:ext cx="5486400" cy="274320"/>
          </a:xfrm>
          <a:prstGeom prst="rect">
            <a:avLst/>
          </a:prstGeom>
          <a:noFill/>
        </p:spPr>
        <p:txBody>
          <a:bodyPr wrap="square" anchor="t" lIns="45720" rIns="45720">
            <a:spAutoFit/>
          </a:bodyPr>
          <a:lstStyle/>
          <a:p>
            <a:pPr algn="l">
              <a:spcAft>
                <a:spcPts val="600"/>
              </a:spcAft>
            </a:pPr>
            <a:r>
              <a:rPr sz="1000" b="0">
                <a:solidFill>
                  <a:srgbClr val="898781"/>
                </a:solidFill>
                <a:latin typeface="Calibri"/>
              </a:rPr>
              <a:t>MirageAI · Concrete vs. Canopy</a:t>
            </a:r>
          </a:p>
        </p:txBody>
      </p:sp>
      <p:sp>
        <p:nvSpPr>
          <p:cNvPr id="6" name="TextBox 5"/>
          <p:cNvSpPr txBox="1"/>
          <p:nvPr/>
        </p:nvSpPr>
        <p:spPr>
          <a:xfrm>
            <a:off x="10607040" y="6428232"/>
            <a:ext cx="1097280" cy="274320"/>
          </a:xfrm>
          <a:prstGeom prst="rect">
            <a:avLst/>
          </a:prstGeom>
          <a:noFill/>
        </p:spPr>
        <p:txBody>
          <a:bodyPr wrap="square" anchor="t" lIns="45720" rIns="45720">
            <a:spAutoFit/>
          </a:bodyPr>
          <a:lstStyle/>
          <a:p>
            <a:pPr algn="r">
              <a:spcAft>
                <a:spcPts val="600"/>
              </a:spcAft>
            </a:pPr>
            <a:r>
              <a:rPr sz="1000" b="0">
                <a:solidFill>
                  <a:srgbClr val="898781"/>
                </a:solidFill>
                <a:latin typeface="Calibri"/>
              </a:rPr>
              <a:t>4 / 19</a:t>
            </a:r>
          </a:p>
        </p:txBody>
      </p:sp>
      <p:sp>
        <p:nvSpPr>
          <p:cNvPr id="7" name="Rounded Rectangle 6"/>
          <p:cNvSpPr/>
          <p:nvPr/>
        </p:nvSpPr>
        <p:spPr>
          <a:xfrm>
            <a:off x="548640" y="1508760"/>
            <a:ext cx="1051560" cy="749808"/>
          </a:xfrm>
          <a:prstGeom prst="roundRect">
            <a:avLst>
              <a:gd name="adj" fmla="val 8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664207"/>
            <a:ext cx="1051560" cy="457200"/>
          </a:xfrm>
          <a:prstGeom prst="rect">
            <a:avLst/>
          </a:prstGeom>
          <a:noFill/>
        </p:spPr>
        <p:txBody>
          <a:bodyPr wrap="square" anchor="t" lIns="45720" rIns="45720">
            <a:spAutoFit/>
          </a:bodyPr>
          <a:lstStyle/>
          <a:p>
            <a:pPr algn="ctr">
              <a:spcAft>
                <a:spcPts val="600"/>
              </a:spcAft>
            </a:pPr>
            <a:r>
              <a:rPr sz="2000" b="1">
                <a:solidFill>
                  <a:srgbClr val="FFFFFF"/>
                </a:solidFill>
                <a:latin typeface="Calibri"/>
              </a:rPr>
              <a:t>RQ1</a:t>
            </a:r>
          </a:p>
        </p:txBody>
      </p:sp>
      <p:sp>
        <p:nvSpPr>
          <p:cNvPr id="9" name="Rounded Rectangle 8"/>
          <p:cNvSpPr/>
          <p:nvPr/>
        </p:nvSpPr>
        <p:spPr>
          <a:xfrm>
            <a:off x="1691640" y="1508760"/>
            <a:ext cx="9921240" cy="749808"/>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874519" y="1673351"/>
            <a:ext cx="9601200" cy="457200"/>
          </a:xfrm>
          <a:prstGeom prst="rect">
            <a:avLst/>
          </a:prstGeom>
          <a:noFill/>
        </p:spPr>
        <p:txBody>
          <a:bodyPr wrap="square" anchor="t" lIns="45720" rIns="45720">
            <a:spAutoFit/>
          </a:bodyPr>
          <a:lstStyle/>
          <a:p>
            <a:pPr algn="l">
              <a:spcAft>
                <a:spcPts val="600"/>
              </a:spcAft>
            </a:pPr>
            <a:r>
              <a:rPr sz="1800" b="1">
                <a:solidFill>
                  <a:srgbClr val="0B0B0B"/>
                </a:solidFill>
                <a:latin typeface="Calibri"/>
              </a:rPr>
              <a:t>Drivers:  </a:t>
            </a:r>
            <a:r>
              <a:rPr sz="1800" b="0">
                <a:solidFill>
                  <a:srgbClr val="52514E"/>
                </a:solidFill>
                <a:latin typeface="Calibri"/>
              </a:rPr>
              <a:t>Which land-cover and terrain factors go with daytime LST?</a:t>
            </a:r>
          </a:p>
        </p:txBody>
      </p:sp>
      <p:sp>
        <p:nvSpPr>
          <p:cNvPr id="11" name="Rounded Rectangle 10"/>
          <p:cNvSpPr/>
          <p:nvPr/>
        </p:nvSpPr>
        <p:spPr>
          <a:xfrm>
            <a:off x="548640" y="2441448"/>
            <a:ext cx="1051560" cy="749808"/>
          </a:xfrm>
          <a:prstGeom prst="roundRect">
            <a:avLst>
              <a:gd name="adj" fmla="val 8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596896"/>
            <a:ext cx="1051560" cy="457200"/>
          </a:xfrm>
          <a:prstGeom prst="rect">
            <a:avLst/>
          </a:prstGeom>
          <a:noFill/>
        </p:spPr>
        <p:txBody>
          <a:bodyPr wrap="square" anchor="t" lIns="45720" rIns="45720">
            <a:spAutoFit/>
          </a:bodyPr>
          <a:lstStyle/>
          <a:p>
            <a:pPr algn="ctr">
              <a:spcAft>
                <a:spcPts val="600"/>
              </a:spcAft>
            </a:pPr>
            <a:r>
              <a:rPr sz="2000" b="1">
                <a:solidFill>
                  <a:srgbClr val="FFFFFF"/>
                </a:solidFill>
                <a:latin typeface="Calibri"/>
              </a:rPr>
              <a:t>RQ2</a:t>
            </a:r>
          </a:p>
        </p:txBody>
      </p:sp>
      <p:sp>
        <p:nvSpPr>
          <p:cNvPr id="13" name="Rounded Rectangle 12"/>
          <p:cNvSpPr/>
          <p:nvPr/>
        </p:nvSpPr>
        <p:spPr>
          <a:xfrm>
            <a:off x="1691640" y="2441448"/>
            <a:ext cx="9921240" cy="749808"/>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874519" y="2606040"/>
            <a:ext cx="9601200" cy="457200"/>
          </a:xfrm>
          <a:prstGeom prst="rect">
            <a:avLst/>
          </a:prstGeom>
          <a:noFill/>
        </p:spPr>
        <p:txBody>
          <a:bodyPr wrap="square" anchor="t" lIns="45720" rIns="45720">
            <a:spAutoFit/>
          </a:bodyPr>
          <a:lstStyle/>
          <a:p>
            <a:pPr algn="l">
              <a:spcAft>
                <a:spcPts val="600"/>
              </a:spcAft>
            </a:pPr>
            <a:r>
              <a:rPr sz="1800" b="1">
                <a:solidFill>
                  <a:srgbClr val="0B0B0B"/>
                </a:solidFill>
                <a:latin typeface="Calibri"/>
              </a:rPr>
              <a:t>Nonlinearity:  </a:t>
            </a:r>
            <a:r>
              <a:rPr sz="1800" b="0">
                <a:solidFill>
                  <a:srgbClr val="52514E"/>
                </a:solidFill>
                <a:latin typeface="Calibri"/>
              </a:rPr>
              <a:t>Do tree models find thresholds and interactions that linear models miss?</a:t>
            </a:r>
          </a:p>
        </p:txBody>
      </p:sp>
      <p:sp>
        <p:nvSpPr>
          <p:cNvPr id="15" name="Rounded Rectangle 14"/>
          <p:cNvSpPr/>
          <p:nvPr/>
        </p:nvSpPr>
        <p:spPr>
          <a:xfrm>
            <a:off x="548640" y="3374136"/>
            <a:ext cx="1051560" cy="749808"/>
          </a:xfrm>
          <a:prstGeom prst="roundRect">
            <a:avLst>
              <a:gd name="adj" fmla="val 8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3529584"/>
            <a:ext cx="1051560" cy="457200"/>
          </a:xfrm>
          <a:prstGeom prst="rect">
            <a:avLst/>
          </a:prstGeom>
          <a:noFill/>
        </p:spPr>
        <p:txBody>
          <a:bodyPr wrap="square" anchor="t" lIns="45720" rIns="45720">
            <a:spAutoFit/>
          </a:bodyPr>
          <a:lstStyle/>
          <a:p>
            <a:pPr algn="ctr">
              <a:spcAft>
                <a:spcPts val="600"/>
              </a:spcAft>
            </a:pPr>
            <a:r>
              <a:rPr sz="2000" b="1">
                <a:solidFill>
                  <a:srgbClr val="FFFFFF"/>
                </a:solidFill>
                <a:latin typeface="Calibri"/>
              </a:rPr>
              <a:t>RQ3</a:t>
            </a:r>
          </a:p>
        </p:txBody>
      </p:sp>
      <p:sp>
        <p:nvSpPr>
          <p:cNvPr id="17" name="Rounded Rectangle 16"/>
          <p:cNvSpPr/>
          <p:nvPr/>
        </p:nvSpPr>
        <p:spPr>
          <a:xfrm>
            <a:off x="1691640" y="3374136"/>
            <a:ext cx="9921240" cy="749808"/>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874519" y="3538728"/>
            <a:ext cx="9601200" cy="457200"/>
          </a:xfrm>
          <a:prstGeom prst="rect">
            <a:avLst/>
          </a:prstGeom>
          <a:noFill/>
        </p:spPr>
        <p:txBody>
          <a:bodyPr wrap="square" anchor="t" lIns="45720" rIns="45720">
            <a:spAutoFit/>
          </a:bodyPr>
          <a:lstStyle/>
          <a:p>
            <a:pPr algn="l">
              <a:spcAft>
                <a:spcPts val="600"/>
              </a:spcAft>
            </a:pPr>
            <a:r>
              <a:rPr sz="1800" b="1">
                <a:solidFill>
                  <a:srgbClr val="0B0B0B"/>
                </a:solidFill>
                <a:latin typeface="Calibri"/>
              </a:rPr>
              <a:t>Validation:  </a:t>
            </a:r>
            <a:r>
              <a:rPr sz="1800" b="0">
                <a:solidFill>
                  <a:srgbClr val="52514E"/>
                </a:solidFill>
                <a:latin typeface="Calibri"/>
              </a:rPr>
              <a:t>How much does random CV overstate accuracy?</a:t>
            </a:r>
          </a:p>
        </p:txBody>
      </p:sp>
      <p:sp>
        <p:nvSpPr>
          <p:cNvPr id="19" name="Rounded Rectangle 18"/>
          <p:cNvSpPr/>
          <p:nvPr/>
        </p:nvSpPr>
        <p:spPr>
          <a:xfrm>
            <a:off x="548640" y="4306824"/>
            <a:ext cx="1051560" cy="749808"/>
          </a:xfrm>
          <a:prstGeom prst="roundRect">
            <a:avLst>
              <a:gd name="adj" fmla="val 8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462272"/>
            <a:ext cx="1051560" cy="457200"/>
          </a:xfrm>
          <a:prstGeom prst="rect">
            <a:avLst/>
          </a:prstGeom>
          <a:noFill/>
        </p:spPr>
        <p:txBody>
          <a:bodyPr wrap="square" anchor="t" lIns="45720" rIns="45720">
            <a:spAutoFit/>
          </a:bodyPr>
          <a:lstStyle/>
          <a:p>
            <a:pPr algn="ctr">
              <a:spcAft>
                <a:spcPts val="600"/>
              </a:spcAft>
            </a:pPr>
            <a:r>
              <a:rPr sz="2000" b="1">
                <a:solidFill>
                  <a:srgbClr val="FFFFFF"/>
                </a:solidFill>
                <a:latin typeface="Calibri"/>
              </a:rPr>
              <a:t>RQ4</a:t>
            </a:r>
          </a:p>
        </p:txBody>
      </p:sp>
      <p:sp>
        <p:nvSpPr>
          <p:cNvPr id="21" name="Rounded Rectangle 20"/>
          <p:cNvSpPr/>
          <p:nvPr/>
        </p:nvSpPr>
        <p:spPr>
          <a:xfrm>
            <a:off x="1691640" y="4306824"/>
            <a:ext cx="9921240" cy="749808"/>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874519" y="4471416"/>
            <a:ext cx="9601200" cy="457200"/>
          </a:xfrm>
          <a:prstGeom prst="rect">
            <a:avLst/>
          </a:prstGeom>
          <a:noFill/>
        </p:spPr>
        <p:txBody>
          <a:bodyPr wrap="square" anchor="t" lIns="45720" rIns="45720">
            <a:spAutoFit/>
          </a:bodyPr>
          <a:lstStyle/>
          <a:p>
            <a:pPr algn="l">
              <a:spcAft>
                <a:spcPts val="600"/>
              </a:spcAft>
            </a:pPr>
            <a:r>
              <a:rPr sz="1800" b="1">
                <a:solidFill>
                  <a:srgbClr val="0B0B0B"/>
                </a:solidFill>
                <a:latin typeface="Calibri"/>
              </a:rPr>
              <a:t>Greening:  </a:t>
            </a:r>
            <a:r>
              <a:rPr sz="1800" b="0">
                <a:solidFill>
                  <a:srgbClr val="52514E"/>
                </a:solidFill>
                <a:latin typeface="Calibri"/>
              </a:rPr>
              <a:t>How much cooling goes with more tree cover in the hottest cells?</a:t>
            </a:r>
          </a:p>
        </p:txBody>
      </p:sp>
      <p:sp>
        <p:nvSpPr>
          <p:cNvPr id="23" name="Rounded Rectangle 22"/>
          <p:cNvSpPr/>
          <p:nvPr/>
        </p:nvSpPr>
        <p:spPr>
          <a:xfrm>
            <a:off x="548640" y="5239512"/>
            <a:ext cx="1051560" cy="749808"/>
          </a:xfrm>
          <a:prstGeom prst="roundRect">
            <a:avLst>
              <a:gd name="adj" fmla="val 8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5394960"/>
            <a:ext cx="1051560" cy="457200"/>
          </a:xfrm>
          <a:prstGeom prst="rect">
            <a:avLst/>
          </a:prstGeom>
          <a:noFill/>
        </p:spPr>
        <p:txBody>
          <a:bodyPr wrap="square" anchor="t" lIns="45720" rIns="45720">
            <a:spAutoFit/>
          </a:bodyPr>
          <a:lstStyle/>
          <a:p>
            <a:pPr algn="ctr">
              <a:spcAft>
                <a:spcPts val="600"/>
              </a:spcAft>
            </a:pPr>
            <a:r>
              <a:rPr sz="2000" b="1">
                <a:solidFill>
                  <a:srgbClr val="FFFFFF"/>
                </a:solidFill>
                <a:latin typeface="Calibri"/>
              </a:rPr>
              <a:t>RQ5</a:t>
            </a:r>
          </a:p>
        </p:txBody>
      </p:sp>
      <p:sp>
        <p:nvSpPr>
          <p:cNvPr id="25" name="Rounded Rectangle 24"/>
          <p:cNvSpPr/>
          <p:nvPr/>
        </p:nvSpPr>
        <p:spPr>
          <a:xfrm>
            <a:off x="1691640" y="5239512"/>
            <a:ext cx="9921240" cy="749808"/>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874519" y="5404104"/>
            <a:ext cx="9601200" cy="457200"/>
          </a:xfrm>
          <a:prstGeom prst="rect">
            <a:avLst/>
          </a:prstGeom>
          <a:noFill/>
        </p:spPr>
        <p:txBody>
          <a:bodyPr wrap="square" anchor="t" lIns="45720" rIns="45720">
            <a:spAutoFit/>
          </a:bodyPr>
          <a:lstStyle/>
          <a:p>
            <a:pPr algn="l">
              <a:spcAft>
                <a:spcPts val="600"/>
              </a:spcAft>
            </a:pPr>
            <a:r>
              <a:rPr sz="1800" b="1">
                <a:solidFill>
                  <a:srgbClr val="0B0B0B"/>
                </a:solidFill>
                <a:latin typeface="Calibri"/>
              </a:rPr>
              <a:t>Cool island:  </a:t>
            </a:r>
            <a:r>
              <a:rPr sz="1800" b="0">
                <a:solidFill>
                  <a:srgbClr val="52514E"/>
                </a:solidFill>
                <a:latin typeface="Calibri"/>
              </a:rPr>
              <a:t>Is the built core cooler by day, and is that the buildings?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66928"/>
            <a:ext cx="11064240" cy="685800"/>
          </a:xfrm>
          <a:prstGeom prst="rect">
            <a:avLst/>
          </a:prstGeom>
          <a:noFill/>
        </p:spPr>
        <p:txBody>
          <a:bodyPr wrap="square" anchor="t" lIns="45720" rIns="45720">
            <a:spAutoFit/>
          </a:bodyPr>
          <a:lstStyle/>
          <a:p>
            <a:pPr algn="l">
              <a:spcAft>
                <a:spcPts val="600"/>
              </a:spcAft>
            </a:pPr>
            <a:r>
              <a:rPr sz="3000" b="1">
                <a:solidFill>
                  <a:srgbClr val="0B0B0B"/>
                </a:solidFill>
                <a:latin typeface="Calibri"/>
              </a:rPr>
              <a:t>Four open datasets on one 100 m grid</a:t>
            </a:r>
          </a:p>
        </p:txBody>
      </p:sp>
      <p:sp>
        <p:nvSpPr>
          <p:cNvPr id="3" name="TextBox 2"/>
          <p:cNvSpPr txBox="1"/>
          <p:nvPr/>
        </p:nvSpPr>
        <p:spPr>
          <a:xfrm>
            <a:off x="566928" y="274320"/>
            <a:ext cx="7315200" cy="320040"/>
          </a:xfrm>
          <a:prstGeom prst="rect">
            <a:avLst/>
          </a:prstGeom>
          <a:noFill/>
        </p:spPr>
        <p:txBody>
          <a:bodyPr wrap="square" anchor="t" lIns="45720" rIns="45720">
            <a:spAutoFit/>
          </a:bodyPr>
          <a:lstStyle/>
          <a:p>
            <a:pPr algn="l">
              <a:spcAft>
                <a:spcPts val="600"/>
              </a:spcAft>
            </a:pPr>
            <a:r>
              <a:rPr sz="1200" b="1">
                <a:solidFill>
                  <a:srgbClr val="2A78D6"/>
                </a:solidFill>
                <a:latin typeface="Calibri"/>
              </a:rPr>
              <a:t>DATASET</a:t>
            </a:r>
          </a:p>
        </p:txBody>
      </p:sp>
      <p:cxnSp>
        <p:nvCxnSpPr>
          <p:cNvPr id="4" name="Connector 3"/>
          <p:cNvCxnSpPr/>
          <p:nvPr/>
        </p:nvCxnSpPr>
        <p:spPr>
          <a:xfrm>
            <a:off x="548640" y="6382512"/>
            <a:ext cx="11094415"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428232"/>
            <a:ext cx="5486400" cy="274320"/>
          </a:xfrm>
          <a:prstGeom prst="rect">
            <a:avLst/>
          </a:prstGeom>
          <a:noFill/>
        </p:spPr>
        <p:txBody>
          <a:bodyPr wrap="square" anchor="t" lIns="45720" rIns="45720">
            <a:spAutoFit/>
          </a:bodyPr>
          <a:lstStyle/>
          <a:p>
            <a:pPr algn="l">
              <a:spcAft>
                <a:spcPts val="600"/>
              </a:spcAft>
            </a:pPr>
            <a:r>
              <a:rPr sz="1000" b="0">
                <a:solidFill>
                  <a:srgbClr val="898781"/>
                </a:solidFill>
                <a:latin typeface="Calibri"/>
              </a:rPr>
              <a:t>MirageAI · Concrete vs. Canopy</a:t>
            </a:r>
          </a:p>
        </p:txBody>
      </p:sp>
      <p:sp>
        <p:nvSpPr>
          <p:cNvPr id="6" name="TextBox 5"/>
          <p:cNvSpPr txBox="1"/>
          <p:nvPr/>
        </p:nvSpPr>
        <p:spPr>
          <a:xfrm>
            <a:off x="10607040" y="6428232"/>
            <a:ext cx="1097280" cy="274320"/>
          </a:xfrm>
          <a:prstGeom prst="rect">
            <a:avLst/>
          </a:prstGeom>
          <a:noFill/>
        </p:spPr>
        <p:txBody>
          <a:bodyPr wrap="square" anchor="t" lIns="45720" rIns="45720">
            <a:spAutoFit/>
          </a:bodyPr>
          <a:lstStyle/>
          <a:p>
            <a:pPr algn="r">
              <a:spcAft>
                <a:spcPts val="600"/>
              </a:spcAft>
            </a:pPr>
            <a:r>
              <a:rPr sz="1000" b="0">
                <a:solidFill>
                  <a:srgbClr val="898781"/>
                </a:solidFill>
                <a:latin typeface="Calibri"/>
              </a:rPr>
              <a:t>5 / 19</a:t>
            </a:r>
          </a:p>
        </p:txBody>
      </p:sp>
      <p:pic>
        <p:nvPicPr>
          <p:cNvPr id="7" name="Picture 6" descr="01_ndvi_map_2024.png"/>
          <p:cNvPicPr>
            <a:picLocks noChangeAspect="1"/>
          </p:cNvPicPr>
          <p:nvPr/>
        </p:nvPicPr>
        <p:blipFill>
          <a:blip r:embed="rId3"/>
          <a:stretch>
            <a:fillRect/>
          </a:stretch>
        </p:blipFill>
        <p:spPr>
          <a:xfrm>
            <a:off x="457200" y="1563208"/>
            <a:ext cx="5760720" cy="4463103"/>
          </a:xfrm>
          <a:prstGeom prst="rect">
            <a:avLst/>
          </a:prstGeom>
        </p:spPr>
      </p:pic>
      <p:sp>
        <p:nvSpPr>
          <p:cNvPr id="8" name="Rounded Rectangle 7"/>
          <p:cNvSpPr/>
          <p:nvPr/>
        </p:nvSpPr>
        <p:spPr>
          <a:xfrm>
            <a:off x="6583680" y="1463040"/>
            <a:ext cx="5029200" cy="77724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66560" y="1591056"/>
            <a:ext cx="4754880" cy="548640"/>
          </a:xfrm>
          <a:prstGeom prst="rect">
            <a:avLst/>
          </a:prstGeom>
          <a:noFill/>
        </p:spPr>
        <p:txBody>
          <a:bodyPr wrap="square" anchor="t" lIns="45720" rIns="45720">
            <a:spAutoFit/>
          </a:bodyPr>
          <a:lstStyle/>
          <a:p>
            <a:pPr algn="l">
              <a:spcAft>
                <a:spcPts val="600"/>
              </a:spcAft>
            </a:pPr>
            <a:r>
              <a:rPr sz="1700" b="1">
                <a:solidFill>
                  <a:srgbClr val="0B0B0B"/>
                </a:solidFill>
                <a:latin typeface="Calibri"/>
              </a:rPr>
              <a:t>Landsat 8/9</a:t>
            </a:r>
            <a:r>
              <a:rPr sz="1700" b="0">
                <a:solidFill>
                  <a:srgbClr val="52514E"/>
                </a:solidFill>
                <a:latin typeface="Calibri"/>
              </a:rPr>
              <a:t>   surface temperature (target)</a:t>
            </a:r>
          </a:p>
        </p:txBody>
      </p:sp>
      <p:sp>
        <p:nvSpPr>
          <p:cNvPr id="10" name="Rounded Rectangle 9"/>
          <p:cNvSpPr/>
          <p:nvPr/>
        </p:nvSpPr>
        <p:spPr>
          <a:xfrm>
            <a:off x="6583680" y="2395728"/>
            <a:ext cx="5029200" cy="77724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0" y="2523744"/>
            <a:ext cx="4754880" cy="548640"/>
          </a:xfrm>
          <a:prstGeom prst="rect">
            <a:avLst/>
          </a:prstGeom>
          <a:noFill/>
        </p:spPr>
        <p:txBody>
          <a:bodyPr wrap="square" anchor="t" lIns="45720" rIns="45720">
            <a:spAutoFit/>
          </a:bodyPr>
          <a:lstStyle/>
          <a:p>
            <a:pPr algn="l">
              <a:spcAft>
                <a:spcPts val="600"/>
              </a:spcAft>
            </a:pPr>
            <a:r>
              <a:rPr sz="1700" b="1">
                <a:solidFill>
                  <a:srgbClr val="0B0B0B"/>
                </a:solidFill>
                <a:latin typeface="Calibri"/>
              </a:rPr>
              <a:t>Sentinel-2</a:t>
            </a:r>
            <a:r>
              <a:rPr sz="1700" b="0">
                <a:solidFill>
                  <a:srgbClr val="52514E"/>
                </a:solidFill>
                <a:latin typeface="Calibri"/>
              </a:rPr>
              <a:t>   NDVI, dryness, moisture</a:t>
            </a:r>
          </a:p>
        </p:txBody>
      </p:sp>
      <p:sp>
        <p:nvSpPr>
          <p:cNvPr id="12" name="Rounded Rectangle 11"/>
          <p:cNvSpPr/>
          <p:nvPr/>
        </p:nvSpPr>
        <p:spPr>
          <a:xfrm>
            <a:off x="6583680" y="3328416"/>
            <a:ext cx="5029200" cy="77724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66560" y="3456432"/>
            <a:ext cx="4754880" cy="548640"/>
          </a:xfrm>
          <a:prstGeom prst="rect">
            <a:avLst/>
          </a:prstGeom>
          <a:noFill/>
        </p:spPr>
        <p:txBody>
          <a:bodyPr wrap="square" anchor="t" lIns="45720" rIns="45720">
            <a:spAutoFit/>
          </a:bodyPr>
          <a:lstStyle/>
          <a:p>
            <a:pPr algn="l">
              <a:spcAft>
                <a:spcPts val="600"/>
              </a:spcAft>
            </a:pPr>
            <a:r>
              <a:rPr sz="1700" b="1">
                <a:solidFill>
                  <a:srgbClr val="0B0B0B"/>
                </a:solidFill>
                <a:latin typeface="Calibri"/>
              </a:rPr>
              <a:t>WorldCover 2021</a:t>
            </a:r>
            <a:r>
              <a:rPr sz="1700" b="0">
                <a:solidFill>
                  <a:srgbClr val="52514E"/>
                </a:solidFill>
                <a:latin typeface="Calibri"/>
              </a:rPr>
              <a:t>   7 land-cover fractions</a:t>
            </a:r>
          </a:p>
        </p:txBody>
      </p:sp>
      <p:sp>
        <p:nvSpPr>
          <p:cNvPr id="14" name="Rounded Rectangle 13"/>
          <p:cNvSpPr/>
          <p:nvPr/>
        </p:nvSpPr>
        <p:spPr>
          <a:xfrm>
            <a:off x="6583680" y="4261104"/>
            <a:ext cx="5029200" cy="77724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0" y="4389120"/>
            <a:ext cx="4754880" cy="548640"/>
          </a:xfrm>
          <a:prstGeom prst="rect">
            <a:avLst/>
          </a:prstGeom>
          <a:noFill/>
        </p:spPr>
        <p:txBody>
          <a:bodyPr wrap="square" anchor="t" lIns="45720" rIns="45720">
            <a:spAutoFit/>
          </a:bodyPr>
          <a:lstStyle/>
          <a:p>
            <a:pPr algn="l">
              <a:spcAft>
                <a:spcPts val="600"/>
              </a:spcAft>
            </a:pPr>
            <a:r>
              <a:rPr sz="1700" b="1">
                <a:solidFill>
                  <a:srgbClr val="0B0B0B"/>
                </a:solidFill>
                <a:latin typeface="Calibri"/>
              </a:rPr>
              <a:t>SRTM</a:t>
            </a:r>
            <a:r>
              <a:rPr sz="1700" b="0">
                <a:solidFill>
                  <a:srgbClr val="52514E"/>
                </a:solidFill>
                <a:latin typeface="Calibri"/>
              </a:rPr>
              <a:t>   elevation, slope</a:t>
            </a:r>
          </a:p>
        </p:txBody>
      </p:sp>
      <p:sp>
        <p:nvSpPr>
          <p:cNvPr id="16" name="TextBox 15"/>
          <p:cNvSpPr txBox="1"/>
          <p:nvPr/>
        </p:nvSpPr>
        <p:spPr>
          <a:xfrm>
            <a:off x="6583680" y="5349240"/>
            <a:ext cx="5120640" cy="822960"/>
          </a:xfrm>
          <a:prstGeom prst="rect">
            <a:avLst/>
          </a:prstGeom>
          <a:noFill/>
        </p:spPr>
        <p:txBody>
          <a:bodyPr wrap="square" anchor="t" lIns="45720" rIns="45720">
            <a:spAutoFit/>
          </a:bodyPr>
          <a:lstStyle/>
          <a:p>
            <a:pPr algn="l">
              <a:spcAft>
                <a:spcPts val="600"/>
              </a:spcAft>
            </a:pPr>
            <a:r>
              <a:rPr sz="1700" b="1">
                <a:solidFill>
                  <a:srgbClr val="2A78D6"/>
                </a:solidFill>
                <a:latin typeface="Calibri"/>
              </a:rPr>
              <a:t>100 m grid · 3 seasons · 243,252 land cell-years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66928"/>
            <a:ext cx="11064240" cy="685800"/>
          </a:xfrm>
          <a:prstGeom prst="rect">
            <a:avLst/>
          </a:prstGeom>
          <a:noFill/>
        </p:spPr>
        <p:txBody>
          <a:bodyPr wrap="square" anchor="t" lIns="45720" rIns="45720">
            <a:spAutoFit/>
          </a:bodyPr>
          <a:lstStyle/>
          <a:p>
            <a:pPr algn="l">
              <a:spcAft>
                <a:spcPts val="600"/>
              </a:spcAft>
            </a:pPr>
            <a:r>
              <a:rPr sz="3000" b="1">
                <a:solidFill>
                  <a:srgbClr val="0B0B0B"/>
                </a:solidFill>
                <a:latin typeface="Calibri"/>
              </a:rPr>
              <a:t>Validation designed before any model is tuned</a:t>
            </a:r>
          </a:p>
        </p:txBody>
      </p:sp>
      <p:sp>
        <p:nvSpPr>
          <p:cNvPr id="3" name="TextBox 2"/>
          <p:cNvSpPr txBox="1"/>
          <p:nvPr/>
        </p:nvSpPr>
        <p:spPr>
          <a:xfrm>
            <a:off x="566928" y="274320"/>
            <a:ext cx="7315200" cy="320040"/>
          </a:xfrm>
          <a:prstGeom prst="rect">
            <a:avLst/>
          </a:prstGeom>
          <a:noFill/>
        </p:spPr>
        <p:txBody>
          <a:bodyPr wrap="square" anchor="t" lIns="45720" rIns="45720">
            <a:spAutoFit/>
          </a:bodyPr>
          <a:lstStyle/>
          <a:p>
            <a:pPr algn="l">
              <a:spcAft>
                <a:spcPts val="600"/>
              </a:spcAft>
            </a:pPr>
            <a:r>
              <a:rPr sz="1200" b="1">
                <a:solidFill>
                  <a:srgbClr val="2A78D6"/>
                </a:solidFill>
                <a:latin typeface="Calibri"/>
              </a:rPr>
              <a:t>METHODOLOGY</a:t>
            </a:r>
          </a:p>
        </p:txBody>
      </p:sp>
      <p:cxnSp>
        <p:nvCxnSpPr>
          <p:cNvPr id="4" name="Connector 3"/>
          <p:cNvCxnSpPr/>
          <p:nvPr/>
        </p:nvCxnSpPr>
        <p:spPr>
          <a:xfrm>
            <a:off x="548640" y="6382512"/>
            <a:ext cx="11094415"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428232"/>
            <a:ext cx="5486400" cy="274320"/>
          </a:xfrm>
          <a:prstGeom prst="rect">
            <a:avLst/>
          </a:prstGeom>
          <a:noFill/>
        </p:spPr>
        <p:txBody>
          <a:bodyPr wrap="square" anchor="t" lIns="45720" rIns="45720">
            <a:spAutoFit/>
          </a:bodyPr>
          <a:lstStyle/>
          <a:p>
            <a:pPr algn="l">
              <a:spcAft>
                <a:spcPts val="600"/>
              </a:spcAft>
            </a:pPr>
            <a:r>
              <a:rPr sz="1000" b="0">
                <a:solidFill>
                  <a:srgbClr val="898781"/>
                </a:solidFill>
                <a:latin typeface="Calibri"/>
              </a:rPr>
              <a:t>MirageAI · Concrete vs. Canopy</a:t>
            </a:r>
          </a:p>
        </p:txBody>
      </p:sp>
      <p:sp>
        <p:nvSpPr>
          <p:cNvPr id="6" name="TextBox 5"/>
          <p:cNvSpPr txBox="1"/>
          <p:nvPr/>
        </p:nvSpPr>
        <p:spPr>
          <a:xfrm>
            <a:off x="10607040" y="6428232"/>
            <a:ext cx="1097280" cy="274320"/>
          </a:xfrm>
          <a:prstGeom prst="rect">
            <a:avLst/>
          </a:prstGeom>
          <a:noFill/>
        </p:spPr>
        <p:txBody>
          <a:bodyPr wrap="square" anchor="t" lIns="45720" rIns="45720">
            <a:spAutoFit/>
          </a:bodyPr>
          <a:lstStyle/>
          <a:p>
            <a:pPr algn="r">
              <a:spcAft>
                <a:spcPts val="600"/>
              </a:spcAft>
            </a:pPr>
            <a:r>
              <a:rPr sz="1000" b="0">
                <a:solidFill>
                  <a:srgbClr val="898781"/>
                </a:solidFill>
                <a:latin typeface="Calibri"/>
              </a:rPr>
              <a:t>6 / 19</a:t>
            </a:r>
          </a:p>
        </p:txBody>
      </p:sp>
      <p:sp>
        <p:nvSpPr>
          <p:cNvPr id="7" name="Rounded Rectangle 6"/>
          <p:cNvSpPr/>
          <p:nvPr/>
        </p:nvSpPr>
        <p:spPr>
          <a:xfrm>
            <a:off x="548640" y="1463040"/>
            <a:ext cx="4206240" cy="1024128"/>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572768"/>
            <a:ext cx="3931920" cy="411480"/>
          </a:xfrm>
          <a:prstGeom prst="rect">
            <a:avLst/>
          </a:prstGeom>
          <a:noFill/>
        </p:spPr>
        <p:txBody>
          <a:bodyPr wrap="square" anchor="t" lIns="45720" rIns="45720">
            <a:spAutoFit/>
          </a:bodyPr>
          <a:lstStyle/>
          <a:p>
            <a:pPr algn="l">
              <a:spcAft>
                <a:spcPts val="600"/>
              </a:spcAft>
            </a:pPr>
            <a:r>
              <a:rPr sz="1800" b="1">
                <a:solidFill>
                  <a:srgbClr val="0B0B0B"/>
                </a:solidFill>
                <a:latin typeface="Calibri"/>
              </a:rPr>
              <a:t>Target</a:t>
            </a:r>
          </a:p>
        </p:txBody>
      </p:sp>
      <p:sp>
        <p:nvSpPr>
          <p:cNvPr id="9" name="TextBox 8"/>
          <p:cNvSpPr txBox="1"/>
          <p:nvPr/>
        </p:nvSpPr>
        <p:spPr>
          <a:xfrm>
            <a:off x="731520" y="1965960"/>
            <a:ext cx="3931920" cy="457200"/>
          </a:xfrm>
          <a:prstGeom prst="rect">
            <a:avLst/>
          </a:prstGeom>
          <a:noFill/>
        </p:spPr>
        <p:txBody>
          <a:bodyPr wrap="square" anchor="t" lIns="45720" rIns="45720">
            <a:spAutoFit/>
          </a:bodyPr>
          <a:lstStyle/>
          <a:p>
            <a:pPr algn="l">
              <a:spcAft>
                <a:spcPts val="600"/>
              </a:spcAft>
            </a:pPr>
            <a:r>
              <a:rPr sz="1600" b="0">
                <a:solidFill>
                  <a:srgbClr val="52514E"/>
                </a:solidFill>
                <a:latin typeface="Calibri"/>
              </a:rPr>
              <a:t>anomaly from each year's median</a:t>
            </a:r>
          </a:p>
        </p:txBody>
      </p:sp>
      <p:sp>
        <p:nvSpPr>
          <p:cNvPr id="10" name="Rounded Rectangle 9"/>
          <p:cNvSpPr/>
          <p:nvPr/>
        </p:nvSpPr>
        <p:spPr>
          <a:xfrm>
            <a:off x="548640" y="2651760"/>
            <a:ext cx="4206240" cy="1024128"/>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761488"/>
            <a:ext cx="3931920" cy="411480"/>
          </a:xfrm>
          <a:prstGeom prst="rect">
            <a:avLst/>
          </a:prstGeom>
          <a:noFill/>
        </p:spPr>
        <p:txBody>
          <a:bodyPr wrap="square" anchor="t" lIns="45720" rIns="45720">
            <a:spAutoFit/>
          </a:bodyPr>
          <a:lstStyle/>
          <a:p>
            <a:pPr algn="l">
              <a:spcAft>
                <a:spcPts val="600"/>
              </a:spcAft>
            </a:pPr>
            <a:r>
              <a:rPr sz="1800" b="1">
                <a:solidFill>
                  <a:srgbClr val="0B0B0B"/>
                </a:solidFill>
                <a:latin typeface="Calibri"/>
              </a:rPr>
              <a:t>Block size</a:t>
            </a:r>
          </a:p>
        </p:txBody>
      </p:sp>
      <p:sp>
        <p:nvSpPr>
          <p:cNvPr id="12" name="TextBox 11"/>
          <p:cNvSpPr txBox="1"/>
          <p:nvPr/>
        </p:nvSpPr>
        <p:spPr>
          <a:xfrm>
            <a:off x="731520" y="3154680"/>
            <a:ext cx="3931920" cy="457200"/>
          </a:xfrm>
          <a:prstGeom prst="rect">
            <a:avLst/>
          </a:prstGeom>
          <a:noFill/>
        </p:spPr>
        <p:txBody>
          <a:bodyPr wrap="square" anchor="t" lIns="45720" rIns="45720">
            <a:spAutoFit/>
          </a:bodyPr>
          <a:lstStyle/>
          <a:p>
            <a:pPr algn="l">
              <a:spcAft>
                <a:spcPts val="600"/>
              </a:spcAft>
            </a:pPr>
            <a:r>
              <a:rPr sz="1600" b="0">
                <a:solidFill>
                  <a:srgbClr val="52514E"/>
                </a:solidFill>
                <a:latin typeface="Calibri"/>
              </a:rPr>
              <a:t>residual range 3,950 m → 4 km</a:t>
            </a:r>
          </a:p>
        </p:txBody>
      </p:sp>
      <p:sp>
        <p:nvSpPr>
          <p:cNvPr id="13" name="Rounded Rectangle 12"/>
          <p:cNvSpPr/>
          <p:nvPr/>
        </p:nvSpPr>
        <p:spPr>
          <a:xfrm>
            <a:off x="548640" y="3840480"/>
            <a:ext cx="4206240" cy="1024128"/>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950208"/>
            <a:ext cx="3931920" cy="411480"/>
          </a:xfrm>
          <a:prstGeom prst="rect">
            <a:avLst/>
          </a:prstGeom>
          <a:noFill/>
        </p:spPr>
        <p:txBody>
          <a:bodyPr wrap="square" anchor="t" lIns="45720" rIns="45720">
            <a:spAutoFit/>
          </a:bodyPr>
          <a:lstStyle/>
          <a:p>
            <a:pPr algn="l">
              <a:spcAft>
                <a:spcPts val="600"/>
              </a:spcAft>
            </a:pPr>
            <a:r>
              <a:rPr sz="1800" b="1">
                <a:solidFill>
                  <a:srgbClr val="0B0B0B"/>
                </a:solidFill>
                <a:latin typeface="Calibri"/>
              </a:rPr>
              <a:t>Layouts</a:t>
            </a:r>
          </a:p>
        </p:txBody>
      </p:sp>
      <p:sp>
        <p:nvSpPr>
          <p:cNvPr id="15" name="TextBox 14"/>
          <p:cNvSpPr txBox="1"/>
          <p:nvPr/>
        </p:nvSpPr>
        <p:spPr>
          <a:xfrm>
            <a:off x="731520" y="4343400"/>
            <a:ext cx="3931920" cy="457200"/>
          </a:xfrm>
          <a:prstGeom prst="rect">
            <a:avLst/>
          </a:prstGeom>
          <a:noFill/>
        </p:spPr>
        <p:txBody>
          <a:bodyPr wrap="square" anchor="t" lIns="45720" rIns="45720">
            <a:spAutoFit/>
          </a:bodyPr>
          <a:lstStyle/>
          <a:p>
            <a:pPr algn="l">
              <a:spcAft>
                <a:spcPts val="600"/>
              </a:spcAft>
            </a:pPr>
            <a:r>
              <a:rPr sz="1600" b="0">
                <a:solidFill>
                  <a:srgbClr val="52514E"/>
                </a:solidFill>
                <a:latin typeface="Calibri"/>
              </a:rPr>
              <a:t>5 random seeds × 5 folds</a:t>
            </a:r>
          </a:p>
        </p:txBody>
      </p:sp>
      <p:sp>
        <p:nvSpPr>
          <p:cNvPr id="16" name="Rounded Rectangle 15"/>
          <p:cNvSpPr/>
          <p:nvPr/>
        </p:nvSpPr>
        <p:spPr>
          <a:xfrm>
            <a:off x="548640" y="5029200"/>
            <a:ext cx="4206240" cy="1024128"/>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5138928"/>
            <a:ext cx="3931920" cy="411480"/>
          </a:xfrm>
          <a:prstGeom prst="rect">
            <a:avLst/>
          </a:prstGeom>
          <a:noFill/>
        </p:spPr>
        <p:txBody>
          <a:bodyPr wrap="square" anchor="t" lIns="45720" rIns="45720">
            <a:spAutoFit/>
          </a:bodyPr>
          <a:lstStyle/>
          <a:p>
            <a:pPr algn="l">
              <a:spcAft>
                <a:spcPts val="600"/>
              </a:spcAft>
            </a:pPr>
            <a:r>
              <a:rPr sz="1800" b="1">
                <a:solidFill>
                  <a:srgbClr val="0B0B0B"/>
                </a:solidFill>
                <a:latin typeface="Calibri"/>
              </a:rPr>
              <a:t>Final test</a:t>
            </a:r>
          </a:p>
        </p:txBody>
      </p:sp>
      <p:sp>
        <p:nvSpPr>
          <p:cNvPr id="18" name="TextBox 17"/>
          <p:cNvSpPr txBox="1"/>
          <p:nvPr/>
        </p:nvSpPr>
        <p:spPr>
          <a:xfrm>
            <a:off x="731520" y="5532120"/>
            <a:ext cx="3931920" cy="457200"/>
          </a:xfrm>
          <a:prstGeom prst="rect">
            <a:avLst/>
          </a:prstGeom>
          <a:noFill/>
        </p:spPr>
        <p:txBody>
          <a:bodyPr wrap="square" anchor="t" lIns="45720" rIns="45720">
            <a:spAutoFit/>
          </a:bodyPr>
          <a:lstStyle/>
          <a:p>
            <a:pPr algn="l">
              <a:spcAft>
                <a:spcPts val="600"/>
              </a:spcAft>
            </a:pPr>
            <a:r>
              <a:rPr sz="1600" b="0">
                <a:solidFill>
                  <a:srgbClr val="52514E"/>
                </a:solidFill>
                <a:latin typeface="Calibri"/>
              </a:rPr>
              <a:t>2025, unseen blocks, untouched</a:t>
            </a:r>
          </a:p>
        </p:txBody>
      </p:sp>
      <p:pic>
        <p:nvPicPr>
          <p:cNvPr id="19" name="Picture 18" descr="03_block_layout.png"/>
          <p:cNvPicPr>
            <a:picLocks noChangeAspect="1"/>
          </p:cNvPicPr>
          <p:nvPr/>
        </p:nvPicPr>
        <p:blipFill>
          <a:blip r:embed="rId3"/>
          <a:stretch>
            <a:fillRect/>
          </a:stretch>
        </p:blipFill>
        <p:spPr>
          <a:xfrm>
            <a:off x="4983480" y="2471833"/>
            <a:ext cx="6858000" cy="260013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66928"/>
            <a:ext cx="11064240" cy="685800"/>
          </a:xfrm>
          <a:prstGeom prst="rect">
            <a:avLst/>
          </a:prstGeom>
          <a:noFill/>
        </p:spPr>
        <p:txBody>
          <a:bodyPr wrap="square" anchor="t" lIns="45720" rIns="45720">
            <a:spAutoFit/>
          </a:bodyPr>
          <a:lstStyle/>
          <a:p>
            <a:pPr algn="l">
              <a:spcAft>
                <a:spcPts val="600"/>
              </a:spcAft>
            </a:pPr>
            <a:r>
              <a:rPr sz="3000" b="1">
                <a:solidFill>
                  <a:srgbClr val="0B0B0B"/>
                </a:solidFill>
                <a:latin typeface="Calibri"/>
              </a:rPr>
              <a:t>Eight stages, one command</a:t>
            </a:r>
          </a:p>
        </p:txBody>
      </p:sp>
      <p:sp>
        <p:nvSpPr>
          <p:cNvPr id="3" name="TextBox 2"/>
          <p:cNvSpPr txBox="1"/>
          <p:nvPr/>
        </p:nvSpPr>
        <p:spPr>
          <a:xfrm>
            <a:off x="566928" y="274320"/>
            <a:ext cx="7315200" cy="320040"/>
          </a:xfrm>
          <a:prstGeom prst="rect">
            <a:avLst/>
          </a:prstGeom>
          <a:noFill/>
        </p:spPr>
        <p:txBody>
          <a:bodyPr wrap="square" anchor="t" lIns="45720" rIns="45720">
            <a:spAutoFit/>
          </a:bodyPr>
          <a:lstStyle/>
          <a:p>
            <a:pPr algn="l">
              <a:spcAft>
                <a:spcPts val="600"/>
              </a:spcAft>
            </a:pPr>
            <a:r>
              <a:rPr sz="1200" b="1">
                <a:solidFill>
                  <a:srgbClr val="2A78D6"/>
                </a:solidFill>
                <a:latin typeface="Calibri"/>
              </a:rPr>
              <a:t>ML PIPELINE</a:t>
            </a:r>
          </a:p>
        </p:txBody>
      </p:sp>
      <p:cxnSp>
        <p:nvCxnSpPr>
          <p:cNvPr id="4" name="Connector 3"/>
          <p:cNvCxnSpPr/>
          <p:nvPr/>
        </p:nvCxnSpPr>
        <p:spPr>
          <a:xfrm>
            <a:off x="548640" y="6382512"/>
            <a:ext cx="11094415"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428232"/>
            <a:ext cx="5486400" cy="274320"/>
          </a:xfrm>
          <a:prstGeom prst="rect">
            <a:avLst/>
          </a:prstGeom>
          <a:noFill/>
        </p:spPr>
        <p:txBody>
          <a:bodyPr wrap="square" anchor="t" lIns="45720" rIns="45720">
            <a:spAutoFit/>
          </a:bodyPr>
          <a:lstStyle/>
          <a:p>
            <a:pPr algn="l">
              <a:spcAft>
                <a:spcPts val="600"/>
              </a:spcAft>
            </a:pPr>
            <a:r>
              <a:rPr sz="1000" b="0">
                <a:solidFill>
                  <a:srgbClr val="898781"/>
                </a:solidFill>
                <a:latin typeface="Calibri"/>
              </a:rPr>
              <a:t>MirageAI · Concrete vs. Canopy</a:t>
            </a:r>
          </a:p>
        </p:txBody>
      </p:sp>
      <p:sp>
        <p:nvSpPr>
          <p:cNvPr id="6" name="TextBox 5"/>
          <p:cNvSpPr txBox="1"/>
          <p:nvPr/>
        </p:nvSpPr>
        <p:spPr>
          <a:xfrm>
            <a:off x="10607040" y="6428232"/>
            <a:ext cx="1097280" cy="274320"/>
          </a:xfrm>
          <a:prstGeom prst="rect">
            <a:avLst/>
          </a:prstGeom>
          <a:noFill/>
        </p:spPr>
        <p:txBody>
          <a:bodyPr wrap="square" anchor="t" lIns="45720" rIns="45720">
            <a:spAutoFit/>
          </a:bodyPr>
          <a:lstStyle/>
          <a:p>
            <a:pPr algn="r">
              <a:spcAft>
                <a:spcPts val="600"/>
              </a:spcAft>
            </a:pPr>
            <a:r>
              <a:rPr sz="1000" b="0">
                <a:solidFill>
                  <a:srgbClr val="898781"/>
                </a:solidFill>
                <a:latin typeface="Calibri"/>
              </a:rPr>
              <a:t>7 / 19</a:t>
            </a:r>
          </a:p>
        </p:txBody>
      </p:sp>
      <p:pic>
        <p:nvPicPr>
          <p:cNvPr id="7" name="Picture 6" descr="09_pipeline.png"/>
          <p:cNvPicPr>
            <a:picLocks noChangeAspect="1"/>
          </p:cNvPicPr>
          <p:nvPr/>
        </p:nvPicPr>
        <p:blipFill>
          <a:blip r:embed="rId3"/>
          <a:stretch>
            <a:fillRect/>
          </a:stretch>
        </p:blipFill>
        <p:spPr>
          <a:xfrm>
            <a:off x="548640" y="1382386"/>
            <a:ext cx="11064240" cy="4321826"/>
          </a:xfrm>
          <a:prstGeom prst="rect">
            <a:avLst/>
          </a:prstGeom>
        </p:spPr>
      </p:pic>
      <p:sp>
        <p:nvSpPr>
          <p:cNvPr id="8" name="TextBox 7"/>
          <p:cNvSpPr txBox="1"/>
          <p:nvPr/>
        </p:nvSpPr>
        <p:spPr>
          <a:xfrm>
            <a:off x="548640" y="5760720"/>
            <a:ext cx="11064240" cy="502920"/>
          </a:xfrm>
          <a:prstGeom prst="rect">
            <a:avLst/>
          </a:prstGeom>
          <a:noFill/>
        </p:spPr>
        <p:txBody>
          <a:bodyPr wrap="square" anchor="t" lIns="45720" rIns="45720">
            <a:spAutoFit/>
          </a:bodyPr>
          <a:lstStyle/>
          <a:p>
            <a:pPr algn="ctr">
              <a:spcAft>
                <a:spcPts val="600"/>
              </a:spcAft>
            </a:pPr>
            <a:r>
              <a:rPr sz="1700" b="1">
                <a:solidFill>
                  <a:srgbClr val="2A78D6"/>
                </a:solidFill>
                <a:latin typeface="Calibri"/>
              </a:rPr>
              <a:t>One command rebuilds every table and figure; a script re-checks every quoted number.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66928"/>
            <a:ext cx="11064240" cy="685800"/>
          </a:xfrm>
          <a:prstGeom prst="rect">
            <a:avLst/>
          </a:prstGeom>
          <a:noFill/>
        </p:spPr>
        <p:txBody>
          <a:bodyPr wrap="square" anchor="t" lIns="45720" rIns="45720">
            <a:spAutoFit/>
          </a:bodyPr>
          <a:lstStyle/>
          <a:p>
            <a:pPr algn="l">
              <a:spcAft>
                <a:spcPts val="600"/>
              </a:spcAft>
            </a:pPr>
            <a:r>
              <a:rPr sz="3000" b="1">
                <a:solidFill>
                  <a:srgbClr val="0B0B0B"/>
                </a:solidFill>
                <a:latin typeface="Calibri"/>
              </a:rPr>
              <a:t>The mirage: the built core is cooler by day</a:t>
            </a:r>
          </a:p>
        </p:txBody>
      </p:sp>
      <p:sp>
        <p:nvSpPr>
          <p:cNvPr id="3" name="TextBox 2"/>
          <p:cNvSpPr txBox="1"/>
          <p:nvPr/>
        </p:nvSpPr>
        <p:spPr>
          <a:xfrm>
            <a:off x="566928" y="274320"/>
            <a:ext cx="7315200" cy="320040"/>
          </a:xfrm>
          <a:prstGeom prst="rect">
            <a:avLst/>
          </a:prstGeom>
          <a:noFill/>
        </p:spPr>
        <p:txBody>
          <a:bodyPr wrap="square" anchor="t" lIns="45720" rIns="45720">
            <a:spAutoFit/>
          </a:bodyPr>
          <a:lstStyle/>
          <a:p>
            <a:pPr algn="l">
              <a:spcAft>
                <a:spcPts val="600"/>
              </a:spcAft>
            </a:pPr>
            <a:r>
              <a:rPr sz="1200" b="1">
                <a:solidFill>
                  <a:srgbClr val="2A78D6"/>
                </a:solidFill>
                <a:latin typeface="Calibri"/>
              </a:rPr>
              <a:t>EXPLORATORY DATA ANALYSIS</a:t>
            </a:r>
          </a:p>
        </p:txBody>
      </p:sp>
      <p:cxnSp>
        <p:nvCxnSpPr>
          <p:cNvPr id="4" name="Connector 3"/>
          <p:cNvCxnSpPr/>
          <p:nvPr/>
        </p:nvCxnSpPr>
        <p:spPr>
          <a:xfrm>
            <a:off x="548640" y="6382512"/>
            <a:ext cx="11094415"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428232"/>
            <a:ext cx="5486400" cy="274320"/>
          </a:xfrm>
          <a:prstGeom prst="rect">
            <a:avLst/>
          </a:prstGeom>
          <a:noFill/>
        </p:spPr>
        <p:txBody>
          <a:bodyPr wrap="square" anchor="t" lIns="45720" rIns="45720">
            <a:spAutoFit/>
          </a:bodyPr>
          <a:lstStyle/>
          <a:p>
            <a:pPr algn="l">
              <a:spcAft>
                <a:spcPts val="600"/>
              </a:spcAft>
            </a:pPr>
            <a:r>
              <a:rPr sz="1000" b="0">
                <a:solidFill>
                  <a:srgbClr val="898781"/>
                </a:solidFill>
                <a:latin typeface="Calibri"/>
              </a:rPr>
              <a:t>MirageAI · Concrete vs. Canopy</a:t>
            </a:r>
          </a:p>
        </p:txBody>
      </p:sp>
      <p:sp>
        <p:nvSpPr>
          <p:cNvPr id="6" name="TextBox 5"/>
          <p:cNvSpPr txBox="1"/>
          <p:nvPr/>
        </p:nvSpPr>
        <p:spPr>
          <a:xfrm>
            <a:off x="10607040" y="6428232"/>
            <a:ext cx="1097280" cy="274320"/>
          </a:xfrm>
          <a:prstGeom prst="rect">
            <a:avLst/>
          </a:prstGeom>
          <a:noFill/>
        </p:spPr>
        <p:txBody>
          <a:bodyPr wrap="square" anchor="t" lIns="45720" rIns="45720">
            <a:spAutoFit/>
          </a:bodyPr>
          <a:lstStyle/>
          <a:p>
            <a:pPr algn="r">
              <a:spcAft>
                <a:spcPts val="600"/>
              </a:spcAft>
            </a:pPr>
            <a:r>
              <a:rPr sz="1000" b="0">
                <a:solidFill>
                  <a:srgbClr val="898781"/>
                </a:solidFill>
                <a:latin typeface="Calibri"/>
              </a:rPr>
              <a:t>8 / 19</a:t>
            </a:r>
          </a:p>
        </p:txBody>
      </p:sp>
      <p:pic>
        <p:nvPicPr>
          <p:cNvPr id="7" name="Picture 6" descr="01_lst_map_2024.png"/>
          <p:cNvPicPr>
            <a:picLocks noChangeAspect="1"/>
          </p:cNvPicPr>
          <p:nvPr/>
        </p:nvPicPr>
        <p:blipFill>
          <a:blip r:embed="rId3"/>
          <a:stretch>
            <a:fillRect/>
          </a:stretch>
        </p:blipFill>
        <p:spPr>
          <a:xfrm>
            <a:off x="365760" y="1564993"/>
            <a:ext cx="4846320" cy="3773733"/>
          </a:xfrm>
          <a:prstGeom prst="rect">
            <a:avLst/>
          </a:prstGeom>
        </p:spPr>
      </p:pic>
      <p:pic>
        <p:nvPicPr>
          <p:cNvPr id="8" name="Picture 7" descr="08_cool_island.png"/>
          <p:cNvPicPr>
            <a:picLocks noChangeAspect="1"/>
          </p:cNvPicPr>
          <p:nvPr/>
        </p:nvPicPr>
        <p:blipFill>
          <a:blip r:embed="rId4"/>
          <a:stretch>
            <a:fillRect/>
          </a:stretch>
        </p:blipFill>
        <p:spPr>
          <a:xfrm>
            <a:off x="5303520" y="1694565"/>
            <a:ext cx="6583679" cy="2645909"/>
          </a:xfrm>
          <a:prstGeom prst="rect">
            <a:avLst/>
          </a:prstGeom>
        </p:spPr>
      </p:pic>
      <p:sp>
        <p:nvSpPr>
          <p:cNvPr id="9" name="TextBox 8"/>
          <p:cNvSpPr txBox="1"/>
          <p:nvPr/>
        </p:nvSpPr>
        <p:spPr>
          <a:xfrm>
            <a:off x="5486400" y="4754880"/>
            <a:ext cx="3017520" cy="476250"/>
          </a:xfrm>
          <a:prstGeom prst="rect">
            <a:avLst/>
          </a:prstGeom>
          <a:noFill/>
        </p:spPr>
        <p:txBody>
          <a:bodyPr wrap="square" anchor="t" lIns="45720" rIns="45720">
            <a:spAutoFit/>
          </a:bodyPr>
          <a:lstStyle/>
          <a:p>
            <a:pPr algn="l">
              <a:spcAft>
                <a:spcPts val="600"/>
              </a:spcAft>
            </a:pPr>
            <a:r>
              <a:rPr sz="3000" b="1">
                <a:solidFill>
                  <a:srgbClr val="2A78D6"/>
                </a:solidFill>
                <a:latin typeface="Calibri"/>
              </a:rPr>
              <a:t>2.1 °C</a:t>
            </a:r>
          </a:p>
        </p:txBody>
      </p:sp>
      <p:sp>
        <p:nvSpPr>
          <p:cNvPr id="10" name="TextBox 9"/>
          <p:cNvSpPr txBox="1"/>
          <p:nvPr/>
        </p:nvSpPr>
        <p:spPr>
          <a:xfrm>
            <a:off x="5486400" y="5231130"/>
            <a:ext cx="3017520" cy="822960"/>
          </a:xfrm>
          <a:prstGeom prst="rect">
            <a:avLst/>
          </a:prstGeom>
          <a:noFill/>
        </p:spPr>
        <p:txBody>
          <a:bodyPr wrap="square" anchor="t" lIns="45720" rIns="45720">
            <a:spAutoFit/>
          </a:bodyPr>
          <a:lstStyle/>
          <a:p>
            <a:pPr algn="l">
              <a:spcAft>
                <a:spcPts val="600"/>
              </a:spcAft>
            </a:pPr>
            <a:r>
              <a:rPr sz="1500" b="0">
                <a:solidFill>
                  <a:srgbClr val="52514E"/>
                </a:solidFill>
                <a:latin typeface="Calibri"/>
              </a:rPr>
              <a:t>least-built vs most-built cells</a:t>
            </a:r>
          </a:p>
        </p:txBody>
      </p:sp>
      <p:sp>
        <p:nvSpPr>
          <p:cNvPr id="11" name="TextBox 10"/>
          <p:cNvSpPr txBox="1"/>
          <p:nvPr/>
        </p:nvSpPr>
        <p:spPr>
          <a:xfrm>
            <a:off x="8595360" y="4800600"/>
            <a:ext cx="3291840" cy="1371600"/>
          </a:xfrm>
          <a:prstGeom prst="rect">
            <a:avLst/>
          </a:prstGeom>
          <a:noFill/>
        </p:spPr>
        <p:txBody>
          <a:bodyPr wrap="square" anchor="t" lIns="45720" rIns="45720">
            <a:spAutoFit/>
          </a:bodyPr>
          <a:lstStyle/>
          <a:p>
            <a:pPr algn="l">
              <a:spcAft>
                <a:spcPts val="600"/>
              </a:spcAft>
            </a:pPr>
            <a:r>
              <a:rPr sz="1500" b="0">
                <a:solidFill>
                  <a:srgbClr val="52514E"/>
                </a:solidFill>
                <a:latin typeface="Calibri"/>
              </a:rPr>
              <a:t>NDBI peaks in the least-built cells: here it measures dryness.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66928"/>
            <a:ext cx="11064240" cy="685800"/>
          </a:xfrm>
          <a:prstGeom prst="rect">
            <a:avLst/>
          </a:prstGeom>
          <a:noFill/>
        </p:spPr>
        <p:txBody>
          <a:bodyPr wrap="square" anchor="t" lIns="45720" rIns="45720">
            <a:spAutoFit/>
          </a:bodyPr>
          <a:lstStyle/>
          <a:p>
            <a:pPr algn="l">
              <a:spcAft>
                <a:spcPts val="600"/>
              </a:spcAft>
            </a:pPr>
            <a:r>
              <a:rPr sz="3000" b="1">
                <a:solidFill>
                  <a:srgbClr val="0B0B0B"/>
                </a:solidFill>
                <a:latin typeface="Calibri"/>
              </a:rPr>
              <a:t>A baseline and four learners on identical folds</a:t>
            </a:r>
          </a:p>
        </p:txBody>
      </p:sp>
      <p:sp>
        <p:nvSpPr>
          <p:cNvPr id="3" name="TextBox 2"/>
          <p:cNvSpPr txBox="1"/>
          <p:nvPr/>
        </p:nvSpPr>
        <p:spPr>
          <a:xfrm>
            <a:off x="566928" y="274320"/>
            <a:ext cx="7315200" cy="320040"/>
          </a:xfrm>
          <a:prstGeom prst="rect">
            <a:avLst/>
          </a:prstGeom>
          <a:noFill/>
        </p:spPr>
        <p:txBody>
          <a:bodyPr wrap="square" anchor="t" lIns="45720" rIns="45720">
            <a:spAutoFit/>
          </a:bodyPr>
          <a:lstStyle/>
          <a:p>
            <a:pPr algn="l">
              <a:spcAft>
                <a:spcPts val="600"/>
              </a:spcAft>
            </a:pPr>
            <a:r>
              <a:rPr sz="1200" b="1">
                <a:solidFill>
                  <a:srgbClr val="2A78D6"/>
                </a:solidFill>
                <a:latin typeface="Calibri"/>
              </a:rPr>
              <a:t>MODELS</a:t>
            </a:r>
          </a:p>
        </p:txBody>
      </p:sp>
      <p:cxnSp>
        <p:nvCxnSpPr>
          <p:cNvPr id="4" name="Connector 3"/>
          <p:cNvCxnSpPr/>
          <p:nvPr/>
        </p:nvCxnSpPr>
        <p:spPr>
          <a:xfrm>
            <a:off x="548640" y="6382512"/>
            <a:ext cx="11094415"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428232"/>
            <a:ext cx="5486400" cy="274320"/>
          </a:xfrm>
          <a:prstGeom prst="rect">
            <a:avLst/>
          </a:prstGeom>
          <a:noFill/>
        </p:spPr>
        <p:txBody>
          <a:bodyPr wrap="square" anchor="t" lIns="45720" rIns="45720">
            <a:spAutoFit/>
          </a:bodyPr>
          <a:lstStyle/>
          <a:p>
            <a:pPr algn="l">
              <a:spcAft>
                <a:spcPts val="600"/>
              </a:spcAft>
            </a:pPr>
            <a:r>
              <a:rPr sz="1000" b="0">
                <a:solidFill>
                  <a:srgbClr val="898781"/>
                </a:solidFill>
                <a:latin typeface="Calibri"/>
              </a:rPr>
              <a:t>MirageAI · Concrete vs. Canopy</a:t>
            </a:r>
          </a:p>
        </p:txBody>
      </p:sp>
      <p:sp>
        <p:nvSpPr>
          <p:cNvPr id="6" name="TextBox 5"/>
          <p:cNvSpPr txBox="1"/>
          <p:nvPr/>
        </p:nvSpPr>
        <p:spPr>
          <a:xfrm>
            <a:off x="10607040" y="6428232"/>
            <a:ext cx="1097280" cy="274320"/>
          </a:xfrm>
          <a:prstGeom prst="rect">
            <a:avLst/>
          </a:prstGeom>
          <a:noFill/>
        </p:spPr>
        <p:txBody>
          <a:bodyPr wrap="square" anchor="t" lIns="45720" rIns="45720">
            <a:spAutoFit/>
          </a:bodyPr>
          <a:lstStyle/>
          <a:p>
            <a:pPr algn="r">
              <a:spcAft>
                <a:spcPts val="600"/>
              </a:spcAft>
            </a:pPr>
            <a:r>
              <a:rPr sz="1000" b="0">
                <a:solidFill>
                  <a:srgbClr val="898781"/>
                </a:solidFill>
                <a:latin typeface="Calibri"/>
              </a:rPr>
              <a:t>9 / 19</a:t>
            </a:r>
          </a:p>
        </p:txBody>
      </p:sp>
      <p:sp>
        <p:nvSpPr>
          <p:cNvPr id="7" name="Rounded Rectangle 6"/>
          <p:cNvSpPr/>
          <p:nvPr/>
        </p:nvSpPr>
        <p:spPr>
          <a:xfrm>
            <a:off x="548640" y="1600200"/>
            <a:ext cx="2103120" cy="214884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737360"/>
            <a:ext cx="1737360" cy="411480"/>
          </a:xfrm>
          <a:prstGeom prst="rect">
            <a:avLst/>
          </a:prstGeom>
          <a:noFill/>
        </p:spPr>
        <p:txBody>
          <a:bodyPr wrap="square" anchor="t" lIns="45720" rIns="45720">
            <a:spAutoFit/>
          </a:bodyPr>
          <a:lstStyle/>
          <a:p>
            <a:pPr algn="l">
              <a:spcAft>
                <a:spcPts val="600"/>
              </a:spcAft>
            </a:pPr>
            <a:r>
              <a:rPr sz="1700" b="1">
                <a:solidFill>
                  <a:srgbClr val="0B0B0B"/>
                </a:solidFill>
                <a:latin typeface="Calibri"/>
              </a:rPr>
              <a:t>Baseline</a:t>
            </a:r>
          </a:p>
        </p:txBody>
      </p:sp>
      <p:sp>
        <p:nvSpPr>
          <p:cNvPr id="9" name="TextBox 8"/>
          <p:cNvSpPr txBox="1"/>
          <p:nvPr/>
        </p:nvSpPr>
        <p:spPr>
          <a:xfrm>
            <a:off x="731520" y="2167128"/>
            <a:ext cx="1737360" cy="1508760"/>
          </a:xfrm>
          <a:prstGeom prst="rect">
            <a:avLst/>
          </a:prstGeom>
          <a:noFill/>
        </p:spPr>
        <p:txBody>
          <a:bodyPr wrap="square" anchor="t" lIns="45720" rIns="45720">
            <a:spAutoFit/>
          </a:bodyPr>
          <a:lstStyle/>
          <a:p>
            <a:pPr algn="l">
              <a:spcAft>
                <a:spcPts val="600"/>
              </a:spcAft>
            </a:pPr>
            <a:r>
              <a:rPr sz="1500" b="0">
                <a:solidFill>
                  <a:srgbClr val="52514E"/>
                </a:solidFill>
                <a:latin typeface="Calibri"/>
              </a:rPr>
              <a:t>training mean: the floor</a:t>
            </a:r>
          </a:p>
        </p:txBody>
      </p:sp>
      <p:sp>
        <p:nvSpPr>
          <p:cNvPr id="10" name="Rounded Rectangle 9"/>
          <p:cNvSpPr/>
          <p:nvPr/>
        </p:nvSpPr>
        <p:spPr>
          <a:xfrm>
            <a:off x="2798064" y="1600200"/>
            <a:ext cx="2103120" cy="214884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80944" y="1737360"/>
            <a:ext cx="1737360" cy="411480"/>
          </a:xfrm>
          <a:prstGeom prst="rect">
            <a:avLst/>
          </a:prstGeom>
          <a:noFill/>
        </p:spPr>
        <p:txBody>
          <a:bodyPr wrap="square" anchor="t" lIns="45720" rIns="45720">
            <a:spAutoFit/>
          </a:bodyPr>
          <a:lstStyle/>
          <a:p>
            <a:pPr algn="l">
              <a:spcAft>
                <a:spcPts val="600"/>
              </a:spcAft>
            </a:pPr>
            <a:r>
              <a:rPr sz="1700" b="1">
                <a:solidFill>
                  <a:srgbClr val="0B0B0B"/>
                </a:solidFill>
                <a:latin typeface="Calibri"/>
              </a:rPr>
              <a:t>Linear</a:t>
            </a:r>
          </a:p>
        </p:txBody>
      </p:sp>
      <p:sp>
        <p:nvSpPr>
          <p:cNvPr id="12" name="TextBox 11"/>
          <p:cNvSpPr txBox="1"/>
          <p:nvPr/>
        </p:nvSpPr>
        <p:spPr>
          <a:xfrm>
            <a:off x="2980944" y="2167128"/>
            <a:ext cx="1737360" cy="1508760"/>
          </a:xfrm>
          <a:prstGeom prst="rect">
            <a:avLst/>
          </a:prstGeom>
          <a:noFill/>
        </p:spPr>
        <p:txBody>
          <a:bodyPr wrap="square" anchor="t" lIns="45720" rIns="45720">
            <a:spAutoFit/>
          </a:bodyPr>
          <a:lstStyle/>
          <a:p>
            <a:pPr algn="l">
              <a:spcAft>
                <a:spcPts val="600"/>
              </a:spcAft>
            </a:pPr>
            <a:r>
              <a:rPr sz="1500" b="0">
                <a:solidFill>
                  <a:srgbClr val="52514E"/>
                </a:solidFill>
                <a:latin typeface="Calibri"/>
              </a:rPr>
              <a:t>standardised in-fold; the status quo</a:t>
            </a:r>
          </a:p>
        </p:txBody>
      </p:sp>
      <p:sp>
        <p:nvSpPr>
          <p:cNvPr id="13" name="Rounded Rectangle 12"/>
          <p:cNvSpPr/>
          <p:nvPr/>
        </p:nvSpPr>
        <p:spPr>
          <a:xfrm>
            <a:off x="5047488" y="1600200"/>
            <a:ext cx="2103120" cy="2148840"/>
          </a:xfrm>
          <a:prstGeom prst="roundRect">
            <a:avLst>
              <a:gd name="adj" fmla="val 8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30368" y="1737360"/>
            <a:ext cx="1737360" cy="411480"/>
          </a:xfrm>
          <a:prstGeom prst="rect">
            <a:avLst/>
          </a:prstGeom>
          <a:noFill/>
        </p:spPr>
        <p:txBody>
          <a:bodyPr wrap="square" anchor="t" lIns="45720" rIns="45720">
            <a:spAutoFit/>
          </a:bodyPr>
          <a:lstStyle/>
          <a:p>
            <a:pPr algn="l">
              <a:spcAft>
                <a:spcPts val="600"/>
              </a:spcAft>
            </a:pPr>
            <a:r>
              <a:rPr sz="1700" b="1">
                <a:solidFill>
                  <a:srgbClr val="FFFFFF"/>
                </a:solidFill>
                <a:latin typeface="Calibri"/>
              </a:rPr>
              <a:t>Random Forest</a:t>
            </a:r>
          </a:p>
        </p:txBody>
      </p:sp>
      <p:sp>
        <p:nvSpPr>
          <p:cNvPr id="15" name="TextBox 14"/>
          <p:cNvSpPr txBox="1"/>
          <p:nvPr/>
        </p:nvSpPr>
        <p:spPr>
          <a:xfrm>
            <a:off x="5230368" y="2167128"/>
            <a:ext cx="1737360" cy="1508760"/>
          </a:xfrm>
          <a:prstGeom prst="rect">
            <a:avLst/>
          </a:prstGeom>
          <a:noFill/>
        </p:spPr>
        <p:txBody>
          <a:bodyPr wrap="square" anchor="t" lIns="45720" rIns="45720">
            <a:spAutoFit/>
          </a:bodyPr>
          <a:lstStyle/>
          <a:p>
            <a:pPr algn="l">
              <a:spcAft>
                <a:spcPts val="600"/>
              </a:spcAft>
            </a:pPr>
            <a:r>
              <a:rPr sz="1500" b="0">
                <a:solidFill>
                  <a:srgbClr val="FFFFFF"/>
                </a:solidFill>
                <a:latin typeface="Calibri"/>
              </a:rPr>
              <a:t>bagged deep trees</a:t>
            </a:r>
          </a:p>
        </p:txBody>
      </p:sp>
      <p:sp>
        <p:nvSpPr>
          <p:cNvPr id="16" name="Rounded Rectangle 15"/>
          <p:cNvSpPr/>
          <p:nvPr/>
        </p:nvSpPr>
        <p:spPr>
          <a:xfrm>
            <a:off x="7296912" y="1600200"/>
            <a:ext cx="2103120" cy="2148840"/>
          </a:xfrm>
          <a:prstGeom prst="roundRect">
            <a:avLst>
              <a:gd name="adj" fmla="val 8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79792" y="1737360"/>
            <a:ext cx="1737360" cy="411480"/>
          </a:xfrm>
          <a:prstGeom prst="rect">
            <a:avLst/>
          </a:prstGeom>
          <a:noFill/>
        </p:spPr>
        <p:txBody>
          <a:bodyPr wrap="square" anchor="t" lIns="45720" rIns="45720">
            <a:spAutoFit/>
          </a:bodyPr>
          <a:lstStyle/>
          <a:p>
            <a:pPr algn="l">
              <a:spcAft>
                <a:spcPts val="600"/>
              </a:spcAft>
            </a:pPr>
            <a:r>
              <a:rPr sz="1700" b="1">
                <a:solidFill>
                  <a:srgbClr val="FFFFFF"/>
                </a:solidFill>
                <a:latin typeface="Calibri"/>
              </a:rPr>
              <a:t>XGBoost</a:t>
            </a:r>
          </a:p>
        </p:txBody>
      </p:sp>
      <p:sp>
        <p:nvSpPr>
          <p:cNvPr id="18" name="TextBox 17"/>
          <p:cNvSpPr txBox="1"/>
          <p:nvPr/>
        </p:nvSpPr>
        <p:spPr>
          <a:xfrm>
            <a:off x="7479792" y="2167128"/>
            <a:ext cx="1737360" cy="1508760"/>
          </a:xfrm>
          <a:prstGeom prst="rect">
            <a:avLst/>
          </a:prstGeom>
          <a:noFill/>
        </p:spPr>
        <p:txBody>
          <a:bodyPr wrap="square" anchor="t" lIns="45720" rIns="45720">
            <a:spAutoFit/>
          </a:bodyPr>
          <a:lstStyle/>
          <a:p>
            <a:pPr algn="l">
              <a:spcAft>
                <a:spcPts val="600"/>
              </a:spcAft>
            </a:pPr>
            <a:r>
              <a:rPr sz="1500" b="0">
                <a:solidFill>
                  <a:srgbClr val="FFFFFF"/>
                </a:solidFill>
                <a:latin typeface="Calibri"/>
              </a:rPr>
              <a:t>boosted trees, depth-wise</a:t>
            </a:r>
          </a:p>
        </p:txBody>
      </p:sp>
      <p:sp>
        <p:nvSpPr>
          <p:cNvPr id="19" name="Rounded Rectangle 18"/>
          <p:cNvSpPr/>
          <p:nvPr/>
        </p:nvSpPr>
        <p:spPr>
          <a:xfrm>
            <a:off x="9546336" y="1600200"/>
            <a:ext cx="2103120" cy="2148840"/>
          </a:xfrm>
          <a:prstGeom prst="roundRect">
            <a:avLst>
              <a:gd name="adj" fmla="val 8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29215" y="1737360"/>
            <a:ext cx="1737360" cy="411480"/>
          </a:xfrm>
          <a:prstGeom prst="rect">
            <a:avLst/>
          </a:prstGeom>
          <a:noFill/>
        </p:spPr>
        <p:txBody>
          <a:bodyPr wrap="square" anchor="t" lIns="45720" rIns="45720">
            <a:spAutoFit/>
          </a:bodyPr>
          <a:lstStyle/>
          <a:p>
            <a:pPr algn="l">
              <a:spcAft>
                <a:spcPts val="600"/>
              </a:spcAft>
            </a:pPr>
            <a:r>
              <a:rPr sz="1700" b="1">
                <a:solidFill>
                  <a:srgbClr val="FFFFFF"/>
                </a:solidFill>
                <a:latin typeface="Calibri"/>
              </a:rPr>
              <a:t>LightGBM</a:t>
            </a:r>
          </a:p>
        </p:txBody>
      </p:sp>
      <p:sp>
        <p:nvSpPr>
          <p:cNvPr id="21" name="TextBox 20"/>
          <p:cNvSpPr txBox="1"/>
          <p:nvPr/>
        </p:nvSpPr>
        <p:spPr>
          <a:xfrm>
            <a:off x="9729215" y="2167128"/>
            <a:ext cx="1737360" cy="1508760"/>
          </a:xfrm>
          <a:prstGeom prst="rect">
            <a:avLst/>
          </a:prstGeom>
          <a:noFill/>
        </p:spPr>
        <p:txBody>
          <a:bodyPr wrap="square" anchor="t" lIns="45720" rIns="45720">
            <a:spAutoFit/>
          </a:bodyPr>
          <a:lstStyle/>
          <a:p>
            <a:pPr algn="l">
              <a:spcAft>
                <a:spcPts val="600"/>
              </a:spcAft>
            </a:pPr>
            <a:r>
              <a:rPr sz="1500" b="0">
                <a:solidFill>
                  <a:srgbClr val="FFFFFF"/>
                </a:solidFill>
                <a:latin typeface="Calibri"/>
              </a:rPr>
              <a:t>boosted trees, leaf-wise</a:t>
            </a:r>
          </a:p>
        </p:txBody>
      </p:sp>
      <p:sp>
        <p:nvSpPr>
          <p:cNvPr id="22" name="Rounded Rectangle 21"/>
          <p:cNvSpPr/>
          <p:nvPr/>
        </p:nvSpPr>
        <p:spPr>
          <a:xfrm>
            <a:off x="548640" y="4114800"/>
            <a:ext cx="11064240" cy="160020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251960"/>
            <a:ext cx="10607040" cy="457200"/>
          </a:xfrm>
          <a:prstGeom prst="rect">
            <a:avLst/>
          </a:prstGeom>
          <a:noFill/>
        </p:spPr>
        <p:txBody>
          <a:bodyPr wrap="square" anchor="t" lIns="45720" rIns="45720">
            <a:spAutoFit/>
          </a:bodyPr>
          <a:lstStyle/>
          <a:p>
            <a:pPr algn="l">
              <a:spcAft>
                <a:spcPts val="600"/>
              </a:spcAft>
            </a:pPr>
            <a:r>
              <a:rPr sz="1800" b="1">
                <a:solidFill>
                  <a:srgbClr val="0B0B0B"/>
                </a:solidFill>
                <a:latin typeface="Calibri"/>
              </a:rPr>
              <a:t>Tuning, inside spatial CV</a:t>
            </a:r>
          </a:p>
        </p:txBody>
      </p:sp>
      <p:sp>
        <p:nvSpPr>
          <p:cNvPr id="24" name="TextBox 23"/>
          <p:cNvSpPr txBox="1"/>
          <p:nvPr/>
        </p:nvSpPr>
        <p:spPr>
          <a:xfrm>
            <a:off x="777240" y="4754880"/>
            <a:ext cx="10607040" cy="822960"/>
          </a:xfrm>
          <a:prstGeom prst="rect">
            <a:avLst/>
          </a:prstGeom>
          <a:noFill/>
        </p:spPr>
        <p:txBody>
          <a:bodyPr wrap="square" anchor="t" lIns="45720" rIns="45720">
            <a:spAutoFit/>
          </a:bodyPr>
          <a:lstStyle/>
          <a:p>
            <a:pPr algn="l">
              <a:spcAft>
                <a:spcPts val="600"/>
              </a:spcAft>
            </a:pPr>
            <a:r>
              <a:rPr sz="1700" b="0">
                <a:solidFill>
                  <a:srgbClr val="52514E"/>
                </a:solidFill>
                <a:latin typeface="Calibri"/>
              </a:rPr>
              <a:t>Randomised search · 25 candidates per model · 4 km spatial folds · 2023 and 2024 only · 60,000-row sample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66928"/>
            <a:ext cx="11064240" cy="685800"/>
          </a:xfrm>
          <a:prstGeom prst="rect">
            <a:avLst/>
          </a:prstGeom>
          <a:noFill/>
        </p:spPr>
        <p:txBody>
          <a:bodyPr wrap="square" anchor="t" lIns="45720" rIns="45720">
            <a:spAutoFit/>
          </a:bodyPr>
          <a:lstStyle/>
          <a:p>
            <a:pPr algn="l">
              <a:spcAft>
                <a:spcPts val="600"/>
              </a:spcAft>
            </a:pPr>
            <a:r>
              <a:rPr sz="3000" b="1">
                <a:solidFill>
                  <a:srgbClr val="0B0B0B"/>
                </a:solidFill>
                <a:latin typeface="Calibri"/>
              </a:rPr>
              <a:t>Random cross-validation flatters flexible models</a:t>
            </a:r>
          </a:p>
        </p:txBody>
      </p:sp>
      <p:sp>
        <p:nvSpPr>
          <p:cNvPr id="3" name="TextBox 2"/>
          <p:cNvSpPr txBox="1"/>
          <p:nvPr/>
        </p:nvSpPr>
        <p:spPr>
          <a:xfrm>
            <a:off x="566928" y="274320"/>
            <a:ext cx="7315200" cy="320040"/>
          </a:xfrm>
          <a:prstGeom prst="rect">
            <a:avLst/>
          </a:prstGeom>
          <a:noFill/>
        </p:spPr>
        <p:txBody>
          <a:bodyPr wrap="square" anchor="t" lIns="45720" rIns="45720">
            <a:spAutoFit/>
          </a:bodyPr>
          <a:lstStyle/>
          <a:p>
            <a:pPr algn="l">
              <a:spcAft>
                <a:spcPts val="600"/>
              </a:spcAft>
            </a:pPr>
            <a:r>
              <a:rPr sz="1200" b="1">
                <a:solidFill>
                  <a:srgbClr val="2A78D6"/>
                </a:solidFill>
                <a:latin typeface="Calibri"/>
              </a:rPr>
              <a:t>EVALUATION</a:t>
            </a:r>
          </a:p>
        </p:txBody>
      </p:sp>
      <p:cxnSp>
        <p:nvCxnSpPr>
          <p:cNvPr id="4" name="Connector 3"/>
          <p:cNvCxnSpPr/>
          <p:nvPr/>
        </p:nvCxnSpPr>
        <p:spPr>
          <a:xfrm>
            <a:off x="548640" y="6382512"/>
            <a:ext cx="11094415"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428232"/>
            <a:ext cx="5486400" cy="274320"/>
          </a:xfrm>
          <a:prstGeom prst="rect">
            <a:avLst/>
          </a:prstGeom>
          <a:noFill/>
        </p:spPr>
        <p:txBody>
          <a:bodyPr wrap="square" anchor="t" lIns="45720" rIns="45720">
            <a:spAutoFit/>
          </a:bodyPr>
          <a:lstStyle/>
          <a:p>
            <a:pPr algn="l">
              <a:spcAft>
                <a:spcPts val="600"/>
              </a:spcAft>
            </a:pPr>
            <a:r>
              <a:rPr sz="1000" b="0">
                <a:solidFill>
                  <a:srgbClr val="898781"/>
                </a:solidFill>
                <a:latin typeface="Calibri"/>
              </a:rPr>
              <a:t>MirageAI · Concrete vs. Canopy</a:t>
            </a:r>
          </a:p>
        </p:txBody>
      </p:sp>
      <p:sp>
        <p:nvSpPr>
          <p:cNvPr id="6" name="TextBox 5"/>
          <p:cNvSpPr txBox="1"/>
          <p:nvPr/>
        </p:nvSpPr>
        <p:spPr>
          <a:xfrm>
            <a:off x="10607040" y="6428232"/>
            <a:ext cx="1097280" cy="274320"/>
          </a:xfrm>
          <a:prstGeom prst="rect">
            <a:avLst/>
          </a:prstGeom>
          <a:noFill/>
        </p:spPr>
        <p:txBody>
          <a:bodyPr wrap="square" anchor="t" lIns="45720" rIns="45720">
            <a:spAutoFit/>
          </a:bodyPr>
          <a:lstStyle/>
          <a:p>
            <a:pPr algn="r">
              <a:spcAft>
                <a:spcPts val="600"/>
              </a:spcAft>
            </a:pPr>
            <a:r>
              <a:rPr sz="1000" b="0">
                <a:solidFill>
                  <a:srgbClr val="898781"/>
                </a:solidFill>
                <a:latin typeface="Calibri"/>
              </a:rPr>
              <a:t>10 / 19</a:t>
            </a:r>
          </a:p>
        </p:txBody>
      </p:sp>
      <p:pic>
        <p:nvPicPr>
          <p:cNvPr id="7" name="Picture 6" descr="05_cv_gap.png"/>
          <p:cNvPicPr>
            <a:picLocks noChangeAspect="1"/>
          </p:cNvPicPr>
          <p:nvPr/>
        </p:nvPicPr>
        <p:blipFill>
          <a:blip r:embed="rId3"/>
          <a:stretch>
            <a:fillRect/>
          </a:stretch>
        </p:blipFill>
        <p:spPr>
          <a:xfrm>
            <a:off x="1327088" y="1280160"/>
            <a:ext cx="9507342" cy="4297680"/>
          </a:xfrm>
          <a:prstGeom prst="rect">
            <a:avLst/>
          </a:prstGeom>
        </p:spPr>
      </p:pic>
      <p:sp>
        <p:nvSpPr>
          <p:cNvPr id="8" name="TextBox 7"/>
          <p:cNvSpPr txBox="1"/>
          <p:nvPr/>
        </p:nvSpPr>
        <p:spPr>
          <a:xfrm>
            <a:off x="548640" y="5669280"/>
            <a:ext cx="11155680" cy="548640"/>
          </a:xfrm>
          <a:prstGeom prst="rect">
            <a:avLst/>
          </a:prstGeom>
          <a:noFill/>
        </p:spPr>
        <p:txBody>
          <a:bodyPr wrap="square" anchor="t" lIns="45720" rIns="45720">
            <a:spAutoFit/>
          </a:bodyPr>
          <a:lstStyle/>
          <a:p>
            <a:pPr algn="ctr">
              <a:spcAft>
                <a:spcPts val="600"/>
              </a:spcAft>
            </a:pPr>
            <a:r>
              <a:rPr sz="1800" b="1">
                <a:solidFill>
                  <a:srgbClr val="0B0B0B"/>
                </a:solidFill>
                <a:latin typeface="Calibri"/>
              </a:rPr>
              <a:t>Random → 4 km blocks:  </a:t>
            </a:r>
            <a:r>
              <a:rPr sz="1800" b="0">
                <a:solidFill>
                  <a:srgbClr val="52514E"/>
                </a:solidFill>
                <a:latin typeface="Calibri"/>
              </a:rPr>
              <a:t>linear +0.02 °C,  trees +0.12–0.15 °C. Flexible models are flattered most.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66928"/>
            <a:ext cx="11064240" cy="685800"/>
          </a:xfrm>
          <a:prstGeom prst="rect">
            <a:avLst/>
          </a:prstGeom>
          <a:noFill/>
        </p:spPr>
        <p:txBody>
          <a:bodyPr wrap="square" anchor="t" lIns="45720" rIns="45720">
            <a:spAutoFit/>
          </a:bodyPr>
          <a:lstStyle/>
          <a:p>
            <a:pPr algn="l">
              <a:spcAft>
                <a:spcPts val="600"/>
              </a:spcAft>
            </a:pPr>
            <a:r>
              <a:rPr sz="3000" b="1">
                <a:solidFill>
                  <a:srgbClr val="0B0B0B"/>
                </a:solidFill>
                <a:latin typeface="Calibri"/>
              </a:rPr>
              <a:t>The three tree models tie once places are unseen</a:t>
            </a:r>
          </a:p>
        </p:txBody>
      </p:sp>
      <p:sp>
        <p:nvSpPr>
          <p:cNvPr id="3" name="TextBox 2"/>
          <p:cNvSpPr txBox="1"/>
          <p:nvPr/>
        </p:nvSpPr>
        <p:spPr>
          <a:xfrm>
            <a:off x="566928" y="274320"/>
            <a:ext cx="7315200" cy="320040"/>
          </a:xfrm>
          <a:prstGeom prst="rect">
            <a:avLst/>
          </a:prstGeom>
          <a:noFill/>
        </p:spPr>
        <p:txBody>
          <a:bodyPr wrap="square" anchor="t" lIns="45720" rIns="45720">
            <a:spAutoFit/>
          </a:bodyPr>
          <a:lstStyle/>
          <a:p>
            <a:pPr algn="l">
              <a:spcAft>
                <a:spcPts val="600"/>
              </a:spcAft>
            </a:pPr>
            <a:r>
              <a:rPr sz="1200" b="1">
                <a:solidFill>
                  <a:srgbClr val="2A78D6"/>
                </a:solidFill>
                <a:latin typeface="Calibri"/>
              </a:rPr>
              <a:t>RESULTS · ACCURACY</a:t>
            </a:r>
          </a:p>
        </p:txBody>
      </p:sp>
      <p:cxnSp>
        <p:nvCxnSpPr>
          <p:cNvPr id="4" name="Connector 3"/>
          <p:cNvCxnSpPr/>
          <p:nvPr/>
        </p:nvCxnSpPr>
        <p:spPr>
          <a:xfrm>
            <a:off x="548640" y="6382512"/>
            <a:ext cx="11094415"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428232"/>
            <a:ext cx="5486400" cy="274320"/>
          </a:xfrm>
          <a:prstGeom prst="rect">
            <a:avLst/>
          </a:prstGeom>
          <a:noFill/>
        </p:spPr>
        <p:txBody>
          <a:bodyPr wrap="square" anchor="t" lIns="45720" rIns="45720">
            <a:spAutoFit/>
          </a:bodyPr>
          <a:lstStyle/>
          <a:p>
            <a:pPr algn="l">
              <a:spcAft>
                <a:spcPts val="600"/>
              </a:spcAft>
            </a:pPr>
            <a:r>
              <a:rPr sz="1000" b="0">
                <a:solidFill>
                  <a:srgbClr val="898781"/>
                </a:solidFill>
                <a:latin typeface="Calibri"/>
              </a:rPr>
              <a:t>MirageAI · Concrete vs. Canopy</a:t>
            </a:r>
          </a:p>
        </p:txBody>
      </p:sp>
      <p:sp>
        <p:nvSpPr>
          <p:cNvPr id="6" name="TextBox 5"/>
          <p:cNvSpPr txBox="1"/>
          <p:nvPr/>
        </p:nvSpPr>
        <p:spPr>
          <a:xfrm>
            <a:off x="10607040" y="6428232"/>
            <a:ext cx="1097280" cy="274320"/>
          </a:xfrm>
          <a:prstGeom prst="rect">
            <a:avLst/>
          </a:prstGeom>
          <a:noFill/>
        </p:spPr>
        <p:txBody>
          <a:bodyPr wrap="square" anchor="t" lIns="45720" rIns="45720">
            <a:spAutoFit/>
          </a:bodyPr>
          <a:lstStyle/>
          <a:p>
            <a:pPr algn="r">
              <a:spcAft>
                <a:spcPts val="600"/>
              </a:spcAft>
            </a:pPr>
            <a:r>
              <a:rPr sz="1000" b="0">
                <a:solidFill>
                  <a:srgbClr val="898781"/>
                </a:solidFill>
                <a:latin typeface="Calibri"/>
              </a:rPr>
              <a:t>11 / 19</a:t>
            </a:r>
          </a:p>
        </p:txBody>
      </p:sp>
      <p:graphicFrame>
        <p:nvGraphicFramePr>
          <p:cNvPr id="7" name="Table 6"/>
          <p:cNvGraphicFramePr>
            <a:graphicFrameLocks noGrp="1"/>
          </p:cNvGraphicFramePr>
          <p:nvPr/>
        </p:nvGraphicFramePr>
        <p:xfrm>
          <a:off x="548640" y="1554480"/>
          <a:ext cx="7498080" cy="3108960"/>
        </p:xfrm>
        <a:graphic>
          <a:graphicData uri="http://schemas.openxmlformats.org/drawingml/2006/table">
            <a:tbl>
              <a:tblPr firstRow="1" bandRow="1">
                <a:tableStyleId>{5C22544A-7EE6-4342-B048-85BDC9FD1C3A}</a:tableStyleId>
              </a:tblPr>
              <a:tblGrid>
                <a:gridCol w="1828800"/>
                <a:gridCol w="1325880"/>
                <a:gridCol w="1417320"/>
                <a:gridCol w="1417320"/>
                <a:gridCol w="1508760"/>
              </a:tblGrid>
              <a:tr h="621792">
                <a:tc>
                  <a:txBody>
                    <a:bodyPr/>
                    <a:lstStyle/>
                    <a:p>
                      <a:pPr algn="l"/>
                      <a:r>
                        <a:rPr sz="1500" b="1">
                          <a:solidFill>
                            <a:srgbClr val="FFFFFF"/>
                          </a:solidFill>
                          <a:latin typeface="Calibri"/>
                        </a:rPr>
                        <a:t>RMSE, °C</a:t>
                      </a:r>
                    </a:p>
                  </a:txBody>
                  <a:tcPr anchor="ctr">
                    <a:solidFill>
                      <a:srgbClr val="2A78D6"/>
                    </a:solidFill>
                  </a:tcPr>
                </a:tc>
                <a:tc>
                  <a:txBody>
                    <a:bodyPr/>
                    <a:lstStyle/>
                    <a:p>
                      <a:pPr algn="ctr"/>
                      <a:r>
                        <a:rPr sz="1500" b="1">
                          <a:solidFill>
                            <a:srgbClr val="FFFFFF"/>
                          </a:solidFill>
                          <a:latin typeface="Calibri"/>
                        </a:rPr>
                        <a:t>Random CV</a:t>
                      </a:r>
                    </a:p>
                  </a:txBody>
                  <a:tcPr anchor="ctr">
                    <a:solidFill>
                      <a:srgbClr val="2A78D6"/>
                    </a:solidFill>
                  </a:tcPr>
                </a:tc>
                <a:tc>
                  <a:txBody>
                    <a:bodyPr/>
                    <a:lstStyle/>
                    <a:p>
                      <a:pPr algn="ctr"/>
                      <a:r>
                        <a:rPr sz="1500" b="1">
                          <a:solidFill>
                            <a:srgbClr val="FFFFFF"/>
                          </a:solidFill>
                          <a:latin typeface="Calibri"/>
                        </a:rPr>
                        <a:t>4 km blocks</a:t>
                      </a:r>
                    </a:p>
                  </a:txBody>
                  <a:tcPr anchor="ctr">
                    <a:solidFill>
                      <a:srgbClr val="2A78D6"/>
                    </a:solidFill>
                  </a:tcPr>
                </a:tc>
                <a:tc>
                  <a:txBody>
                    <a:bodyPr/>
                    <a:lstStyle/>
                    <a:p>
                      <a:pPr algn="ctr"/>
                      <a:r>
                        <a:rPr sz="1500" b="1">
                          <a:solidFill>
                            <a:srgbClr val="FFFFFF"/>
                          </a:solidFill>
                          <a:latin typeface="Calibri"/>
                        </a:rPr>
                        <a:t>2025 unseen</a:t>
                      </a:r>
                    </a:p>
                  </a:txBody>
                  <a:tcPr anchor="ctr">
                    <a:solidFill>
                      <a:srgbClr val="2A78D6"/>
                    </a:solidFill>
                  </a:tcPr>
                </a:tc>
                <a:tc>
                  <a:txBody>
                    <a:bodyPr/>
                    <a:lstStyle/>
                    <a:p>
                      <a:pPr algn="ctr"/>
                      <a:r>
                        <a:rPr sz="1500" b="1">
                          <a:solidFill>
                            <a:srgbClr val="FFFFFF"/>
                          </a:solidFill>
                          <a:latin typeface="Calibri"/>
                        </a:rPr>
                        <a:t>2025 seen place</a:t>
                      </a:r>
                    </a:p>
                  </a:txBody>
                  <a:tcPr anchor="ctr">
                    <a:solidFill>
                      <a:srgbClr val="2A78D6"/>
                    </a:solidFill>
                  </a:tcPr>
                </a:tc>
              </a:tr>
              <a:tr h="621792">
                <a:tc>
                  <a:txBody>
                    <a:bodyPr/>
                    <a:lstStyle/>
                    <a:p>
                      <a:pPr algn="l"/>
                      <a:r>
                        <a:rPr sz="1700" b="1">
                          <a:solidFill>
                            <a:srgbClr val="0B0B0B"/>
                          </a:solidFill>
                          <a:latin typeface="Calibri"/>
                        </a:rPr>
                        <a:t>Linear</a:t>
                      </a:r>
                    </a:p>
                  </a:txBody>
                  <a:tcPr anchor="ctr">
                    <a:solidFill>
                      <a:srgbClr val="EEF4FC"/>
                    </a:solidFill>
                  </a:tcPr>
                </a:tc>
                <a:tc>
                  <a:txBody>
                    <a:bodyPr/>
                    <a:lstStyle/>
                    <a:p>
                      <a:pPr algn="ctr"/>
                      <a:r>
                        <a:rPr sz="1700" b="0">
                          <a:solidFill>
                            <a:srgbClr val="0B0B0B"/>
                          </a:solidFill>
                          <a:latin typeface="Calibri"/>
                        </a:rPr>
                        <a:t>1.85</a:t>
                      </a:r>
                    </a:p>
                  </a:txBody>
                  <a:tcPr anchor="ctr">
                    <a:solidFill>
                      <a:srgbClr val="EEF4FC"/>
                    </a:solidFill>
                  </a:tcPr>
                </a:tc>
                <a:tc>
                  <a:txBody>
                    <a:bodyPr/>
                    <a:lstStyle/>
                    <a:p>
                      <a:pPr algn="ctr"/>
                      <a:r>
                        <a:rPr sz="1700" b="0">
                          <a:solidFill>
                            <a:srgbClr val="0B0B0B"/>
                          </a:solidFill>
                          <a:latin typeface="Calibri"/>
                        </a:rPr>
                        <a:t>1.87</a:t>
                      </a:r>
                    </a:p>
                  </a:txBody>
                  <a:tcPr anchor="ctr">
                    <a:solidFill>
                      <a:srgbClr val="EEF4FC"/>
                    </a:solidFill>
                  </a:tcPr>
                </a:tc>
                <a:tc>
                  <a:txBody>
                    <a:bodyPr/>
                    <a:lstStyle/>
                    <a:p>
                      <a:pPr algn="ctr"/>
                      <a:r>
                        <a:rPr sz="1700" b="0">
                          <a:solidFill>
                            <a:srgbClr val="0B0B0B"/>
                          </a:solidFill>
                          <a:latin typeface="Calibri"/>
                        </a:rPr>
                        <a:t>1.90</a:t>
                      </a:r>
                    </a:p>
                  </a:txBody>
                  <a:tcPr anchor="ctr">
                    <a:solidFill>
                      <a:srgbClr val="EEF4FC"/>
                    </a:solidFill>
                  </a:tcPr>
                </a:tc>
                <a:tc>
                  <a:txBody>
                    <a:bodyPr/>
                    <a:lstStyle/>
                    <a:p>
                      <a:pPr algn="ctr"/>
                      <a:r>
                        <a:rPr sz="1700" b="0">
                          <a:solidFill>
                            <a:srgbClr val="0B0B0B"/>
                          </a:solidFill>
                          <a:latin typeface="Calibri"/>
                        </a:rPr>
                        <a:t>1.88</a:t>
                      </a:r>
                    </a:p>
                  </a:txBody>
                  <a:tcPr anchor="ctr">
                    <a:solidFill>
                      <a:srgbClr val="EEF4FC"/>
                    </a:solidFill>
                  </a:tcPr>
                </a:tc>
              </a:tr>
              <a:tr h="621792">
                <a:tc>
                  <a:txBody>
                    <a:bodyPr/>
                    <a:lstStyle/>
                    <a:p>
                      <a:pPr algn="l"/>
                      <a:r>
                        <a:rPr sz="1700" b="1">
                          <a:solidFill>
                            <a:srgbClr val="0B0B0B"/>
                          </a:solidFill>
                          <a:latin typeface="Calibri"/>
                        </a:rPr>
                        <a:t>Random Forest</a:t>
                      </a:r>
                    </a:p>
                  </a:txBody>
                  <a:tcPr anchor="ctr">
                    <a:solidFill>
                      <a:srgbClr val="FFFFFF"/>
                    </a:solidFill>
                  </a:tcPr>
                </a:tc>
                <a:tc>
                  <a:txBody>
                    <a:bodyPr/>
                    <a:lstStyle/>
                    <a:p>
                      <a:pPr algn="ctr"/>
                      <a:r>
                        <a:rPr sz="1700" b="0">
                          <a:solidFill>
                            <a:srgbClr val="0B0B0B"/>
                          </a:solidFill>
                          <a:latin typeface="Calibri"/>
                        </a:rPr>
                        <a:t>1.64</a:t>
                      </a:r>
                    </a:p>
                  </a:txBody>
                  <a:tcPr anchor="ctr">
                    <a:solidFill>
                      <a:srgbClr val="FFFFFF"/>
                    </a:solidFill>
                  </a:tcPr>
                </a:tc>
                <a:tc>
                  <a:txBody>
                    <a:bodyPr/>
                    <a:lstStyle/>
                    <a:p>
                      <a:pPr algn="ctr"/>
                      <a:r>
                        <a:rPr sz="1700" b="0">
                          <a:solidFill>
                            <a:srgbClr val="0B0B0B"/>
                          </a:solidFill>
                          <a:latin typeface="Calibri"/>
                        </a:rPr>
                        <a:t>1.76</a:t>
                      </a:r>
                    </a:p>
                  </a:txBody>
                  <a:tcPr anchor="ctr">
                    <a:solidFill>
                      <a:srgbClr val="FFFFFF"/>
                    </a:solidFill>
                  </a:tcPr>
                </a:tc>
                <a:tc>
                  <a:txBody>
                    <a:bodyPr/>
                    <a:lstStyle/>
                    <a:p>
                      <a:pPr algn="ctr"/>
                      <a:r>
                        <a:rPr sz="1700" b="0">
                          <a:solidFill>
                            <a:srgbClr val="0B0B0B"/>
                          </a:solidFill>
                          <a:latin typeface="Calibri"/>
                        </a:rPr>
                        <a:t>1.75</a:t>
                      </a:r>
                    </a:p>
                  </a:txBody>
                  <a:tcPr anchor="ctr">
                    <a:solidFill>
                      <a:srgbClr val="FFFFFF"/>
                    </a:solidFill>
                  </a:tcPr>
                </a:tc>
                <a:tc>
                  <a:txBody>
                    <a:bodyPr/>
                    <a:lstStyle/>
                    <a:p>
                      <a:pPr algn="ctr"/>
                      <a:r>
                        <a:rPr sz="1700" b="0">
                          <a:solidFill>
                            <a:srgbClr val="0B0B0B"/>
                          </a:solidFill>
                          <a:latin typeface="Calibri"/>
                        </a:rPr>
                        <a:t>1.52</a:t>
                      </a:r>
                    </a:p>
                  </a:txBody>
                  <a:tcPr anchor="ctr">
                    <a:solidFill>
                      <a:srgbClr val="FFFFFF"/>
                    </a:solidFill>
                  </a:tcPr>
                </a:tc>
              </a:tr>
              <a:tr h="621792">
                <a:tc>
                  <a:txBody>
                    <a:bodyPr/>
                    <a:lstStyle/>
                    <a:p>
                      <a:pPr algn="l"/>
                      <a:r>
                        <a:rPr sz="1700" b="1">
                          <a:solidFill>
                            <a:srgbClr val="0B0B0B"/>
                          </a:solidFill>
                          <a:latin typeface="Calibri"/>
                        </a:rPr>
                        <a:t>XGBoost</a:t>
                      </a:r>
                    </a:p>
                  </a:txBody>
                  <a:tcPr anchor="ctr">
                    <a:solidFill>
                      <a:srgbClr val="EEF4FC"/>
                    </a:solidFill>
                  </a:tcPr>
                </a:tc>
                <a:tc>
                  <a:txBody>
                    <a:bodyPr/>
                    <a:lstStyle/>
                    <a:p>
                      <a:pPr algn="ctr"/>
                      <a:r>
                        <a:rPr sz="1700" b="0">
                          <a:solidFill>
                            <a:srgbClr val="0B0B0B"/>
                          </a:solidFill>
                          <a:latin typeface="Calibri"/>
                        </a:rPr>
                        <a:t>1.59</a:t>
                      </a:r>
                    </a:p>
                  </a:txBody>
                  <a:tcPr anchor="ctr">
                    <a:solidFill>
                      <a:srgbClr val="EEF4FC"/>
                    </a:solidFill>
                  </a:tcPr>
                </a:tc>
                <a:tc>
                  <a:txBody>
                    <a:bodyPr/>
                    <a:lstStyle/>
                    <a:p>
                      <a:pPr algn="ctr"/>
                      <a:r>
                        <a:rPr sz="1700" b="0">
                          <a:solidFill>
                            <a:srgbClr val="0B0B0B"/>
                          </a:solidFill>
                          <a:latin typeface="Calibri"/>
                        </a:rPr>
                        <a:t>1.75</a:t>
                      </a:r>
                    </a:p>
                  </a:txBody>
                  <a:tcPr anchor="ctr">
                    <a:solidFill>
                      <a:srgbClr val="EEF4FC"/>
                    </a:solidFill>
                  </a:tcPr>
                </a:tc>
                <a:tc>
                  <a:txBody>
                    <a:bodyPr/>
                    <a:lstStyle/>
                    <a:p>
                      <a:pPr algn="ctr"/>
                      <a:r>
                        <a:rPr sz="1700" b="0">
                          <a:solidFill>
                            <a:srgbClr val="0B0B0B"/>
                          </a:solidFill>
                          <a:latin typeface="Calibri"/>
                        </a:rPr>
                        <a:t>1.75</a:t>
                      </a:r>
                    </a:p>
                  </a:txBody>
                  <a:tcPr anchor="ctr">
                    <a:solidFill>
                      <a:srgbClr val="EEF4FC"/>
                    </a:solidFill>
                  </a:tcPr>
                </a:tc>
                <a:tc>
                  <a:txBody>
                    <a:bodyPr/>
                    <a:lstStyle/>
                    <a:p>
                      <a:pPr algn="ctr"/>
                      <a:r>
                        <a:rPr sz="1700" b="0">
                          <a:solidFill>
                            <a:srgbClr val="0B0B0B"/>
                          </a:solidFill>
                          <a:latin typeface="Calibri"/>
                        </a:rPr>
                        <a:t>1.56</a:t>
                      </a:r>
                    </a:p>
                  </a:txBody>
                  <a:tcPr anchor="ctr">
                    <a:solidFill>
                      <a:srgbClr val="EEF4FC"/>
                    </a:solidFill>
                  </a:tcPr>
                </a:tc>
              </a:tr>
              <a:tr h="621792">
                <a:tc>
                  <a:txBody>
                    <a:bodyPr/>
                    <a:lstStyle/>
                    <a:p>
                      <a:pPr algn="l"/>
                      <a:r>
                        <a:rPr sz="1700" b="1">
                          <a:solidFill>
                            <a:srgbClr val="0B0B0B"/>
                          </a:solidFill>
                          <a:latin typeface="Calibri"/>
                        </a:rPr>
                        <a:t>LightGBM</a:t>
                      </a:r>
                    </a:p>
                  </a:txBody>
                  <a:tcPr anchor="ctr">
                    <a:solidFill>
                      <a:srgbClr val="FFFFFF"/>
                    </a:solidFill>
                  </a:tcPr>
                </a:tc>
                <a:tc>
                  <a:txBody>
                    <a:bodyPr/>
                    <a:lstStyle/>
                    <a:p>
                      <a:pPr algn="ctr"/>
                      <a:r>
                        <a:rPr sz="1700" b="0">
                          <a:solidFill>
                            <a:srgbClr val="0B0B0B"/>
                          </a:solidFill>
                          <a:latin typeface="Calibri"/>
                        </a:rPr>
                        <a:t>1.62</a:t>
                      </a:r>
                    </a:p>
                  </a:txBody>
                  <a:tcPr anchor="ctr">
                    <a:solidFill>
                      <a:srgbClr val="FFFFFF"/>
                    </a:solidFill>
                  </a:tcPr>
                </a:tc>
                <a:tc>
                  <a:txBody>
                    <a:bodyPr/>
                    <a:lstStyle/>
                    <a:p>
                      <a:pPr algn="ctr"/>
                      <a:r>
                        <a:rPr sz="1700" b="0">
                          <a:solidFill>
                            <a:srgbClr val="0B0B0B"/>
                          </a:solidFill>
                          <a:latin typeface="Calibri"/>
                        </a:rPr>
                        <a:t>1.75</a:t>
                      </a:r>
                    </a:p>
                  </a:txBody>
                  <a:tcPr anchor="ctr">
                    <a:solidFill>
                      <a:srgbClr val="FFFFFF"/>
                    </a:solidFill>
                  </a:tcPr>
                </a:tc>
                <a:tc>
                  <a:txBody>
                    <a:bodyPr/>
                    <a:lstStyle/>
                    <a:p>
                      <a:pPr algn="ctr"/>
                      <a:r>
                        <a:rPr sz="1700" b="0">
                          <a:solidFill>
                            <a:srgbClr val="0B0B0B"/>
                          </a:solidFill>
                          <a:latin typeface="Calibri"/>
                        </a:rPr>
                        <a:t>1.75</a:t>
                      </a:r>
                    </a:p>
                  </a:txBody>
                  <a:tcPr anchor="ctr">
                    <a:solidFill>
                      <a:srgbClr val="FFFFFF"/>
                    </a:solidFill>
                  </a:tcPr>
                </a:tc>
                <a:tc>
                  <a:txBody>
                    <a:bodyPr/>
                    <a:lstStyle/>
                    <a:p>
                      <a:pPr algn="ctr"/>
                      <a:r>
                        <a:rPr sz="1700" b="0">
                          <a:solidFill>
                            <a:srgbClr val="0B0B0B"/>
                          </a:solidFill>
                          <a:latin typeface="Calibri"/>
                        </a:rPr>
                        <a:t>1.60</a:t>
                      </a:r>
                    </a:p>
                  </a:txBody>
                  <a:tcPr anchor="ctr">
                    <a:solidFill>
                      <a:srgbClr val="FFFFFF"/>
                    </a:solidFill>
                  </a:tcPr>
                </a:tc>
              </a:tr>
            </a:tbl>
          </a:graphicData>
        </a:graphic>
      </p:graphicFrame>
      <p:sp>
        <p:nvSpPr>
          <p:cNvPr id="8" name="TextBox 7"/>
          <p:cNvSpPr txBox="1"/>
          <p:nvPr/>
        </p:nvSpPr>
        <p:spPr>
          <a:xfrm>
            <a:off x="8503920" y="1463040"/>
            <a:ext cx="3291840" cy="476250"/>
          </a:xfrm>
          <a:prstGeom prst="rect">
            <a:avLst/>
          </a:prstGeom>
          <a:noFill/>
        </p:spPr>
        <p:txBody>
          <a:bodyPr wrap="square" anchor="t" lIns="45720" rIns="45720">
            <a:spAutoFit/>
          </a:bodyPr>
          <a:lstStyle/>
          <a:p>
            <a:pPr algn="l">
              <a:spcAft>
                <a:spcPts val="600"/>
              </a:spcAft>
            </a:pPr>
            <a:r>
              <a:rPr sz="3000" b="1">
                <a:solidFill>
                  <a:srgbClr val="2A78D6"/>
                </a:solidFill>
                <a:latin typeface="Calibri"/>
              </a:rPr>
              <a:t>1.75–1.76 °C</a:t>
            </a:r>
          </a:p>
        </p:txBody>
      </p:sp>
      <p:sp>
        <p:nvSpPr>
          <p:cNvPr id="9" name="TextBox 8"/>
          <p:cNvSpPr txBox="1"/>
          <p:nvPr/>
        </p:nvSpPr>
        <p:spPr>
          <a:xfrm>
            <a:off x="8503920" y="1939290"/>
            <a:ext cx="3291840" cy="822960"/>
          </a:xfrm>
          <a:prstGeom prst="rect">
            <a:avLst/>
          </a:prstGeom>
          <a:noFill/>
        </p:spPr>
        <p:txBody>
          <a:bodyPr wrap="square" anchor="t" lIns="45720" rIns="45720">
            <a:spAutoFit/>
          </a:bodyPr>
          <a:lstStyle/>
          <a:p>
            <a:pPr algn="l">
              <a:spcAft>
                <a:spcPts val="600"/>
              </a:spcAft>
            </a:pPr>
            <a:r>
              <a:rPr sz="1500" b="0">
                <a:solidFill>
                  <a:srgbClr val="52514E"/>
                </a:solidFill>
                <a:latin typeface="Calibri"/>
              </a:rPr>
              <a:t>trees tied, 4 km blocks</a:t>
            </a:r>
          </a:p>
        </p:txBody>
      </p:sp>
      <p:sp>
        <p:nvSpPr>
          <p:cNvPr id="10" name="TextBox 9"/>
          <p:cNvSpPr txBox="1"/>
          <p:nvPr/>
        </p:nvSpPr>
        <p:spPr>
          <a:xfrm>
            <a:off x="8503920" y="2926080"/>
            <a:ext cx="3291840" cy="476250"/>
          </a:xfrm>
          <a:prstGeom prst="rect">
            <a:avLst/>
          </a:prstGeom>
          <a:noFill/>
        </p:spPr>
        <p:txBody>
          <a:bodyPr wrap="square" anchor="t" lIns="45720" rIns="45720">
            <a:spAutoFit/>
          </a:bodyPr>
          <a:lstStyle/>
          <a:p>
            <a:pPr algn="l">
              <a:spcAft>
                <a:spcPts val="600"/>
              </a:spcAft>
            </a:pPr>
            <a:r>
              <a:rPr sz="3000" b="1">
                <a:solidFill>
                  <a:srgbClr val="2A78D6"/>
                </a:solidFill>
                <a:latin typeface="Calibri"/>
              </a:rPr>
              <a:t>R² 0.72</a:t>
            </a:r>
          </a:p>
        </p:txBody>
      </p:sp>
      <p:sp>
        <p:nvSpPr>
          <p:cNvPr id="11" name="TextBox 10"/>
          <p:cNvSpPr txBox="1"/>
          <p:nvPr/>
        </p:nvSpPr>
        <p:spPr>
          <a:xfrm>
            <a:off x="8503920" y="3402330"/>
            <a:ext cx="3291840" cy="822960"/>
          </a:xfrm>
          <a:prstGeom prst="rect">
            <a:avLst/>
          </a:prstGeom>
          <a:noFill/>
        </p:spPr>
        <p:txBody>
          <a:bodyPr wrap="square" anchor="t" lIns="45720" rIns="45720">
            <a:spAutoFit/>
          </a:bodyPr>
          <a:lstStyle/>
          <a:p>
            <a:pPr algn="l">
              <a:spcAft>
                <a:spcPts val="600"/>
              </a:spcAft>
            </a:pPr>
            <a:r>
              <a:rPr sz="1500" b="0">
                <a:solidFill>
                  <a:srgbClr val="52514E"/>
                </a:solidFill>
                <a:latin typeface="Calibri"/>
              </a:rPr>
              <a:t>2025, unseen places</a:t>
            </a:r>
          </a:p>
        </p:txBody>
      </p:sp>
      <p:sp>
        <p:nvSpPr>
          <p:cNvPr id="12" name="TextBox 11"/>
          <p:cNvSpPr txBox="1"/>
          <p:nvPr/>
        </p:nvSpPr>
        <p:spPr>
          <a:xfrm>
            <a:off x="8503920" y="4389120"/>
            <a:ext cx="3291840" cy="476250"/>
          </a:xfrm>
          <a:prstGeom prst="rect">
            <a:avLst/>
          </a:prstGeom>
          <a:noFill/>
        </p:spPr>
        <p:txBody>
          <a:bodyPr wrap="square" anchor="t" lIns="45720" rIns="45720">
            <a:spAutoFit/>
          </a:bodyPr>
          <a:lstStyle/>
          <a:p>
            <a:pPr algn="l">
              <a:spcAft>
                <a:spcPts val="600"/>
              </a:spcAft>
            </a:pPr>
            <a:r>
              <a:rPr sz="3000" b="1">
                <a:solidFill>
                  <a:srgbClr val="2A78D6"/>
                </a:solidFill>
                <a:latin typeface="Calibri"/>
              </a:rPr>
              <a:t>0.15–0.23 °C</a:t>
            </a:r>
          </a:p>
        </p:txBody>
      </p:sp>
      <p:sp>
        <p:nvSpPr>
          <p:cNvPr id="13" name="TextBox 12"/>
          <p:cNvSpPr txBox="1"/>
          <p:nvPr/>
        </p:nvSpPr>
        <p:spPr>
          <a:xfrm>
            <a:off x="8503920" y="4865370"/>
            <a:ext cx="3291840" cy="822960"/>
          </a:xfrm>
          <a:prstGeom prst="rect">
            <a:avLst/>
          </a:prstGeom>
          <a:noFill/>
        </p:spPr>
        <p:txBody>
          <a:bodyPr wrap="square" anchor="t" lIns="45720" rIns="45720">
            <a:spAutoFit/>
          </a:bodyPr>
          <a:lstStyle/>
          <a:p>
            <a:pPr algn="l">
              <a:spcAft>
                <a:spcPts val="600"/>
              </a:spcAft>
            </a:pPr>
            <a:r>
              <a:rPr sz="1500" b="0">
                <a:solidFill>
                  <a:srgbClr val="52514E"/>
                </a:solidFill>
                <a:latin typeface="Calibri"/>
              </a:rPr>
              <a:t>memorisation gap, trees (linear 0.02)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66928"/>
            <a:ext cx="11064240" cy="685800"/>
          </a:xfrm>
          <a:prstGeom prst="rect">
            <a:avLst/>
          </a:prstGeom>
          <a:noFill/>
        </p:spPr>
        <p:txBody>
          <a:bodyPr wrap="square" anchor="t" lIns="45720" rIns="45720">
            <a:spAutoFit/>
          </a:bodyPr>
          <a:lstStyle/>
          <a:p>
            <a:pPr algn="l">
              <a:spcAft>
                <a:spcPts val="600"/>
              </a:spcAft>
            </a:pPr>
            <a:r>
              <a:rPr sz="3000" b="1">
                <a:solidFill>
                  <a:srgbClr val="0B0B0B"/>
                </a:solidFill>
                <a:latin typeface="Calibri"/>
              </a:rPr>
              <a:t>Vegetation, dryness and moisture lead</a:t>
            </a:r>
          </a:p>
        </p:txBody>
      </p:sp>
      <p:sp>
        <p:nvSpPr>
          <p:cNvPr id="3" name="TextBox 2"/>
          <p:cNvSpPr txBox="1"/>
          <p:nvPr/>
        </p:nvSpPr>
        <p:spPr>
          <a:xfrm>
            <a:off x="566928" y="274320"/>
            <a:ext cx="7315200" cy="320040"/>
          </a:xfrm>
          <a:prstGeom prst="rect">
            <a:avLst/>
          </a:prstGeom>
          <a:noFill/>
        </p:spPr>
        <p:txBody>
          <a:bodyPr wrap="square" anchor="t" lIns="45720" rIns="45720">
            <a:spAutoFit/>
          </a:bodyPr>
          <a:lstStyle/>
          <a:p>
            <a:pPr algn="l">
              <a:spcAft>
                <a:spcPts val="600"/>
              </a:spcAft>
            </a:pPr>
            <a:r>
              <a:rPr sz="1200" b="1">
                <a:solidFill>
                  <a:srgbClr val="2A78D6"/>
                </a:solidFill>
                <a:latin typeface="Calibri"/>
              </a:rPr>
              <a:t>RESULTS · DRIVERS</a:t>
            </a:r>
          </a:p>
        </p:txBody>
      </p:sp>
      <p:cxnSp>
        <p:nvCxnSpPr>
          <p:cNvPr id="4" name="Connector 3"/>
          <p:cNvCxnSpPr/>
          <p:nvPr/>
        </p:nvCxnSpPr>
        <p:spPr>
          <a:xfrm>
            <a:off x="548640" y="6382512"/>
            <a:ext cx="11094415"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428232"/>
            <a:ext cx="5486400" cy="274320"/>
          </a:xfrm>
          <a:prstGeom prst="rect">
            <a:avLst/>
          </a:prstGeom>
          <a:noFill/>
        </p:spPr>
        <p:txBody>
          <a:bodyPr wrap="square" anchor="t" lIns="45720" rIns="45720">
            <a:spAutoFit/>
          </a:bodyPr>
          <a:lstStyle/>
          <a:p>
            <a:pPr algn="l">
              <a:spcAft>
                <a:spcPts val="600"/>
              </a:spcAft>
            </a:pPr>
            <a:r>
              <a:rPr sz="1000" b="0">
                <a:solidFill>
                  <a:srgbClr val="898781"/>
                </a:solidFill>
                <a:latin typeface="Calibri"/>
              </a:rPr>
              <a:t>MirageAI · Concrete vs. Canopy</a:t>
            </a:r>
          </a:p>
        </p:txBody>
      </p:sp>
      <p:sp>
        <p:nvSpPr>
          <p:cNvPr id="6" name="TextBox 5"/>
          <p:cNvSpPr txBox="1"/>
          <p:nvPr/>
        </p:nvSpPr>
        <p:spPr>
          <a:xfrm>
            <a:off x="10607040" y="6428232"/>
            <a:ext cx="1097280" cy="274320"/>
          </a:xfrm>
          <a:prstGeom prst="rect">
            <a:avLst/>
          </a:prstGeom>
          <a:noFill/>
        </p:spPr>
        <p:txBody>
          <a:bodyPr wrap="square" anchor="t" lIns="45720" rIns="45720">
            <a:spAutoFit/>
          </a:bodyPr>
          <a:lstStyle/>
          <a:p>
            <a:pPr algn="r">
              <a:spcAft>
                <a:spcPts val="600"/>
              </a:spcAft>
            </a:pPr>
            <a:r>
              <a:rPr sz="1000" b="0">
                <a:solidFill>
                  <a:srgbClr val="898781"/>
                </a:solidFill>
                <a:latin typeface="Calibri"/>
              </a:rPr>
              <a:t>12 / 19</a:t>
            </a:r>
          </a:p>
        </p:txBody>
      </p:sp>
      <p:pic>
        <p:nvPicPr>
          <p:cNvPr id="7" name="Picture 6" descr="09_group_ranking.png"/>
          <p:cNvPicPr>
            <a:picLocks noChangeAspect="1"/>
          </p:cNvPicPr>
          <p:nvPr/>
        </p:nvPicPr>
        <p:blipFill>
          <a:blip r:embed="rId3"/>
          <a:stretch>
            <a:fillRect/>
          </a:stretch>
        </p:blipFill>
        <p:spPr>
          <a:xfrm>
            <a:off x="365760" y="1471220"/>
            <a:ext cx="5852160" cy="3275479"/>
          </a:xfrm>
          <a:prstGeom prst="rect">
            <a:avLst/>
          </a:prstGeom>
        </p:spPr>
      </p:pic>
      <p:pic>
        <p:nvPicPr>
          <p:cNvPr id="8" name="Picture 7" descr="06_dominant_driver_map.png"/>
          <p:cNvPicPr>
            <a:picLocks noChangeAspect="1"/>
          </p:cNvPicPr>
          <p:nvPr/>
        </p:nvPicPr>
        <p:blipFill>
          <a:blip r:embed="rId4"/>
          <a:stretch>
            <a:fillRect/>
          </a:stretch>
        </p:blipFill>
        <p:spPr>
          <a:xfrm>
            <a:off x="6309360" y="1431983"/>
            <a:ext cx="5577840" cy="3353952"/>
          </a:xfrm>
          <a:prstGeom prst="rect">
            <a:avLst/>
          </a:prstGeom>
        </p:spPr>
      </p:pic>
      <p:sp>
        <p:nvSpPr>
          <p:cNvPr id="9" name="TextBox 8"/>
          <p:cNvSpPr txBox="1"/>
          <p:nvPr/>
        </p:nvSpPr>
        <p:spPr>
          <a:xfrm>
            <a:off x="731520" y="4892040"/>
            <a:ext cx="3474720" cy="476250"/>
          </a:xfrm>
          <a:prstGeom prst="rect">
            <a:avLst/>
          </a:prstGeom>
          <a:noFill/>
        </p:spPr>
        <p:txBody>
          <a:bodyPr wrap="square" anchor="t" lIns="45720" rIns="45720">
            <a:spAutoFit/>
          </a:bodyPr>
          <a:lstStyle/>
          <a:p>
            <a:pPr algn="l">
              <a:spcAft>
                <a:spcPts val="600"/>
              </a:spcAft>
            </a:pPr>
            <a:r>
              <a:rPr sz="3000" b="1">
                <a:solidFill>
                  <a:srgbClr val="2A78D6"/>
                </a:solidFill>
                <a:latin typeface="Calibri"/>
              </a:rPr>
              <a:t>1.49 °C</a:t>
            </a:r>
          </a:p>
        </p:txBody>
      </p:sp>
      <p:sp>
        <p:nvSpPr>
          <p:cNvPr id="10" name="TextBox 9"/>
          <p:cNvSpPr txBox="1"/>
          <p:nvPr/>
        </p:nvSpPr>
        <p:spPr>
          <a:xfrm>
            <a:off x="731520" y="5368289"/>
            <a:ext cx="3474720" cy="822960"/>
          </a:xfrm>
          <a:prstGeom prst="rect">
            <a:avLst/>
          </a:prstGeom>
          <a:noFill/>
        </p:spPr>
        <p:txBody>
          <a:bodyPr wrap="square" anchor="t" lIns="45720" rIns="45720">
            <a:spAutoFit/>
          </a:bodyPr>
          <a:lstStyle/>
          <a:p>
            <a:pPr algn="l">
              <a:spcAft>
                <a:spcPts val="600"/>
              </a:spcAft>
            </a:pPr>
            <a:r>
              <a:rPr sz="1500" b="0">
                <a:solidFill>
                  <a:srgbClr val="52514E"/>
                </a:solidFill>
                <a:latin typeface="Calibri"/>
              </a:rPr>
              <a:t>spectral block, mean |SHAP|</a:t>
            </a:r>
          </a:p>
        </p:txBody>
      </p:sp>
      <p:sp>
        <p:nvSpPr>
          <p:cNvPr id="11" name="TextBox 10"/>
          <p:cNvSpPr txBox="1"/>
          <p:nvPr/>
        </p:nvSpPr>
        <p:spPr>
          <a:xfrm>
            <a:off x="4480560" y="4892040"/>
            <a:ext cx="3474720" cy="476250"/>
          </a:xfrm>
          <a:prstGeom prst="rect">
            <a:avLst/>
          </a:prstGeom>
          <a:noFill/>
        </p:spPr>
        <p:txBody>
          <a:bodyPr wrap="square" anchor="t" lIns="45720" rIns="45720">
            <a:spAutoFit/>
          </a:bodyPr>
          <a:lstStyle/>
          <a:p>
            <a:pPr algn="l">
              <a:spcAft>
                <a:spcPts val="600"/>
              </a:spcAft>
            </a:pPr>
            <a:r>
              <a:rPr sz="3000" b="1">
                <a:solidFill>
                  <a:srgbClr val="2A78D6"/>
                </a:solidFill>
                <a:latin typeface="Calibri"/>
              </a:rPr>
              <a:t>2.1×</a:t>
            </a:r>
          </a:p>
        </p:txBody>
      </p:sp>
      <p:sp>
        <p:nvSpPr>
          <p:cNvPr id="12" name="TextBox 11"/>
          <p:cNvSpPr txBox="1"/>
          <p:nvPr/>
        </p:nvSpPr>
        <p:spPr>
          <a:xfrm>
            <a:off x="4480560" y="5368289"/>
            <a:ext cx="3474720" cy="822960"/>
          </a:xfrm>
          <a:prstGeom prst="rect">
            <a:avLst/>
          </a:prstGeom>
          <a:noFill/>
        </p:spPr>
        <p:txBody>
          <a:bodyPr wrap="square" anchor="t" lIns="45720" rIns="45720">
            <a:spAutoFit/>
          </a:bodyPr>
          <a:lstStyle/>
          <a:p>
            <a:pPr algn="l">
              <a:spcAft>
                <a:spcPts val="600"/>
              </a:spcAft>
            </a:pPr>
            <a:r>
              <a:rPr sz="1500" b="0">
                <a:solidFill>
                  <a:srgbClr val="52514E"/>
                </a:solidFill>
                <a:latin typeface="Calibri"/>
              </a:rPr>
              <a:t>the dry-cover group</a:t>
            </a:r>
          </a:p>
        </p:txBody>
      </p:sp>
      <p:sp>
        <p:nvSpPr>
          <p:cNvPr id="13" name="TextBox 12"/>
          <p:cNvSpPr txBox="1"/>
          <p:nvPr/>
        </p:nvSpPr>
        <p:spPr>
          <a:xfrm>
            <a:off x="8229600" y="4892040"/>
            <a:ext cx="3474720" cy="476250"/>
          </a:xfrm>
          <a:prstGeom prst="rect">
            <a:avLst/>
          </a:prstGeom>
          <a:noFill/>
        </p:spPr>
        <p:txBody>
          <a:bodyPr wrap="square" anchor="t" lIns="45720" rIns="45720">
            <a:spAutoFit/>
          </a:bodyPr>
          <a:lstStyle/>
          <a:p>
            <a:pPr algn="l">
              <a:spcAft>
                <a:spcPts val="600"/>
              </a:spcAft>
            </a:pPr>
            <a:r>
              <a:rPr sz="3000" b="1">
                <a:solidFill>
                  <a:srgbClr val="2A78D6"/>
                </a:solidFill>
                <a:latin typeface="Calibri"/>
              </a:rPr>
              <a:t>95%</a:t>
            </a:r>
          </a:p>
        </p:txBody>
      </p:sp>
      <p:sp>
        <p:nvSpPr>
          <p:cNvPr id="14" name="TextBox 13"/>
          <p:cNvSpPr txBox="1"/>
          <p:nvPr/>
        </p:nvSpPr>
        <p:spPr>
          <a:xfrm>
            <a:off x="8229600" y="5368289"/>
            <a:ext cx="3474720" cy="822960"/>
          </a:xfrm>
          <a:prstGeom prst="rect">
            <a:avLst/>
          </a:prstGeom>
          <a:noFill/>
        </p:spPr>
        <p:txBody>
          <a:bodyPr wrap="square" anchor="t" lIns="45720" rIns="45720">
            <a:spAutoFit/>
          </a:bodyPr>
          <a:lstStyle/>
          <a:p>
            <a:pPr algn="l">
              <a:spcAft>
                <a:spcPts val="600"/>
              </a:spcAft>
            </a:pPr>
            <a:r>
              <a:rPr sz="1500" b="0">
                <a:solidFill>
                  <a:srgbClr val="52514E"/>
                </a:solidFill>
                <a:latin typeface="Calibri"/>
              </a:rPr>
              <a:t>same leading group, XGBoost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66928"/>
            <a:ext cx="11064240" cy="685800"/>
          </a:xfrm>
          <a:prstGeom prst="rect">
            <a:avLst/>
          </a:prstGeom>
          <a:noFill/>
        </p:spPr>
        <p:txBody>
          <a:bodyPr wrap="square" anchor="t" lIns="45720" rIns="45720">
            <a:spAutoFit/>
          </a:bodyPr>
          <a:lstStyle/>
          <a:p>
            <a:pPr algn="l">
              <a:spcAft>
                <a:spcPts val="600"/>
              </a:spcAft>
            </a:pPr>
            <a:r>
              <a:rPr sz="3000" b="1">
                <a:solidFill>
                  <a:srgbClr val="0B0B0B"/>
                </a:solidFill>
                <a:latin typeface="Calibri"/>
              </a:rPr>
              <a:t>Greening the hottest urban cells</a:t>
            </a:r>
          </a:p>
        </p:txBody>
      </p:sp>
      <p:sp>
        <p:nvSpPr>
          <p:cNvPr id="3" name="TextBox 2"/>
          <p:cNvSpPr txBox="1"/>
          <p:nvPr/>
        </p:nvSpPr>
        <p:spPr>
          <a:xfrm>
            <a:off x="566928" y="274320"/>
            <a:ext cx="7315200" cy="320040"/>
          </a:xfrm>
          <a:prstGeom prst="rect">
            <a:avLst/>
          </a:prstGeom>
          <a:noFill/>
        </p:spPr>
        <p:txBody>
          <a:bodyPr wrap="square" anchor="t" lIns="45720" rIns="45720">
            <a:spAutoFit/>
          </a:bodyPr>
          <a:lstStyle/>
          <a:p>
            <a:pPr algn="l">
              <a:spcAft>
                <a:spcPts val="600"/>
              </a:spcAft>
            </a:pPr>
            <a:r>
              <a:rPr sz="1200" b="1">
                <a:solidFill>
                  <a:srgbClr val="2A78D6"/>
                </a:solidFill>
                <a:latin typeface="Calibri"/>
              </a:rPr>
              <a:t>RESULTS · GREENING SCENARIOS</a:t>
            </a:r>
          </a:p>
        </p:txBody>
      </p:sp>
      <p:cxnSp>
        <p:nvCxnSpPr>
          <p:cNvPr id="4" name="Connector 3"/>
          <p:cNvCxnSpPr/>
          <p:nvPr/>
        </p:nvCxnSpPr>
        <p:spPr>
          <a:xfrm>
            <a:off x="548640" y="6382512"/>
            <a:ext cx="11094415"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428232"/>
            <a:ext cx="5486400" cy="274320"/>
          </a:xfrm>
          <a:prstGeom prst="rect">
            <a:avLst/>
          </a:prstGeom>
          <a:noFill/>
        </p:spPr>
        <p:txBody>
          <a:bodyPr wrap="square" anchor="t" lIns="45720" rIns="45720">
            <a:spAutoFit/>
          </a:bodyPr>
          <a:lstStyle/>
          <a:p>
            <a:pPr algn="l">
              <a:spcAft>
                <a:spcPts val="600"/>
              </a:spcAft>
            </a:pPr>
            <a:r>
              <a:rPr sz="1000" b="0">
                <a:solidFill>
                  <a:srgbClr val="898781"/>
                </a:solidFill>
                <a:latin typeface="Calibri"/>
              </a:rPr>
              <a:t>MirageAI · Concrete vs. Canopy</a:t>
            </a:r>
          </a:p>
        </p:txBody>
      </p:sp>
      <p:sp>
        <p:nvSpPr>
          <p:cNvPr id="6" name="TextBox 5"/>
          <p:cNvSpPr txBox="1"/>
          <p:nvPr/>
        </p:nvSpPr>
        <p:spPr>
          <a:xfrm>
            <a:off x="10607040" y="6428232"/>
            <a:ext cx="1097280" cy="274320"/>
          </a:xfrm>
          <a:prstGeom prst="rect">
            <a:avLst/>
          </a:prstGeom>
          <a:noFill/>
        </p:spPr>
        <p:txBody>
          <a:bodyPr wrap="square" anchor="t" lIns="45720" rIns="45720">
            <a:spAutoFit/>
          </a:bodyPr>
          <a:lstStyle/>
          <a:p>
            <a:pPr algn="r">
              <a:spcAft>
                <a:spcPts val="600"/>
              </a:spcAft>
            </a:pPr>
            <a:r>
              <a:rPr sz="1000" b="0">
                <a:solidFill>
                  <a:srgbClr val="898781"/>
                </a:solidFill>
                <a:latin typeface="Calibri"/>
              </a:rPr>
              <a:t>13 / 19</a:t>
            </a:r>
          </a:p>
        </p:txBody>
      </p:sp>
      <p:pic>
        <p:nvPicPr>
          <p:cNvPr id="7" name="Picture 6" descr="07_target_cells.png"/>
          <p:cNvPicPr>
            <a:picLocks noChangeAspect="1"/>
          </p:cNvPicPr>
          <p:nvPr/>
        </p:nvPicPr>
        <p:blipFill>
          <a:blip r:embed="rId3"/>
          <a:stretch>
            <a:fillRect/>
          </a:stretch>
        </p:blipFill>
        <p:spPr>
          <a:xfrm>
            <a:off x="228600" y="1519706"/>
            <a:ext cx="6035040" cy="3727146"/>
          </a:xfrm>
          <a:prstGeom prst="rect">
            <a:avLst/>
          </a:prstGeom>
        </p:spPr>
      </p:pic>
      <p:pic>
        <p:nvPicPr>
          <p:cNvPr id="8" name="Picture 7" descr="09_scenario_bracket.png"/>
          <p:cNvPicPr>
            <a:picLocks noChangeAspect="1"/>
          </p:cNvPicPr>
          <p:nvPr/>
        </p:nvPicPr>
        <p:blipFill>
          <a:blip r:embed="rId4"/>
          <a:stretch>
            <a:fillRect/>
          </a:stretch>
        </p:blipFill>
        <p:spPr>
          <a:xfrm>
            <a:off x="6263640" y="1348997"/>
            <a:ext cx="5669280" cy="3748524"/>
          </a:xfrm>
          <a:prstGeom prst="rect">
            <a:avLst/>
          </a:prstGeom>
        </p:spPr>
      </p:pic>
      <p:sp>
        <p:nvSpPr>
          <p:cNvPr id="9" name="TextBox 8"/>
          <p:cNvSpPr txBox="1"/>
          <p:nvPr/>
        </p:nvSpPr>
        <p:spPr>
          <a:xfrm>
            <a:off x="548640" y="5623560"/>
            <a:ext cx="11155680" cy="640080"/>
          </a:xfrm>
          <a:prstGeom prst="rect">
            <a:avLst/>
          </a:prstGeom>
          <a:noFill/>
        </p:spPr>
        <p:txBody>
          <a:bodyPr wrap="square" anchor="t" lIns="45720" rIns="45720">
            <a:spAutoFit/>
          </a:bodyPr>
          <a:lstStyle/>
          <a:p>
            <a:pPr algn="ctr">
              <a:spcAft>
                <a:spcPts val="600"/>
              </a:spcAft>
            </a:pPr>
            <a:r>
              <a:rPr sz="1800" b="1">
                <a:solidFill>
                  <a:srgbClr val="2A78D6"/>
                </a:solidFill>
                <a:latin typeface="Calibri"/>
              </a:rPr>
              <a:t>~10% canopy: 0.4–1.0 °C cooler. </a:t>
            </a:r>
            <a:r>
              <a:rPr sz="1800" b="0">
                <a:solidFill>
                  <a:srgbClr val="52514E"/>
                </a:solidFill>
                <a:latin typeface="Calibri"/>
              </a:rPr>
              <a:t>Gains per point halve past ~10–12%. First-pixel step excluded.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66928"/>
            <a:ext cx="11064240" cy="685800"/>
          </a:xfrm>
          <a:prstGeom prst="rect">
            <a:avLst/>
          </a:prstGeom>
          <a:noFill/>
        </p:spPr>
        <p:txBody>
          <a:bodyPr wrap="square" anchor="t" lIns="45720" rIns="45720">
            <a:spAutoFit/>
          </a:bodyPr>
          <a:lstStyle/>
          <a:p>
            <a:pPr algn="l">
              <a:spcAft>
                <a:spcPts val="600"/>
              </a:spcAft>
            </a:pPr>
            <a:r>
              <a:rPr sz="3000" b="1">
                <a:solidFill>
                  <a:srgbClr val="0B0B0B"/>
                </a:solidFill>
                <a:latin typeface="Calibri"/>
              </a:rPr>
              <a:t>Every result, explorable in a browser</a:t>
            </a:r>
          </a:p>
        </p:txBody>
      </p:sp>
      <p:sp>
        <p:nvSpPr>
          <p:cNvPr id="3" name="TextBox 2"/>
          <p:cNvSpPr txBox="1"/>
          <p:nvPr/>
        </p:nvSpPr>
        <p:spPr>
          <a:xfrm>
            <a:off x="566928" y="274320"/>
            <a:ext cx="7315200" cy="320040"/>
          </a:xfrm>
          <a:prstGeom prst="rect">
            <a:avLst/>
          </a:prstGeom>
          <a:noFill/>
        </p:spPr>
        <p:txBody>
          <a:bodyPr wrap="square" anchor="t" lIns="45720" rIns="45720">
            <a:spAutoFit/>
          </a:bodyPr>
          <a:lstStyle/>
          <a:p>
            <a:pPr algn="l">
              <a:spcAft>
                <a:spcPts val="600"/>
              </a:spcAft>
            </a:pPr>
            <a:r>
              <a:rPr sz="1200" b="1">
                <a:solidFill>
                  <a:srgbClr val="2A78D6"/>
                </a:solidFill>
                <a:latin typeface="Calibri"/>
              </a:rPr>
              <a:t>DASHBOARD DEMO</a:t>
            </a:r>
          </a:p>
        </p:txBody>
      </p:sp>
      <p:cxnSp>
        <p:nvCxnSpPr>
          <p:cNvPr id="4" name="Connector 3"/>
          <p:cNvCxnSpPr/>
          <p:nvPr/>
        </p:nvCxnSpPr>
        <p:spPr>
          <a:xfrm>
            <a:off x="548640" y="6382512"/>
            <a:ext cx="11094415"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428232"/>
            <a:ext cx="5486400" cy="274320"/>
          </a:xfrm>
          <a:prstGeom prst="rect">
            <a:avLst/>
          </a:prstGeom>
          <a:noFill/>
        </p:spPr>
        <p:txBody>
          <a:bodyPr wrap="square" anchor="t" lIns="45720" rIns="45720">
            <a:spAutoFit/>
          </a:bodyPr>
          <a:lstStyle/>
          <a:p>
            <a:pPr algn="l">
              <a:spcAft>
                <a:spcPts val="600"/>
              </a:spcAft>
            </a:pPr>
            <a:r>
              <a:rPr sz="1000" b="0">
                <a:solidFill>
                  <a:srgbClr val="898781"/>
                </a:solidFill>
                <a:latin typeface="Calibri"/>
              </a:rPr>
              <a:t>MirageAI · Concrete vs. Canopy</a:t>
            </a:r>
          </a:p>
        </p:txBody>
      </p:sp>
      <p:sp>
        <p:nvSpPr>
          <p:cNvPr id="6" name="TextBox 5"/>
          <p:cNvSpPr txBox="1"/>
          <p:nvPr/>
        </p:nvSpPr>
        <p:spPr>
          <a:xfrm>
            <a:off x="10607040" y="6428232"/>
            <a:ext cx="1097280" cy="274320"/>
          </a:xfrm>
          <a:prstGeom prst="rect">
            <a:avLst/>
          </a:prstGeom>
          <a:noFill/>
        </p:spPr>
        <p:txBody>
          <a:bodyPr wrap="square" anchor="t" lIns="45720" rIns="45720">
            <a:spAutoFit/>
          </a:bodyPr>
          <a:lstStyle/>
          <a:p>
            <a:pPr algn="r">
              <a:spcAft>
                <a:spcPts val="600"/>
              </a:spcAft>
            </a:pPr>
            <a:r>
              <a:rPr sz="1000" b="0">
                <a:solidFill>
                  <a:srgbClr val="898781"/>
                </a:solidFill>
                <a:latin typeface="Calibri"/>
              </a:rPr>
              <a:t>14 / 19</a:t>
            </a:r>
          </a:p>
        </p:txBody>
      </p:sp>
      <p:pic>
        <p:nvPicPr>
          <p:cNvPr id="7" name="Picture 6" descr="dashboard_interactive_prediction.png"/>
          <p:cNvPicPr>
            <a:picLocks noChangeAspect="1"/>
          </p:cNvPicPr>
          <p:nvPr/>
        </p:nvPicPr>
        <p:blipFill>
          <a:blip r:embed="rId3"/>
          <a:stretch>
            <a:fillRect/>
          </a:stretch>
        </p:blipFill>
        <p:spPr>
          <a:xfrm>
            <a:off x="684273" y="1325880"/>
            <a:ext cx="4666492" cy="4892040"/>
          </a:xfrm>
          <a:prstGeom prst="rect">
            <a:avLst/>
          </a:prstGeom>
        </p:spPr>
      </p:pic>
      <p:sp>
        <p:nvSpPr>
          <p:cNvPr id="8" name="TextBox 7"/>
          <p:cNvSpPr txBox="1"/>
          <p:nvPr/>
        </p:nvSpPr>
        <p:spPr>
          <a:xfrm>
            <a:off x="5943600" y="1463040"/>
            <a:ext cx="5760720" cy="457200"/>
          </a:xfrm>
          <a:prstGeom prst="rect">
            <a:avLst/>
          </a:prstGeom>
          <a:noFill/>
        </p:spPr>
        <p:txBody>
          <a:bodyPr wrap="square" anchor="t" lIns="45720" rIns="45720">
            <a:spAutoFit/>
          </a:bodyPr>
          <a:lstStyle/>
          <a:p>
            <a:pPr algn="l">
              <a:spcAft>
                <a:spcPts val="600"/>
              </a:spcAft>
            </a:pPr>
            <a:r>
              <a:rPr sz="1900" b="1">
                <a:solidFill>
                  <a:srgbClr val="2A78D6"/>
                </a:solidFill>
                <a:latin typeface="Calibri"/>
              </a:rPr>
              <a:t>Run it</a:t>
            </a:r>
          </a:p>
        </p:txBody>
      </p:sp>
      <p:sp>
        <p:nvSpPr>
          <p:cNvPr id="9" name="Rounded Rectangle 8"/>
          <p:cNvSpPr/>
          <p:nvPr/>
        </p:nvSpPr>
        <p:spPr>
          <a:xfrm>
            <a:off x="5943600" y="1920240"/>
            <a:ext cx="5669280" cy="566928"/>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011680"/>
            <a:ext cx="5486400" cy="411480"/>
          </a:xfrm>
          <a:prstGeom prst="rect">
            <a:avLst/>
          </a:prstGeom>
          <a:noFill/>
        </p:spPr>
        <p:txBody>
          <a:bodyPr wrap="square" anchor="t" lIns="45720" rIns="45720">
            <a:spAutoFit/>
          </a:bodyPr>
          <a:lstStyle/>
          <a:p>
            <a:pPr algn="l">
              <a:spcAft>
                <a:spcPts val="600"/>
              </a:spcAft>
            </a:pPr>
            <a:r>
              <a:rPr sz="1500" b="0">
                <a:solidFill>
                  <a:srgbClr val="0B0B0B"/>
                </a:solidFill>
                <a:latin typeface="Consolas"/>
              </a:rPr>
              <a:t>streamlit run app.py</a:t>
            </a:r>
          </a:p>
        </p:txBody>
      </p:sp>
      <p:sp>
        <p:nvSpPr>
          <p:cNvPr id="11" name="TextBox 10"/>
          <p:cNvSpPr txBox="1"/>
          <p:nvPr/>
        </p:nvSpPr>
        <p:spPr>
          <a:xfrm>
            <a:off x="5943600" y="2788920"/>
            <a:ext cx="5760720" cy="457200"/>
          </a:xfrm>
          <a:prstGeom prst="rect">
            <a:avLst/>
          </a:prstGeom>
          <a:noFill/>
        </p:spPr>
        <p:txBody>
          <a:bodyPr wrap="square" anchor="t" lIns="45720" rIns="45720">
            <a:spAutoFit/>
          </a:bodyPr>
          <a:lstStyle/>
          <a:p>
            <a:pPr algn="l">
              <a:spcAft>
                <a:spcPts val="600"/>
              </a:spcAft>
            </a:pPr>
            <a:r>
              <a:rPr sz="1900" b="1">
                <a:solidFill>
                  <a:srgbClr val="2A78D6"/>
                </a:solidFill>
                <a:latin typeface="Calibri"/>
              </a:rPr>
              <a:t>Demo path</a:t>
            </a:r>
          </a:p>
        </p:txBody>
      </p:sp>
      <p:sp>
        <p:nvSpPr>
          <p:cNvPr id="12" name="TextBox 11"/>
          <p:cNvSpPr txBox="1"/>
          <p:nvPr/>
        </p:nvSpPr>
        <p:spPr>
          <a:xfrm>
            <a:off x="5943600" y="3246120"/>
            <a:ext cx="5760720" cy="2377440"/>
          </a:xfrm>
          <a:prstGeom prst="rect">
            <a:avLst/>
          </a:prstGeom>
          <a:noFill/>
        </p:spPr>
        <p:txBody>
          <a:bodyPr wrap="square" anchor="t" lIns="45720" rIns="45720">
            <a:spAutoFit/>
          </a:bodyPr>
          <a:lstStyle/>
          <a:p>
            <a:pPr algn="l">
              <a:spcAft>
                <a:spcPts val="1000"/>
              </a:spcAft>
            </a:pPr>
            <a:r>
              <a:rPr sz="1800" b="0">
                <a:solidFill>
                  <a:srgbClr val="2A78D6"/>
                </a:solidFill>
                <a:latin typeface="Calibri"/>
              </a:rPr>
              <a:t>▪  </a:t>
            </a:r>
            <a:r>
              <a:rPr sz="1800" b="0">
                <a:solidFill>
                  <a:srgbClr val="52514E"/>
                </a:solidFill>
                <a:latin typeface="Calibri"/>
              </a:rPr>
              <a:t>Pick a hot, tree-less fringe cell.</a:t>
            </a:r>
          </a:p>
          <a:p>
            <a:pPr algn="l">
              <a:spcAft>
                <a:spcPts val="1000"/>
              </a:spcAft>
            </a:pPr>
            <a:r>
              <a:rPr sz="1800" b="0">
                <a:solidFill>
                  <a:srgbClr val="2A78D6"/>
                </a:solidFill>
                <a:latin typeface="Calibri"/>
              </a:rPr>
              <a:t>▪  </a:t>
            </a:r>
            <a:r>
              <a:rPr sz="1800" b="0">
                <a:solidFill>
                  <a:srgbClr val="52514E"/>
                </a:solidFill>
                <a:latin typeface="Calibri"/>
              </a:rPr>
              <a:t>Read its per-feature breakdown.</a:t>
            </a:r>
          </a:p>
          <a:p>
            <a:pPr algn="l">
              <a:spcAft>
                <a:spcPts val="1000"/>
              </a:spcAft>
            </a:pPr>
            <a:r>
              <a:rPr sz="1800" b="0">
                <a:solidFill>
                  <a:srgbClr val="2A78D6"/>
                </a:solidFill>
                <a:latin typeface="Calibri"/>
              </a:rPr>
              <a:t>▪  </a:t>
            </a:r>
            <a:r>
              <a:rPr sz="1800" b="0">
                <a:solidFill>
                  <a:srgbClr val="52514E"/>
                </a:solidFill>
                <a:latin typeface="Calibri"/>
              </a:rPr>
              <a:t>Add tree cover: lower-bound what-if.</a:t>
            </a:r>
          </a:p>
          <a:p>
            <a:pPr algn="l">
              <a:spcAft>
                <a:spcPts val="1000"/>
              </a:spcAft>
            </a:pPr>
            <a:r>
              <a:rPr sz="1800" b="0">
                <a:solidFill>
                  <a:srgbClr val="2A78D6"/>
                </a:solidFill>
                <a:latin typeface="Calibri"/>
              </a:rPr>
              <a:t>▪  </a:t>
            </a:r>
            <a:r>
              <a:rPr sz="1800" b="0">
                <a:solidFill>
                  <a:srgbClr val="52514E"/>
                </a:solidFill>
                <a:latin typeface="Calibri"/>
              </a:rPr>
              <a:t>Read-only: numbers come from the pipeline.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66928"/>
            <a:ext cx="11064240" cy="685800"/>
          </a:xfrm>
          <a:prstGeom prst="rect">
            <a:avLst/>
          </a:prstGeom>
          <a:noFill/>
        </p:spPr>
        <p:txBody>
          <a:bodyPr wrap="square" anchor="t" lIns="45720" rIns="45720">
            <a:spAutoFit/>
          </a:bodyPr>
          <a:lstStyle/>
          <a:p>
            <a:pPr algn="l">
              <a:spcAft>
                <a:spcPts val="600"/>
              </a:spcAft>
            </a:pPr>
            <a:r>
              <a:rPr sz="3000" b="1">
                <a:solidFill>
                  <a:srgbClr val="0B0B0B"/>
                </a:solidFill>
                <a:latin typeface="Calibri"/>
              </a:rPr>
              <a:t>Concrete vs canopy: what the evidence says</a:t>
            </a:r>
          </a:p>
        </p:txBody>
      </p:sp>
      <p:sp>
        <p:nvSpPr>
          <p:cNvPr id="3" name="TextBox 2"/>
          <p:cNvSpPr txBox="1"/>
          <p:nvPr/>
        </p:nvSpPr>
        <p:spPr>
          <a:xfrm>
            <a:off x="566928" y="274320"/>
            <a:ext cx="7315200" cy="320040"/>
          </a:xfrm>
          <a:prstGeom prst="rect">
            <a:avLst/>
          </a:prstGeom>
          <a:noFill/>
        </p:spPr>
        <p:txBody>
          <a:bodyPr wrap="square" anchor="t" lIns="45720" rIns="45720">
            <a:spAutoFit/>
          </a:bodyPr>
          <a:lstStyle/>
          <a:p>
            <a:pPr algn="l">
              <a:spcAft>
                <a:spcPts val="600"/>
              </a:spcAft>
            </a:pPr>
            <a:r>
              <a:rPr sz="1200" b="1">
                <a:solidFill>
                  <a:srgbClr val="2A78D6"/>
                </a:solidFill>
                <a:latin typeface="Calibri"/>
              </a:rPr>
              <a:t>KEY INSIGHTS</a:t>
            </a:r>
          </a:p>
        </p:txBody>
      </p:sp>
      <p:cxnSp>
        <p:nvCxnSpPr>
          <p:cNvPr id="4" name="Connector 3"/>
          <p:cNvCxnSpPr/>
          <p:nvPr/>
        </p:nvCxnSpPr>
        <p:spPr>
          <a:xfrm>
            <a:off x="548640" y="6382512"/>
            <a:ext cx="11094415"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428232"/>
            <a:ext cx="5486400" cy="274320"/>
          </a:xfrm>
          <a:prstGeom prst="rect">
            <a:avLst/>
          </a:prstGeom>
          <a:noFill/>
        </p:spPr>
        <p:txBody>
          <a:bodyPr wrap="square" anchor="t" lIns="45720" rIns="45720">
            <a:spAutoFit/>
          </a:bodyPr>
          <a:lstStyle/>
          <a:p>
            <a:pPr algn="l">
              <a:spcAft>
                <a:spcPts val="600"/>
              </a:spcAft>
            </a:pPr>
            <a:r>
              <a:rPr sz="1000" b="0">
                <a:solidFill>
                  <a:srgbClr val="898781"/>
                </a:solidFill>
                <a:latin typeface="Calibri"/>
              </a:rPr>
              <a:t>MirageAI · Concrete vs. Canopy</a:t>
            </a:r>
          </a:p>
        </p:txBody>
      </p:sp>
      <p:sp>
        <p:nvSpPr>
          <p:cNvPr id="6" name="TextBox 5"/>
          <p:cNvSpPr txBox="1"/>
          <p:nvPr/>
        </p:nvSpPr>
        <p:spPr>
          <a:xfrm>
            <a:off x="10607040" y="6428232"/>
            <a:ext cx="1097280" cy="274320"/>
          </a:xfrm>
          <a:prstGeom prst="rect">
            <a:avLst/>
          </a:prstGeom>
          <a:noFill/>
        </p:spPr>
        <p:txBody>
          <a:bodyPr wrap="square" anchor="t" lIns="45720" rIns="45720">
            <a:spAutoFit/>
          </a:bodyPr>
          <a:lstStyle/>
          <a:p>
            <a:pPr algn="r">
              <a:spcAft>
                <a:spcPts val="600"/>
              </a:spcAft>
            </a:pPr>
            <a:r>
              <a:rPr sz="1000" b="0">
                <a:solidFill>
                  <a:srgbClr val="898781"/>
                </a:solidFill>
                <a:latin typeface="Calibri"/>
              </a:rPr>
              <a:t>15 / 19</a:t>
            </a:r>
          </a:p>
        </p:txBody>
      </p:sp>
      <p:pic>
        <p:nvPicPr>
          <p:cNvPr id="7" name="Picture 6" descr="08_tree_cover_dependence.png"/>
          <p:cNvPicPr>
            <a:picLocks noChangeAspect="1"/>
          </p:cNvPicPr>
          <p:nvPr/>
        </p:nvPicPr>
        <p:blipFill>
          <a:blip r:embed="rId3"/>
          <a:stretch>
            <a:fillRect/>
          </a:stretch>
        </p:blipFill>
        <p:spPr>
          <a:xfrm>
            <a:off x="274320" y="1807785"/>
            <a:ext cx="6675120" cy="3791068"/>
          </a:xfrm>
          <a:prstGeom prst="rect">
            <a:avLst/>
          </a:prstGeom>
        </p:spPr>
      </p:pic>
      <p:sp>
        <p:nvSpPr>
          <p:cNvPr id="8" name="Rectangle 7"/>
          <p:cNvSpPr/>
          <p:nvPr/>
        </p:nvSpPr>
        <p:spPr>
          <a:xfrm>
            <a:off x="7178040" y="1417320"/>
            <a:ext cx="73152" cy="132588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06640" y="1417320"/>
            <a:ext cx="4389120" cy="476250"/>
          </a:xfrm>
          <a:prstGeom prst="rect">
            <a:avLst/>
          </a:prstGeom>
          <a:noFill/>
        </p:spPr>
        <p:txBody>
          <a:bodyPr wrap="square" anchor="t" lIns="45720" rIns="45720">
            <a:spAutoFit/>
          </a:bodyPr>
          <a:lstStyle/>
          <a:p>
            <a:pPr algn="l">
              <a:spcAft>
                <a:spcPts val="600"/>
              </a:spcAft>
            </a:pPr>
            <a:r>
              <a:rPr sz="3000" b="1">
                <a:solidFill>
                  <a:srgbClr val="2A78D6"/>
                </a:solidFill>
                <a:latin typeface="Calibri"/>
              </a:rPr>
              <a:t>−87%</a:t>
            </a:r>
          </a:p>
        </p:txBody>
      </p:sp>
      <p:sp>
        <p:nvSpPr>
          <p:cNvPr id="10" name="TextBox 9"/>
          <p:cNvSpPr txBox="1"/>
          <p:nvPr/>
        </p:nvSpPr>
        <p:spPr>
          <a:xfrm>
            <a:off x="7406640" y="1893570"/>
            <a:ext cx="4389120" cy="822960"/>
          </a:xfrm>
          <a:prstGeom prst="rect">
            <a:avLst/>
          </a:prstGeom>
          <a:noFill/>
        </p:spPr>
        <p:txBody>
          <a:bodyPr wrap="square" anchor="t" lIns="45720" rIns="45720">
            <a:spAutoFit/>
          </a:bodyPr>
          <a:lstStyle/>
          <a:p>
            <a:pPr algn="l">
              <a:spcAft>
                <a:spcPts val="600"/>
              </a:spcAft>
            </a:pPr>
            <a:r>
              <a:rPr sz="1500" b="0">
                <a:solidFill>
                  <a:srgbClr val="52514E"/>
                </a:solidFill>
                <a:latin typeface="Calibri"/>
              </a:rPr>
              <a:t>built-up association once vegetation and dryness are modelled</a:t>
            </a:r>
          </a:p>
        </p:txBody>
      </p:sp>
      <p:sp>
        <p:nvSpPr>
          <p:cNvPr id="11" name="Rectangle 10"/>
          <p:cNvSpPr/>
          <p:nvPr/>
        </p:nvSpPr>
        <p:spPr>
          <a:xfrm>
            <a:off x="7178040" y="3017520"/>
            <a:ext cx="73152" cy="132588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06640" y="3017520"/>
            <a:ext cx="4389120" cy="476250"/>
          </a:xfrm>
          <a:prstGeom prst="rect">
            <a:avLst/>
          </a:prstGeom>
          <a:noFill/>
        </p:spPr>
        <p:txBody>
          <a:bodyPr wrap="square" anchor="t" lIns="45720" rIns="45720">
            <a:spAutoFit/>
          </a:bodyPr>
          <a:lstStyle/>
          <a:p>
            <a:pPr algn="l">
              <a:spcAft>
                <a:spcPts val="600"/>
              </a:spcAft>
            </a:pPr>
            <a:r>
              <a:rPr sz="3000" b="1">
                <a:solidFill>
                  <a:srgbClr val="2A78D6"/>
                </a:solidFill>
                <a:latin typeface="Calibri"/>
              </a:rPr>
              <a:t>10.2%</a:t>
            </a:r>
          </a:p>
        </p:txBody>
      </p:sp>
      <p:sp>
        <p:nvSpPr>
          <p:cNvPr id="13" name="TextBox 12"/>
          <p:cNvSpPr txBox="1"/>
          <p:nvPr/>
        </p:nvSpPr>
        <p:spPr>
          <a:xfrm>
            <a:off x="7406640" y="3493770"/>
            <a:ext cx="4389120" cy="822960"/>
          </a:xfrm>
          <a:prstGeom prst="rect">
            <a:avLst/>
          </a:prstGeom>
          <a:noFill/>
        </p:spPr>
        <p:txBody>
          <a:bodyPr wrap="square" anchor="t" lIns="45720" rIns="45720">
            <a:spAutoFit/>
          </a:bodyPr>
          <a:lstStyle/>
          <a:p>
            <a:pPr algn="l">
              <a:spcAft>
                <a:spcPts val="600"/>
              </a:spcAft>
            </a:pPr>
            <a:r>
              <a:rPr sz="1500" b="0">
                <a:solidFill>
                  <a:srgbClr val="52514E"/>
                </a:solidFill>
                <a:latin typeface="Calibri"/>
              </a:rPr>
              <a:t>tree-cover knot: gains per point flatten beyond</a:t>
            </a:r>
          </a:p>
        </p:txBody>
      </p:sp>
      <p:sp>
        <p:nvSpPr>
          <p:cNvPr id="14" name="Rectangle 13"/>
          <p:cNvSpPr/>
          <p:nvPr/>
        </p:nvSpPr>
        <p:spPr>
          <a:xfrm>
            <a:off x="7178040" y="4617720"/>
            <a:ext cx="73152" cy="132588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06640" y="4617720"/>
            <a:ext cx="4389120" cy="476250"/>
          </a:xfrm>
          <a:prstGeom prst="rect">
            <a:avLst/>
          </a:prstGeom>
          <a:noFill/>
        </p:spPr>
        <p:txBody>
          <a:bodyPr wrap="square" anchor="t" lIns="45720" rIns="45720">
            <a:spAutoFit/>
          </a:bodyPr>
          <a:lstStyle/>
          <a:p>
            <a:pPr algn="l">
              <a:spcAft>
                <a:spcPts val="600"/>
              </a:spcAft>
            </a:pPr>
            <a:r>
              <a:rPr sz="3000" b="1">
                <a:solidFill>
                  <a:srgbClr val="2A78D6"/>
                </a:solidFill>
                <a:latin typeface="Calibri"/>
              </a:rPr>
              <a:t>Spatial CV</a:t>
            </a:r>
          </a:p>
        </p:txBody>
      </p:sp>
      <p:sp>
        <p:nvSpPr>
          <p:cNvPr id="16" name="TextBox 15"/>
          <p:cNvSpPr txBox="1"/>
          <p:nvPr/>
        </p:nvSpPr>
        <p:spPr>
          <a:xfrm>
            <a:off x="7406640" y="5093970"/>
            <a:ext cx="4389120" cy="822960"/>
          </a:xfrm>
          <a:prstGeom prst="rect">
            <a:avLst/>
          </a:prstGeom>
          <a:noFill/>
        </p:spPr>
        <p:txBody>
          <a:bodyPr wrap="square" anchor="t" lIns="45720" rIns="45720">
            <a:spAutoFit/>
          </a:bodyPr>
          <a:lstStyle/>
          <a:p>
            <a:pPr algn="l">
              <a:spcAft>
                <a:spcPts val="600"/>
              </a:spcAft>
            </a:pPr>
            <a:r>
              <a:rPr sz="1500" b="0">
                <a:solidFill>
                  <a:srgbClr val="52514E"/>
                </a:solidFill>
                <a:latin typeface="Calibri"/>
              </a:rPr>
              <a:t>the honest score; random CV flatters flexible models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66928"/>
            <a:ext cx="11064240" cy="685800"/>
          </a:xfrm>
          <a:prstGeom prst="rect">
            <a:avLst/>
          </a:prstGeom>
          <a:noFill/>
        </p:spPr>
        <p:txBody>
          <a:bodyPr wrap="square" anchor="t" lIns="45720" rIns="45720">
            <a:spAutoFit/>
          </a:bodyPr>
          <a:lstStyle/>
          <a:p>
            <a:pPr algn="l">
              <a:spcAft>
                <a:spcPts val="600"/>
              </a:spcAft>
            </a:pPr>
            <a:r>
              <a:rPr sz="3000" b="1">
                <a:solidFill>
                  <a:srgbClr val="0B0B0B"/>
                </a:solidFill>
                <a:latin typeface="Calibri"/>
              </a:rPr>
              <a:t>What these results cannot tell us</a:t>
            </a:r>
          </a:p>
        </p:txBody>
      </p:sp>
      <p:sp>
        <p:nvSpPr>
          <p:cNvPr id="3" name="TextBox 2"/>
          <p:cNvSpPr txBox="1"/>
          <p:nvPr/>
        </p:nvSpPr>
        <p:spPr>
          <a:xfrm>
            <a:off x="566928" y="274320"/>
            <a:ext cx="7315200" cy="320040"/>
          </a:xfrm>
          <a:prstGeom prst="rect">
            <a:avLst/>
          </a:prstGeom>
          <a:noFill/>
        </p:spPr>
        <p:txBody>
          <a:bodyPr wrap="square" anchor="t" lIns="45720" rIns="45720">
            <a:spAutoFit/>
          </a:bodyPr>
          <a:lstStyle/>
          <a:p>
            <a:pPr algn="l">
              <a:spcAft>
                <a:spcPts val="600"/>
              </a:spcAft>
            </a:pPr>
            <a:r>
              <a:rPr sz="1200" b="1">
                <a:solidFill>
                  <a:srgbClr val="2A78D6"/>
                </a:solidFill>
                <a:latin typeface="Calibri"/>
              </a:rPr>
              <a:t>LIMITATIONS</a:t>
            </a:r>
          </a:p>
        </p:txBody>
      </p:sp>
      <p:cxnSp>
        <p:nvCxnSpPr>
          <p:cNvPr id="4" name="Connector 3"/>
          <p:cNvCxnSpPr/>
          <p:nvPr/>
        </p:nvCxnSpPr>
        <p:spPr>
          <a:xfrm>
            <a:off x="548640" y="6382512"/>
            <a:ext cx="11094415"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428232"/>
            <a:ext cx="5486400" cy="274320"/>
          </a:xfrm>
          <a:prstGeom prst="rect">
            <a:avLst/>
          </a:prstGeom>
          <a:noFill/>
        </p:spPr>
        <p:txBody>
          <a:bodyPr wrap="square" anchor="t" lIns="45720" rIns="45720">
            <a:spAutoFit/>
          </a:bodyPr>
          <a:lstStyle/>
          <a:p>
            <a:pPr algn="l">
              <a:spcAft>
                <a:spcPts val="600"/>
              </a:spcAft>
            </a:pPr>
            <a:r>
              <a:rPr sz="1000" b="0">
                <a:solidFill>
                  <a:srgbClr val="898781"/>
                </a:solidFill>
                <a:latin typeface="Calibri"/>
              </a:rPr>
              <a:t>MirageAI · Concrete vs. Canopy</a:t>
            </a:r>
          </a:p>
        </p:txBody>
      </p:sp>
      <p:sp>
        <p:nvSpPr>
          <p:cNvPr id="6" name="TextBox 5"/>
          <p:cNvSpPr txBox="1"/>
          <p:nvPr/>
        </p:nvSpPr>
        <p:spPr>
          <a:xfrm>
            <a:off x="10607040" y="6428232"/>
            <a:ext cx="1097280" cy="274320"/>
          </a:xfrm>
          <a:prstGeom prst="rect">
            <a:avLst/>
          </a:prstGeom>
          <a:noFill/>
        </p:spPr>
        <p:txBody>
          <a:bodyPr wrap="square" anchor="t" lIns="45720" rIns="45720">
            <a:spAutoFit/>
          </a:bodyPr>
          <a:lstStyle/>
          <a:p>
            <a:pPr algn="r">
              <a:spcAft>
                <a:spcPts val="600"/>
              </a:spcAft>
            </a:pPr>
            <a:r>
              <a:rPr sz="1000" b="0">
                <a:solidFill>
                  <a:srgbClr val="898781"/>
                </a:solidFill>
                <a:latin typeface="Calibri"/>
              </a:rPr>
              <a:t>16 / 19</a:t>
            </a:r>
          </a:p>
        </p:txBody>
      </p:sp>
      <p:sp>
        <p:nvSpPr>
          <p:cNvPr id="7" name="TextBox 6"/>
          <p:cNvSpPr txBox="1"/>
          <p:nvPr/>
        </p:nvSpPr>
        <p:spPr>
          <a:xfrm>
            <a:off x="548640" y="1554480"/>
            <a:ext cx="5212080" cy="4206240"/>
          </a:xfrm>
          <a:prstGeom prst="rect">
            <a:avLst/>
          </a:prstGeom>
          <a:noFill/>
        </p:spPr>
        <p:txBody>
          <a:bodyPr wrap="square" anchor="t" lIns="45720" rIns="45720">
            <a:spAutoFit/>
          </a:bodyPr>
          <a:lstStyle/>
          <a:p>
            <a:pPr algn="l">
              <a:spcAft>
                <a:spcPts val="1400"/>
              </a:spcAft>
            </a:pPr>
            <a:r>
              <a:rPr sz="1900" b="0">
                <a:solidFill>
                  <a:srgbClr val="2A78D6"/>
                </a:solidFill>
                <a:latin typeface="Calibri"/>
              </a:rPr>
              <a:t>▪  </a:t>
            </a:r>
            <a:r>
              <a:rPr sz="1900" b="0">
                <a:solidFill>
                  <a:srgbClr val="52514E"/>
                </a:solidFill>
                <a:latin typeface="Calibri"/>
              </a:rPr>
              <a:t>Daytime surface LST, not air temperature</a:t>
            </a:r>
          </a:p>
          <a:p>
            <a:pPr algn="l">
              <a:spcAft>
                <a:spcPts val="1400"/>
              </a:spcAft>
            </a:pPr>
            <a:r>
              <a:rPr sz="1900" b="0">
                <a:solidFill>
                  <a:srgbClr val="2A78D6"/>
                </a:solidFill>
                <a:latin typeface="Calibri"/>
              </a:rPr>
              <a:t>▪  </a:t>
            </a:r>
            <a:r>
              <a:rPr sz="1900" b="0">
                <a:solidFill>
                  <a:srgbClr val="52514E"/>
                </a:solidFill>
                <a:latin typeface="Calibri"/>
              </a:rPr>
              <a:t>Associations, not causal effects</a:t>
            </a:r>
          </a:p>
          <a:p>
            <a:pPr algn="l">
              <a:spcAft>
                <a:spcPts val="1400"/>
              </a:spcAft>
            </a:pPr>
            <a:r>
              <a:rPr sz="1900" b="0">
                <a:solidFill>
                  <a:srgbClr val="2A78D6"/>
                </a:solidFill>
                <a:latin typeface="Calibri"/>
              </a:rPr>
              <a:t>▪  </a:t>
            </a:r>
            <a:r>
              <a:rPr sz="1900" b="0">
                <a:solidFill>
                  <a:srgbClr val="52514E"/>
                </a:solidFill>
                <a:latin typeface="Calibri"/>
              </a:rPr>
              <a:t>Residual Moran's I ≈ 0.6: missing drivers</a:t>
            </a:r>
          </a:p>
          <a:p>
            <a:pPr algn="l">
              <a:spcAft>
                <a:spcPts val="1400"/>
              </a:spcAft>
            </a:pPr>
            <a:r>
              <a:rPr sz="1900" b="0">
                <a:solidFill>
                  <a:srgbClr val="2A78D6"/>
                </a:solidFill>
                <a:latin typeface="Calibri"/>
              </a:rPr>
              <a:t>▪  </a:t>
            </a:r>
            <a:r>
              <a:rPr sz="1900" b="0">
                <a:solidFill>
                  <a:srgbClr val="52514E"/>
                </a:solidFill>
                <a:latin typeface="Calibri"/>
              </a:rPr>
              <a:t>Static 2021 land cover</a:t>
            </a:r>
          </a:p>
          <a:p>
            <a:pPr algn="l">
              <a:spcAft>
                <a:spcPts val="1400"/>
              </a:spcAft>
            </a:pPr>
            <a:r>
              <a:rPr sz="1900" b="0">
                <a:solidFill>
                  <a:srgbClr val="2A78D6"/>
                </a:solidFill>
                <a:latin typeface="Calibri"/>
              </a:rPr>
              <a:t>▪  </a:t>
            </a:r>
            <a:r>
              <a:rPr sz="1900" b="0">
                <a:solidFill>
                  <a:srgbClr val="52514E"/>
                </a:solidFill>
                <a:latin typeface="Calibri"/>
              </a:rPr>
              <a:t>One city, one season</a:t>
            </a:r>
          </a:p>
        </p:txBody>
      </p:sp>
      <p:pic>
        <p:nvPicPr>
          <p:cNvPr id="8" name="Picture 7" descr="05_residual_map.png"/>
          <p:cNvPicPr>
            <a:picLocks noChangeAspect="1"/>
          </p:cNvPicPr>
          <p:nvPr/>
        </p:nvPicPr>
        <p:blipFill>
          <a:blip r:embed="rId3"/>
          <a:stretch>
            <a:fillRect/>
          </a:stretch>
        </p:blipFill>
        <p:spPr>
          <a:xfrm>
            <a:off x="5852160" y="1467417"/>
            <a:ext cx="6035039" cy="4654685"/>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66928"/>
            <a:ext cx="11064240" cy="685800"/>
          </a:xfrm>
          <a:prstGeom prst="rect">
            <a:avLst/>
          </a:prstGeom>
          <a:noFill/>
        </p:spPr>
        <p:txBody>
          <a:bodyPr wrap="square" anchor="t" lIns="45720" rIns="45720">
            <a:spAutoFit/>
          </a:bodyPr>
          <a:lstStyle/>
          <a:p>
            <a:pPr algn="l">
              <a:spcAft>
                <a:spcPts val="600"/>
              </a:spcAft>
            </a:pPr>
            <a:r>
              <a:rPr sz="3000" b="1">
                <a:solidFill>
                  <a:srgbClr val="0B0B0B"/>
                </a:solidFill>
                <a:latin typeface="Calibri"/>
              </a:rPr>
              <a:t>Where the work goes next</a:t>
            </a:r>
          </a:p>
        </p:txBody>
      </p:sp>
      <p:sp>
        <p:nvSpPr>
          <p:cNvPr id="3" name="TextBox 2"/>
          <p:cNvSpPr txBox="1"/>
          <p:nvPr/>
        </p:nvSpPr>
        <p:spPr>
          <a:xfrm>
            <a:off x="566928" y="274320"/>
            <a:ext cx="7315200" cy="320040"/>
          </a:xfrm>
          <a:prstGeom prst="rect">
            <a:avLst/>
          </a:prstGeom>
          <a:noFill/>
        </p:spPr>
        <p:txBody>
          <a:bodyPr wrap="square" anchor="t" lIns="45720" rIns="45720">
            <a:spAutoFit/>
          </a:bodyPr>
          <a:lstStyle/>
          <a:p>
            <a:pPr algn="l">
              <a:spcAft>
                <a:spcPts val="600"/>
              </a:spcAft>
            </a:pPr>
            <a:r>
              <a:rPr sz="1200" b="1">
                <a:solidFill>
                  <a:srgbClr val="2A78D6"/>
                </a:solidFill>
                <a:latin typeface="Calibri"/>
              </a:rPr>
              <a:t>FUTURE SCOPE</a:t>
            </a:r>
          </a:p>
        </p:txBody>
      </p:sp>
      <p:cxnSp>
        <p:nvCxnSpPr>
          <p:cNvPr id="4" name="Connector 3"/>
          <p:cNvCxnSpPr/>
          <p:nvPr/>
        </p:nvCxnSpPr>
        <p:spPr>
          <a:xfrm>
            <a:off x="548640" y="6382512"/>
            <a:ext cx="11094415"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428232"/>
            <a:ext cx="5486400" cy="274320"/>
          </a:xfrm>
          <a:prstGeom prst="rect">
            <a:avLst/>
          </a:prstGeom>
          <a:noFill/>
        </p:spPr>
        <p:txBody>
          <a:bodyPr wrap="square" anchor="t" lIns="45720" rIns="45720">
            <a:spAutoFit/>
          </a:bodyPr>
          <a:lstStyle/>
          <a:p>
            <a:pPr algn="l">
              <a:spcAft>
                <a:spcPts val="600"/>
              </a:spcAft>
            </a:pPr>
            <a:r>
              <a:rPr sz="1000" b="0">
                <a:solidFill>
                  <a:srgbClr val="898781"/>
                </a:solidFill>
                <a:latin typeface="Calibri"/>
              </a:rPr>
              <a:t>MirageAI · Concrete vs. Canopy</a:t>
            </a:r>
          </a:p>
        </p:txBody>
      </p:sp>
      <p:sp>
        <p:nvSpPr>
          <p:cNvPr id="6" name="TextBox 5"/>
          <p:cNvSpPr txBox="1"/>
          <p:nvPr/>
        </p:nvSpPr>
        <p:spPr>
          <a:xfrm>
            <a:off x="10607040" y="6428232"/>
            <a:ext cx="1097280" cy="274320"/>
          </a:xfrm>
          <a:prstGeom prst="rect">
            <a:avLst/>
          </a:prstGeom>
          <a:noFill/>
        </p:spPr>
        <p:txBody>
          <a:bodyPr wrap="square" anchor="t" lIns="45720" rIns="45720">
            <a:spAutoFit/>
          </a:bodyPr>
          <a:lstStyle/>
          <a:p>
            <a:pPr algn="r">
              <a:spcAft>
                <a:spcPts val="600"/>
              </a:spcAft>
            </a:pPr>
            <a:r>
              <a:rPr sz="1000" b="0">
                <a:solidFill>
                  <a:srgbClr val="898781"/>
                </a:solidFill>
                <a:latin typeface="Calibri"/>
              </a:rPr>
              <a:t>17 / 19</a:t>
            </a:r>
          </a:p>
        </p:txBody>
      </p:sp>
      <p:sp>
        <p:nvSpPr>
          <p:cNvPr id="7" name="Rounded Rectangle 6"/>
          <p:cNvSpPr/>
          <p:nvPr/>
        </p:nvSpPr>
        <p:spPr>
          <a:xfrm>
            <a:off x="548640" y="1600200"/>
            <a:ext cx="3520440" cy="178308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737360"/>
            <a:ext cx="3154680" cy="411480"/>
          </a:xfrm>
          <a:prstGeom prst="rect">
            <a:avLst/>
          </a:prstGeom>
          <a:noFill/>
        </p:spPr>
        <p:txBody>
          <a:bodyPr wrap="square" anchor="t" lIns="45720" rIns="45720">
            <a:spAutoFit/>
          </a:bodyPr>
          <a:lstStyle/>
          <a:p>
            <a:pPr algn="l">
              <a:spcAft>
                <a:spcPts val="600"/>
              </a:spcAft>
            </a:pPr>
            <a:r>
              <a:rPr sz="2000" b="1">
                <a:solidFill>
                  <a:srgbClr val="0B0B0B"/>
                </a:solidFill>
                <a:latin typeface="Calibri"/>
              </a:rPr>
              <a:t>Urban form</a:t>
            </a:r>
          </a:p>
        </p:txBody>
      </p:sp>
      <p:sp>
        <p:nvSpPr>
          <p:cNvPr id="9" name="TextBox 8"/>
          <p:cNvSpPr txBox="1"/>
          <p:nvPr/>
        </p:nvSpPr>
        <p:spPr>
          <a:xfrm>
            <a:off x="731520" y="2167128"/>
            <a:ext cx="3154680" cy="1143000"/>
          </a:xfrm>
          <a:prstGeom prst="rect">
            <a:avLst/>
          </a:prstGeom>
          <a:noFill/>
        </p:spPr>
        <p:txBody>
          <a:bodyPr wrap="square" anchor="t" lIns="45720" rIns="45720">
            <a:spAutoFit/>
          </a:bodyPr>
          <a:lstStyle/>
          <a:p>
            <a:pPr algn="l">
              <a:spcAft>
                <a:spcPts val="600"/>
              </a:spcAft>
            </a:pPr>
            <a:r>
              <a:rPr sz="1800" b="0">
                <a:solidFill>
                  <a:srgbClr val="52514E"/>
                </a:solidFill>
                <a:latin typeface="Calibri"/>
              </a:rPr>
              <a:t>building height, roofs, irrigation</a:t>
            </a:r>
          </a:p>
        </p:txBody>
      </p:sp>
      <p:sp>
        <p:nvSpPr>
          <p:cNvPr id="10" name="Rounded Rectangle 9"/>
          <p:cNvSpPr/>
          <p:nvPr/>
        </p:nvSpPr>
        <p:spPr>
          <a:xfrm>
            <a:off x="4297679" y="1600200"/>
            <a:ext cx="3520440" cy="178308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59" y="1737360"/>
            <a:ext cx="3154680" cy="411480"/>
          </a:xfrm>
          <a:prstGeom prst="rect">
            <a:avLst/>
          </a:prstGeom>
          <a:noFill/>
        </p:spPr>
        <p:txBody>
          <a:bodyPr wrap="square" anchor="t" lIns="45720" rIns="45720">
            <a:spAutoFit/>
          </a:bodyPr>
          <a:lstStyle/>
          <a:p>
            <a:pPr algn="l">
              <a:spcAft>
                <a:spcPts val="600"/>
              </a:spcAft>
            </a:pPr>
            <a:r>
              <a:rPr sz="2000" b="1">
                <a:solidFill>
                  <a:srgbClr val="0B0B0B"/>
                </a:solidFill>
                <a:latin typeface="Calibri"/>
              </a:rPr>
              <a:t>Air temperature</a:t>
            </a:r>
          </a:p>
        </p:txBody>
      </p:sp>
      <p:sp>
        <p:nvSpPr>
          <p:cNvPr id="12" name="TextBox 11"/>
          <p:cNvSpPr txBox="1"/>
          <p:nvPr/>
        </p:nvSpPr>
        <p:spPr>
          <a:xfrm>
            <a:off x="4480559" y="2167128"/>
            <a:ext cx="3154680" cy="1143000"/>
          </a:xfrm>
          <a:prstGeom prst="rect">
            <a:avLst/>
          </a:prstGeom>
          <a:noFill/>
        </p:spPr>
        <p:txBody>
          <a:bodyPr wrap="square" anchor="t" lIns="45720" rIns="45720">
            <a:spAutoFit/>
          </a:bodyPr>
          <a:lstStyle/>
          <a:p>
            <a:pPr algn="l">
              <a:spcAft>
                <a:spcPts val="600"/>
              </a:spcAft>
            </a:pPr>
            <a:r>
              <a:rPr sz="1800" b="0">
                <a:solidFill>
                  <a:srgbClr val="52514E"/>
                </a:solidFill>
                <a:latin typeface="Calibri"/>
              </a:rPr>
              <a:t>ground and mobile sensors</a:t>
            </a:r>
          </a:p>
        </p:txBody>
      </p:sp>
      <p:sp>
        <p:nvSpPr>
          <p:cNvPr id="13" name="Rounded Rectangle 12"/>
          <p:cNvSpPr/>
          <p:nvPr/>
        </p:nvSpPr>
        <p:spPr>
          <a:xfrm>
            <a:off x="8046719" y="1600200"/>
            <a:ext cx="3520440" cy="178308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599" y="1737360"/>
            <a:ext cx="3154680" cy="411480"/>
          </a:xfrm>
          <a:prstGeom prst="rect">
            <a:avLst/>
          </a:prstGeom>
          <a:noFill/>
        </p:spPr>
        <p:txBody>
          <a:bodyPr wrap="square" anchor="t" lIns="45720" rIns="45720">
            <a:spAutoFit/>
          </a:bodyPr>
          <a:lstStyle/>
          <a:p>
            <a:pPr algn="l">
              <a:spcAft>
                <a:spcPts val="600"/>
              </a:spcAft>
            </a:pPr>
            <a:r>
              <a:rPr sz="2000" b="1">
                <a:solidFill>
                  <a:srgbClr val="0B0B0B"/>
                </a:solidFill>
                <a:latin typeface="Calibri"/>
              </a:rPr>
              <a:t>Before and after</a:t>
            </a:r>
          </a:p>
        </p:txBody>
      </p:sp>
      <p:sp>
        <p:nvSpPr>
          <p:cNvPr id="15" name="TextBox 14"/>
          <p:cNvSpPr txBox="1"/>
          <p:nvPr/>
        </p:nvSpPr>
        <p:spPr>
          <a:xfrm>
            <a:off x="8229599" y="2167128"/>
            <a:ext cx="3154680" cy="1143000"/>
          </a:xfrm>
          <a:prstGeom prst="rect">
            <a:avLst/>
          </a:prstGeom>
          <a:noFill/>
        </p:spPr>
        <p:txBody>
          <a:bodyPr wrap="square" anchor="t" lIns="45720" rIns="45720">
            <a:spAutoFit/>
          </a:bodyPr>
          <a:lstStyle/>
          <a:p>
            <a:pPr algn="l">
              <a:spcAft>
                <a:spcPts val="600"/>
              </a:spcAft>
            </a:pPr>
            <a:r>
              <a:rPr sz="1800" b="0">
                <a:solidFill>
                  <a:srgbClr val="52514E"/>
                </a:solidFill>
                <a:latin typeface="Calibri"/>
              </a:rPr>
              <a:t>multi-year land-cover change</a:t>
            </a:r>
          </a:p>
        </p:txBody>
      </p:sp>
      <p:sp>
        <p:nvSpPr>
          <p:cNvPr id="16" name="Rounded Rectangle 15"/>
          <p:cNvSpPr/>
          <p:nvPr/>
        </p:nvSpPr>
        <p:spPr>
          <a:xfrm>
            <a:off x="548640" y="3703320"/>
            <a:ext cx="3520440" cy="178308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3840480"/>
            <a:ext cx="3154680" cy="411480"/>
          </a:xfrm>
          <a:prstGeom prst="rect">
            <a:avLst/>
          </a:prstGeom>
          <a:noFill/>
        </p:spPr>
        <p:txBody>
          <a:bodyPr wrap="square" anchor="t" lIns="45720" rIns="45720">
            <a:spAutoFit/>
          </a:bodyPr>
          <a:lstStyle/>
          <a:p>
            <a:pPr algn="l">
              <a:spcAft>
                <a:spcPts val="600"/>
              </a:spcAft>
            </a:pPr>
            <a:r>
              <a:rPr sz="2000" b="1">
                <a:solidFill>
                  <a:srgbClr val="0B0B0B"/>
                </a:solidFill>
                <a:latin typeface="Calibri"/>
              </a:rPr>
              <a:t>Night and seasons</a:t>
            </a:r>
          </a:p>
        </p:txBody>
      </p:sp>
      <p:sp>
        <p:nvSpPr>
          <p:cNvPr id="18" name="TextBox 17"/>
          <p:cNvSpPr txBox="1"/>
          <p:nvPr/>
        </p:nvSpPr>
        <p:spPr>
          <a:xfrm>
            <a:off x="731520" y="4270248"/>
            <a:ext cx="3154680" cy="1143000"/>
          </a:xfrm>
          <a:prstGeom prst="rect">
            <a:avLst/>
          </a:prstGeom>
          <a:noFill/>
        </p:spPr>
        <p:txBody>
          <a:bodyPr wrap="square" anchor="t" lIns="45720" rIns="45720">
            <a:spAutoFit/>
          </a:bodyPr>
          <a:lstStyle/>
          <a:p>
            <a:pPr algn="l">
              <a:spcAft>
                <a:spcPts val="600"/>
              </a:spcAft>
            </a:pPr>
            <a:r>
              <a:rPr sz="1800" b="0">
                <a:solidFill>
                  <a:srgbClr val="52514E"/>
                </a:solidFill>
                <a:latin typeface="Calibri"/>
              </a:rPr>
              <a:t>where the island may flip</a:t>
            </a:r>
          </a:p>
        </p:txBody>
      </p:sp>
      <p:sp>
        <p:nvSpPr>
          <p:cNvPr id="19" name="Rounded Rectangle 18"/>
          <p:cNvSpPr/>
          <p:nvPr/>
        </p:nvSpPr>
        <p:spPr>
          <a:xfrm>
            <a:off x="4297679" y="3703320"/>
            <a:ext cx="3520440" cy="178308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80559" y="3840480"/>
            <a:ext cx="3154680" cy="411480"/>
          </a:xfrm>
          <a:prstGeom prst="rect">
            <a:avLst/>
          </a:prstGeom>
          <a:noFill/>
        </p:spPr>
        <p:txBody>
          <a:bodyPr wrap="square" anchor="t" lIns="45720" rIns="45720">
            <a:spAutoFit/>
          </a:bodyPr>
          <a:lstStyle/>
          <a:p>
            <a:pPr algn="l">
              <a:spcAft>
                <a:spcPts val="600"/>
              </a:spcAft>
            </a:pPr>
            <a:r>
              <a:rPr sz="2000" b="1">
                <a:solidFill>
                  <a:srgbClr val="0B0B0B"/>
                </a:solidFill>
                <a:latin typeface="Calibri"/>
              </a:rPr>
              <a:t>Nested spatial CV</a:t>
            </a:r>
          </a:p>
        </p:txBody>
      </p:sp>
      <p:sp>
        <p:nvSpPr>
          <p:cNvPr id="21" name="TextBox 20"/>
          <p:cNvSpPr txBox="1"/>
          <p:nvPr/>
        </p:nvSpPr>
        <p:spPr>
          <a:xfrm>
            <a:off x="4480559" y="4270248"/>
            <a:ext cx="3154680" cy="1143000"/>
          </a:xfrm>
          <a:prstGeom prst="rect">
            <a:avLst/>
          </a:prstGeom>
          <a:noFill/>
        </p:spPr>
        <p:txBody>
          <a:bodyPr wrap="square" anchor="t" lIns="45720" rIns="45720">
            <a:spAutoFit/>
          </a:bodyPr>
          <a:lstStyle/>
          <a:p>
            <a:pPr algn="l">
              <a:spcAft>
                <a:spcPts val="600"/>
              </a:spcAft>
            </a:pPr>
            <a:r>
              <a:rPr sz="1800" b="0">
                <a:solidFill>
                  <a:srgbClr val="52514E"/>
                </a:solidFill>
                <a:latin typeface="Calibri"/>
              </a:rPr>
              <a:t>remove tuning optimism</a:t>
            </a:r>
          </a:p>
        </p:txBody>
      </p:sp>
      <p:sp>
        <p:nvSpPr>
          <p:cNvPr id="22" name="Rounded Rectangle 21"/>
          <p:cNvSpPr/>
          <p:nvPr/>
        </p:nvSpPr>
        <p:spPr>
          <a:xfrm>
            <a:off x="8046719" y="3703320"/>
            <a:ext cx="3520440" cy="178308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599" y="3840480"/>
            <a:ext cx="3154680" cy="411480"/>
          </a:xfrm>
          <a:prstGeom prst="rect">
            <a:avLst/>
          </a:prstGeom>
          <a:noFill/>
        </p:spPr>
        <p:txBody>
          <a:bodyPr wrap="square" anchor="t" lIns="45720" rIns="45720">
            <a:spAutoFit/>
          </a:bodyPr>
          <a:lstStyle/>
          <a:p>
            <a:pPr algn="l">
              <a:spcAft>
                <a:spcPts val="600"/>
              </a:spcAft>
            </a:pPr>
            <a:r>
              <a:rPr sz="2000" b="1">
                <a:solidFill>
                  <a:srgbClr val="0B0B0B"/>
                </a:solidFill>
                <a:latin typeface="Calibri"/>
              </a:rPr>
              <a:t>Live scenarios</a:t>
            </a:r>
          </a:p>
        </p:txBody>
      </p:sp>
      <p:sp>
        <p:nvSpPr>
          <p:cNvPr id="24" name="TextBox 23"/>
          <p:cNvSpPr txBox="1"/>
          <p:nvPr/>
        </p:nvSpPr>
        <p:spPr>
          <a:xfrm>
            <a:off x="8229599" y="4270248"/>
            <a:ext cx="3154680" cy="1143000"/>
          </a:xfrm>
          <a:prstGeom prst="rect">
            <a:avLst/>
          </a:prstGeom>
          <a:noFill/>
        </p:spPr>
        <p:txBody>
          <a:bodyPr wrap="square" anchor="t" lIns="45720" rIns="45720">
            <a:spAutoFit/>
          </a:bodyPr>
          <a:lstStyle/>
          <a:p>
            <a:pPr algn="l">
              <a:spcAft>
                <a:spcPts val="600"/>
              </a:spcAft>
            </a:pPr>
            <a:r>
              <a:rPr sz="1800" b="0">
                <a:solidFill>
                  <a:srgbClr val="52514E"/>
                </a:solidFill>
                <a:latin typeface="Calibri"/>
              </a:rPr>
              <a:t>realistic bound in the dashboard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66928"/>
            <a:ext cx="11064240" cy="685800"/>
          </a:xfrm>
          <a:prstGeom prst="rect">
            <a:avLst/>
          </a:prstGeom>
          <a:noFill/>
        </p:spPr>
        <p:txBody>
          <a:bodyPr wrap="square" anchor="t" lIns="45720" rIns="45720">
            <a:spAutoFit/>
          </a:bodyPr>
          <a:lstStyle/>
          <a:p>
            <a:pPr algn="l">
              <a:spcAft>
                <a:spcPts val="600"/>
              </a:spcAft>
            </a:pPr>
            <a:r>
              <a:rPr sz="3000" b="1">
                <a:solidFill>
                  <a:srgbClr val="0B0B0B"/>
                </a:solidFill>
                <a:latin typeface="Calibri"/>
              </a:rPr>
              <a:t>Conclusion</a:t>
            </a:r>
          </a:p>
        </p:txBody>
      </p:sp>
      <p:sp>
        <p:nvSpPr>
          <p:cNvPr id="3" name="TextBox 2"/>
          <p:cNvSpPr txBox="1"/>
          <p:nvPr/>
        </p:nvSpPr>
        <p:spPr>
          <a:xfrm>
            <a:off x="566928" y="274320"/>
            <a:ext cx="7315200" cy="320040"/>
          </a:xfrm>
          <a:prstGeom prst="rect">
            <a:avLst/>
          </a:prstGeom>
          <a:noFill/>
        </p:spPr>
        <p:txBody>
          <a:bodyPr wrap="square" anchor="t" lIns="45720" rIns="45720">
            <a:spAutoFit/>
          </a:bodyPr>
          <a:lstStyle/>
          <a:p>
            <a:pPr algn="l">
              <a:spcAft>
                <a:spcPts val="600"/>
              </a:spcAft>
            </a:pPr>
            <a:r>
              <a:rPr sz="1200" b="1">
                <a:solidFill>
                  <a:srgbClr val="2A78D6"/>
                </a:solidFill>
                <a:latin typeface="Calibri"/>
              </a:rPr>
              <a:t>CONCLUSION</a:t>
            </a:r>
          </a:p>
        </p:txBody>
      </p:sp>
      <p:cxnSp>
        <p:nvCxnSpPr>
          <p:cNvPr id="4" name="Connector 3"/>
          <p:cNvCxnSpPr/>
          <p:nvPr/>
        </p:nvCxnSpPr>
        <p:spPr>
          <a:xfrm>
            <a:off x="548640" y="6382512"/>
            <a:ext cx="11094415"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428232"/>
            <a:ext cx="5486400" cy="274320"/>
          </a:xfrm>
          <a:prstGeom prst="rect">
            <a:avLst/>
          </a:prstGeom>
          <a:noFill/>
        </p:spPr>
        <p:txBody>
          <a:bodyPr wrap="square" anchor="t" lIns="45720" rIns="45720">
            <a:spAutoFit/>
          </a:bodyPr>
          <a:lstStyle/>
          <a:p>
            <a:pPr algn="l">
              <a:spcAft>
                <a:spcPts val="600"/>
              </a:spcAft>
            </a:pPr>
            <a:r>
              <a:rPr sz="1000" b="0">
                <a:solidFill>
                  <a:srgbClr val="898781"/>
                </a:solidFill>
                <a:latin typeface="Calibri"/>
              </a:rPr>
              <a:t>MirageAI · Concrete vs. Canopy</a:t>
            </a:r>
          </a:p>
        </p:txBody>
      </p:sp>
      <p:sp>
        <p:nvSpPr>
          <p:cNvPr id="6" name="TextBox 5"/>
          <p:cNvSpPr txBox="1"/>
          <p:nvPr/>
        </p:nvSpPr>
        <p:spPr>
          <a:xfrm>
            <a:off x="10607040" y="6428232"/>
            <a:ext cx="1097280" cy="274320"/>
          </a:xfrm>
          <a:prstGeom prst="rect">
            <a:avLst/>
          </a:prstGeom>
          <a:noFill/>
        </p:spPr>
        <p:txBody>
          <a:bodyPr wrap="square" anchor="t" lIns="45720" rIns="45720">
            <a:spAutoFit/>
          </a:bodyPr>
          <a:lstStyle/>
          <a:p>
            <a:pPr algn="r">
              <a:spcAft>
                <a:spcPts val="600"/>
              </a:spcAft>
            </a:pPr>
            <a:r>
              <a:rPr sz="1000" b="0">
                <a:solidFill>
                  <a:srgbClr val="898781"/>
                </a:solidFill>
                <a:latin typeface="Calibri"/>
              </a:rPr>
              <a:t>18 / 19</a:t>
            </a:r>
          </a:p>
        </p:txBody>
      </p:sp>
      <p:sp>
        <p:nvSpPr>
          <p:cNvPr id="7" name="Rounded Rectangle 6"/>
          <p:cNvSpPr/>
          <p:nvPr/>
        </p:nvSpPr>
        <p:spPr>
          <a:xfrm>
            <a:off x="548640" y="1508760"/>
            <a:ext cx="3520440" cy="141732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00200"/>
            <a:ext cx="3200400" cy="476250"/>
          </a:xfrm>
          <a:prstGeom prst="rect">
            <a:avLst/>
          </a:prstGeom>
          <a:noFill/>
        </p:spPr>
        <p:txBody>
          <a:bodyPr wrap="square" anchor="t" lIns="45720" rIns="45720">
            <a:spAutoFit/>
          </a:bodyPr>
          <a:lstStyle/>
          <a:p>
            <a:pPr algn="l">
              <a:spcAft>
                <a:spcPts val="600"/>
              </a:spcAft>
            </a:pPr>
            <a:r>
              <a:rPr sz="3000" b="1">
                <a:solidFill>
                  <a:srgbClr val="2A78D6"/>
                </a:solidFill>
                <a:latin typeface="Calibri"/>
              </a:rPr>
              <a:t>1.75 °C</a:t>
            </a:r>
          </a:p>
        </p:txBody>
      </p:sp>
      <p:sp>
        <p:nvSpPr>
          <p:cNvPr id="9" name="TextBox 8"/>
          <p:cNvSpPr txBox="1"/>
          <p:nvPr/>
        </p:nvSpPr>
        <p:spPr>
          <a:xfrm>
            <a:off x="731520" y="2076450"/>
            <a:ext cx="3200400" cy="822960"/>
          </a:xfrm>
          <a:prstGeom prst="rect">
            <a:avLst/>
          </a:prstGeom>
          <a:noFill/>
        </p:spPr>
        <p:txBody>
          <a:bodyPr wrap="square" anchor="t" lIns="45720" rIns="45720">
            <a:spAutoFit/>
          </a:bodyPr>
          <a:lstStyle/>
          <a:p>
            <a:pPr algn="l">
              <a:spcAft>
                <a:spcPts val="600"/>
              </a:spcAft>
            </a:pPr>
            <a:r>
              <a:rPr sz="1500" b="0">
                <a:solidFill>
                  <a:srgbClr val="52514E"/>
                </a:solidFill>
                <a:latin typeface="Calibri"/>
              </a:rPr>
              <a:t>RMSE, unseen places and year</a:t>
            </a:r>
          </a:p>
        </p:txBody>
      </p:sp>
      <p:sp>
        <p:nvSpPr>
          <p:cNvPr id="10" name="Rounded Rectangle 9"/>
          <p:cNvSpPr/>
          <p:nvPr/>
        </p:nvSpPr>
        <p:spPr>
          <a:xfrm>
            <a:off x="4297679" y="1508760"/>
            <a:ext cx="3520440" cy="141732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59" y="1600200"/>
            <a:ext cx="3200400" cy="476250"/>
          </a:xfrm>
          <a:prstGeom prst="rect">
            <a:avLst/>
          </a:prstGeom>
          <a:noFill/>
        </p:spPr>
        <p:txBody>
          <a:bodyPr wrap="square" anchor="t" lIns="45720" rIns="45720">
            <a:spAutoFit/>
          </a:bodyPr>
          <a:lstStyle/>
          <a:p>
            <a:pPr algn="l">
              <a:spcAft>
                <a:spcPts val="600"/>
              </a:spcAft>
            </a:pPr>
            <a:r>
              <a:rPr sz="3000" b="1">
                <a:solidFill>
                  <a:srgbClr val="2A78D6"/>
                </a:solidFill>
                <a:latin typeface="Calibri"/>
              </a:rPr>
              <a:t>R² 0.72</a:t>
            </a:r>
          </a:p>
        </p:txBody>
      </p:sp>
      <p:sp>
        <p:nvSpPr>
          <p:cNvPr id="12" name="TextBox 11"/>
          <p:cNvSpPr txBox="1"/>
          <p:nvPr/>
        </p:nvSpPr>
        <p:spPr>
          <a:xfrm>
            <a:off x="4480559" y="2076450"/>
            <a:ext cx="3200400" cy="822960"/>
          </a:xfrm>
          <a:prstGeom prst="rect">
            <a:avLst/>
          </a:prstGeom>
          <a:noFill/>
        </p:spPr>
        <p:txBody>
          <a:bodyPr wrap="square" anchor="t" lIns="45720" rIns="45720">
            <a:spAutoFit/>
          </a:bodyPr>
          <a:lstStyle/>
          <a:p>
            <a:pPr algn="l">
              <a:spcAft>
                <a:spcPts val="600"/>
              </a:spcAft>
            </a:pPr>
            <a:r>
              <a:rPr sz="1500" b="0">
                <a:solidFill>
                  <a:srgbClr val="52514E"/>
                </a:solidFill>
                <a:latin typeface="Calibri"/>
              </a:rPr>
              <a:t>on the 2025 test</a:t>
            </a:r>
          </a:p>
        </p:txBody>
      </p:sp>
      <p:sp>
        <p:nvSpPr>
          <p:cNvPr id="13" name="Rounded Rectangle 12"/>
          <p:cNvSpPr/>
          <p:nvPr/>
        </p:nvSpPr>
        <p:spPr>
          <a:xfrm>
            <a:off x="8046719" y="1508760"/>
            <a:ext cx="3520440" cy="141732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0" y="1600200"/>
            <a:ext cx="3200400" cy="476250"/>
          </a:xfrm>
          <a:prstGeom prst="rect">
            <a:avLst/>
          </a:prstGeom>
          <a:noFill/>
        </p:spPr>
        <p:txBody>
          <a:bodyPr wrap="square" anchor="t" lIns="45720" rIns="45720">
            <a:spAutoFit/>
          </a:bodyPr>
          <a:lstStyle/>
          <a:p>
            <a:pPr algn="l">
              <a:spcAft>
                <a:spcPts val="600"/>
              </a:spcAft>
            </a:pPr>
            <a:r>
              <a:rPr sz="3000" b="1">
                <a:solidFill>
                  <a:srgbClr val="2A78D6"/>
                </a:solidFill>
                <a:latin typeface="Calibri"/>
              </a:rPr>
              <a:t>0.4–1.0 °C</a:t>
            </a:r>
          </a:p>
        </p:txBody>
      </p:sp>
      <p:sp>
        <p:nvSpPr>
          <p:cNvPr id="15" name="TextBox 14"/>
          <p:cNvSpPr txBox="1"/>
          <p:nvPr/>
        </p:nvSpPr>
        <p:spPr>
          <a:xfrm>
            <a:off x="8229600" y="2076450"/>
            <a:ext cx="3200400" cy="822960"/>
          </a:xfrm>
          <a:prstGeom prst="rect">
            <a:avLst/>
          </a:prstGeom>
          <a:noFill/>
        </p:spPr>
        <p:txBody>
          <a:bodyPr wrap="square" anchor="t" lIns="45720" rIns="45720">
            <a:spAutoFit/>
          </a:bodyPr>
          <a:lstStyle/>
          <a:p>
            <a:pPr algn="l">
              <a:spcAft>
                <a:spcPts val="600"/>
              </a:spcAft>
            </a:pPr>
            <a:r>
              <a:rPr sz="1500" b="0">
                <a:solidFill>
                  <a:srgbClr val="52514E"/>
                </a:solidFill>
                <a:latin typeface="Calibri"/>
              </a:rPr>
              <a:t>cooler at ~10% canopy</a:t>
            </a:r>
          </a:p>
        </p:txBody>
      </p:sp>
      <p:sp>
        <p:nvSpPr>
          <p:cNvPr id="16" name="Rectangle 15"/>
          <p:cNvSpPr/>
          <p:nvPr/>
        </p:nvSpPr>
        <p:spPr>
          <a:xfrm>
            <a:off x="548640" y="3246120"/>
            <a:ext cx="73152" cy="265176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3200400"/>
            <a:ext cx="10698480" cy="2834640"/>
          </a:xfrm>
          <a:prstGeom prst="rect">
            <a:avLst/>
          </a:prstGeom>
          <a:noFill/>
        </p:spPr>
        <p:txBody>
          <a:bodyPr wrap="square" anchor="t" lIns="45720" rIns="45720">
            <a:spAutoFit/>
          </a:bodyPr>
          <a:lstStyle/>
          <a:p>
            <a:pPr algn="l">
              <a:spcAft>
                <a:spcPts val="0"/>
              </a:spcAft>
            </a:pPr>
            <a:r>
              <a:rPr sz="2200" b="0">
                <a:solidFill>
                  <a:srgbClr val="0B0B0B"/>
                </a:solidFill>
                <a:latin typeface="Calibri"/>
              </a:rPr>
              <a:t>Pune's hottest urban surfaces are tree-sparse fringe developments, mostly on the eastern edge. In these data, raising them to ~10% tree cover is associated with ~0.4–1.0 °C cooler daytime surfaces, with gains per point roughly halving beyond ~10–12% cover. These are cross-sectional associations, not measured effects of planting.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4325C"/>
        </a:solidFill>
        <a:effectLst/>
      </p:bgPr>
    </p:bg>
    <p:spTree>
      <p:nvGrpSpPr>
        <p:cNvPr id="1" name=""/>
        <p:cNvGrpSpPr/>
        <p:nvPr/>
      </p:nvGrpSpPr>
      <p:grpSpPr/>
      <p:sp>
        <p:nvSpPr>
          <p:cNvPr id="2" name="TextBox 1"/>
          <p:cNvSpPr txBox="1"/>
          <p:nvPr/>
        </p:nvSpPr>
        <p:spPr>
          <a:xfrm>
            <a:off x="548640" y="1097280"/>
            <a:ext cx="11064240" cy="1188720"/>
          </a:xfrm>
          <a:prstGeom prst="rect">
            <a:avLst/>
          </a:prstGeom>
          <a:noFill/>
        </p:spPr>
        <p:txBody>
          <a:bodyPr wrap="square" anchor="t" lIns="45720" rIns="45720">
            <a:spAutoFit/>
          </a:bodyPr>
          <a:lstStyle/>
          <a:p>
            <a:pPr algn="l">
              <a:spcAft>
                <a:spcPts val="600"/>
              </a:spcAft>
            </a:pPr>
            <a:r>
              <a:rPr sz="6000" b="1">
                <a:solidFill>
                  <a:srgbClr val="FFFFFF"/>
                </a:solidFill>
                <a:latin typeface="Calibri"/>
              </a:rPr>
              <a:t>Thank you</a:t>
            </a:r>
          </a:p>
        </p:txBody>
      </p:sp>
      <p:cxnSp>
        <p:nvCxnSpPr>
          <p:cNvPr id="3" name="Connector 2"/>
          <p:cNvCxnSpPr/>
          <p:nvPr/>
        </p:nvCxnSpPr>
        <p:spPr>
          <a:xfrm>
            <a:off x="548640" y="6382512"/>
            <a:ext cx="11094415"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02920" y="6428232"/>
            <a:ext cx="5486400" cy="274320"/>
          </a:xfrm>
          <a:prstGeom prst="rect">
            <a:avLst/>
          </a:prstGeom>
          <a:noFill/>
        </p:spPr>
        <p:txBody>
          <a:bodyPr wrap="square" anchor="t" lIns="45720" rIns="45720">
            <a:spAutoFit/>
          </a:bodyPr>
          <a:lstStyle/>
          <a:p>
            <a:pPr algn="l">
              <a:spcAft>
                <a:spcPts val="600"/>
              </a:spcAft>
            </a:pPr>
            <a:r>
              <a:rPr sz="1000" b="0">
                <a:solidFill>
                  <a:srgbClr val="898781"/>
                </a:solidFill>
                <a:latin typeface="Calibri"/>
              </a:rPr>
              <a:t>MirageAI · Concrete vs. Canopy</a:t>
            </a:r>
          </a:p>
        </p:txBody>
      </p:sp>
      <p:sp>
        <p:nvSpPr>
          <p:cNvPr id="5" name="TextBox 4"/>
          <p:cNvSpPr txBox="1"/>
          <p:nvPr/>
        </p:nvSpPr>
        <p:spPr>
          <a:xfrm>
            <a:off x="10607040" y="6428232"/>
            <a:ext cx="1097280" cy="274320"/>
          </a:xfrm>
          <a:prstGeom prst="rect">
            <a:avLst/>
          </a:prstGeom>
          <a:noFill/>
        </p:spPr>
        <p:txBody>
          <a:bodyPr wrap="square" anchor="t" lIns="45720" rIns="45720">
            <a:spAutoFit/>
          </a:bodyPr>
          <a:lstStyle/>
          <a:p>
            <a:pPr algn="r">
              <a:spcAft>
                <a:spcPts val="600"/>
              </a:spcAft>
            </a:pPr>
            <a:r>
              <a:rPr sz="1000" b="0">
                <a:solidFill>
                  <a:srgbClr val="898781"/>
                </a:solidFill>
                <a:latin typeface="Calibri"/>
              </a:rPr>
              <a:t>19 / 19</a:t>
            </a:r>
          </a:p>
        </p:txBody>
      </p:sp>
      <p:sp>
        <p:nvSpPr>
          <p:cNvPr id="6" name="TextBox 5"/>
          <p:cNvSpPr txBox="1"/>
          <p:nvPr/>
        </p:nvSpPr>
        <p:spPr>
          <a:xfrm>
            <a:off x="548640" y="2331720"/>
            <a:ext cx="11064240" cy="822960"/>
          </a:xfrm>
          <a:prstGeom prst="rect">
            <a:avLst/>
          </a:prstGeom>
          <a:noFill/>
        </p:spPr>
        <p:txBody>
          <a:bodyPr wrap="square" anchor="t" lIns="45720" rIns="45720">
            <a:spAutoFit/>
          </a:bodyPr>
          <a:lstStyle/>
          <a:p>
            <a:pPr algn="l">
              <a:spcAft>
                <a:spcPts val="600"/>
              </a:spcAft>
            </a:pPr>
            <a:r>
              <a:rPr sz="3400" b="1">
                <a:solidFill>
                  <a:srgbClr val="2A78D6"/>
                </a:solidFill>
                <a:latin typeface="Calibri"/>
              </a:rPr>
              <a:t>Questions?</a:t>
            </a:r>
          </a:p>
        </p:txBody>
      </p:sp>
      <p:sp>
        <p:nvSpPr>
          <p:cNvPr id="7" name="TextBox 6"/>
          <p:cNvSpPr txBox="1"/>
          <p:nvPr/>
        </p:nvSpPr>
        <p:spPr>
          <a:xfrm>
            <a:off x="548640" y="3429000"/>
            <a:ext cx="11064240" cy="1188720"/>
          </a:xfrm>
          <a:prstGeom prst="rect">
            <a:avLst/>
          </a:prstGeom>
          <a:noFill/>
        </p:spPr>
        <p:txBody>
          <a:bodyPr wrap="square" anchor="t" lIns="45720" rIns="45720">
            <a:spAutoFit/>
          </a:bodyPr>
          <a:lstStyle/>
          <a:p>
            <a:pPr algn="l">
              <a:spcAft>
                <a:spcPts val="600"/>
              </a:spcAft>
            </a:pPr>
            <a:r>
              <a:rPr sz="2200" b="0">
                <a:solidFill>
                  <a:srgbClr val="FFFFFF"/>
                </a:solidFill>
                <a:latin typeface="Calibri"/>
              </a:rPr>
              <a:t>Shourya Tiwari · Shashwat Kumar</a:t>
            </a:r>
          </a:p>
          <a:p>
            <a:pPr algn="l">
              <a:spcAft>
                <a:spcPts val="600"/>
              </a:spcAft>
            </a:pPr>
            <a:r>
              <a:rPr sz="2200" b="0">
                <a:solidFill>
                  <a:srgbClr val="FFFFFF"/>
                </a:solidFill>
                <a:latin typeface="Calibri"/>
              </a:rPr>
              <a:t>Rishik Sinha · Shubhankar Bhan</a:t>
            </a:r>
          </a:p>
        </p:txBody>
      </p:sp>
      <p:sp>
        <p:nvSpPr>
          <p:cNvPr id="8" name="TextBox 7"/>
          <p:cNvSpPr txBox="1"/>
          <p:nvPr/>
        </p:nvSpPr>
        <p:spPr>
          <a:xfrm>
            <a:off x="548640" y="4572000"/>
            <a:ext cx="11064240" cy="822960"/>
          </a:xfrm>
          <a:prstGeom prst="rect">
            <a:avLst/>
          </a:prstGeom>
          <a:noFill/>
        </p:spPr>
        <p:txBody>
          <a:bodyPr wrap="square" anchor="t" lIns="45720" rIns="45720">
            <a:spAutoFit/>
          </a:bodyPr>
          <a:lstStyle/>
          <a:p>
            <a:pPr algn="l">
              <a:spcAft>
                <a:spcPts val="200"/>
              </a:spcAft>
            </a:pPr>
            <a:r>
              <a:rPr sz="1500" b="0">
                <a:solidFill>
                  <a:srgbClr val="C9D6EA"/>
                </a:solidFill>
                <a:latin typeface="Calibri"/>
              </a:rPr>
              <a:t>Symbiosis Institute of Technology, Pune</a:t>
            </a:r>
          </a:p>
          <a:p>
            <a:pPr algn="l">
              <a:spcAft>
                <a:spcPts val="200"/>
              </a:spcAft>
            </a:pPr>
            <a:r>
              <a:rPr sz="1500" b="0">
                <a:solidFill>
                  <a:srgbClr val="C9D6EA"/>
                </a:solidFill>
                <a:latin typeface="Calibri"/>
              </a:rPr>
              <a:t>Applications and Use Cases of Machine Learning (TE7483)</a:t>
            </a:r>
          </a:p>
        </p:txBody>
      </p:sp>
      <p:sp>
        <p:nvSpPr>
          <p:cNvPr id="9" name="TextBox 8"/>
          <p:cNvSpPr txBox="1"/>
          <p:nvPr/>
        </p:nvSpPr>
        <p:spPr>
          <a:xfrm>
            <a:off x="548640" y="5486400"/>
            <a:ext cx="11064240" cy="457200"/>
          </a:xfrm>
          <a:prstGeom prst="rect">
            <a:avLst/>
          </a:prstGeom>
          <a:noFill/>
        </p:spPr>
        <p:txBody>
          <a:bodyPr wrap="square" anchor="t" lIns="45720" rIns="45720">
            <a:spAutoFit/>
          </a:bodyPr>
          <a:lstStyle/>
          <a:p>
            <a:pPr algn="l">
              <a:spcAft>
                <a:spcPts val="600"/>
              </a:spcAft>
            </a:pPr>
            <a:r>
              <a:rPr sz="1500" b="0">
                <a:solidFill>
                  <a:srgbClr val="C9D6EA"/>
                </a:solidFill>
                <a:latin typeface="Calibri"/>
              </a:rPr>
              <a:t>Report · slides · dashboard · code: MirageAI repository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Concrete vs. Canopy: Explainable Machine Learning for Urban Heat Island Drivers in Pune</dc:title>
  <dc:subject>MirageAI · TE7483 case study, Symbiosis Institute of Technology, Pune</dc:subject>
  <dc:creator>Shourya Tiwari; Shashwat Kumar; Rishik Sinha; Shubhankar Bhan</dc:creator>
  <cp:keywords>urban heat island; land surface temperature; spatial cross-validation; SHAP</cp:keywords>
  <dc:description/>
  <cp:lastModifiedBy>Shourya Tiwari; Shashwat Kumar; Rishik Sinha; Shubhankar Bhan</cp:lastModifiedBy>
  <cp:revision>1</cp:revision>
  <dcterms:created xsi:type="dcterms:W3CDTF">2013-01-27T09:14:16Z</dcterms:created>
  <dcterms:modified xsi:type="dcterms:W3CDTF">2013-01-27T09:15:58Z</dcterms:modified>
  <cp:category/>
</cp:coreProperties>
</file>