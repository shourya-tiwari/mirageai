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 are Shourya Tiwari, Shashwat Kumar, Rishik Sinha and Shubhankar Bhan, and this is our case study for Applications and Use Cases of Machine Learning at Symbiosis Institute of Technology, Pune. The project is called MirageAI, and the subtitle is Concrete versus Canopy: explainable machine learning for urban heat island drivers in Pune. Let me start with the picture on the right. This is a satellite map of daytime land surface temperature over Pune and Pimpri-Chinchwad, for the pre-monsoon months of March to May 2024, on a grid of one-hundred-metre cells. Bright yellow is hot, dark purple is cool. The dark lines are the rivers and the dark patches in the corner are reservoirs. Most people expect a city to look like a hot island in a cool countryside. That is the textbook urban heat island, and it is why we named the project MirageAI. When we looked at the data, the expected hot core turned out to be a mirage: in the daytime, Pune's dense core is cooler than its dry surroundings. So the question is no longer "is the city hot?", but "which surfaces are hot, why, and what would actually cool them?" Our overall goal has three parts. First, predict how much hotter or cooler each hundred-metre cell is than the city as a whole, using only open satellite data. Second, explain those predictions, so a planner can see which factors push a place up or down. Third, use the trained model to run simple greening scenarios: if we add trees to the hottest urban cells, how much cooler are similar places? Two principles run through the whole talk. One: we evaluate the model honestly, on places and a year it has never seen, because ordinary random testing flatters spatial models. Two: every result is an association learnt from comparing places, not a proof of cause and effect. We will come back to both. The talk has sixteen slides. We start with the problem and our research questions, then the data and how we prepared it, then the models, the validation design, the results, explainability with SHAP, the greening scenarios, and finally applications, limitations and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begin with the basic idea. An urban heat island is a part of a city that is hotter than its surroundings. It happens because we replace soil, grass and trees with roofs, roads and paving. These surfaces absorb sunlight and store heat, and they have little or no water to evaporate. Vegetation, by contrast, cools itself the way we sweat: through evapotranspiration, it uses solar energy to turn water into vapour instead of warming the surface. Trees also shade the ground. There are two kinds of heat island. The air-temperature heat island is what people feel. The surface heat island is the skin temperature of the ground and roofs, which satellites measure with thermal-infrared sensors. Our project works with the surface version, called land surface temperature, or LST. Why Pune? Pune and Pimpri-Chinchwad are among the fastest-growing urban areas in India. Built-up land keeps spreading outward into what used to be farmland, grassland and scrub. In the pre-monsoon months, the city-wide median surface temperature in our data is above forty-four degrees Celsius. Heat stresses health, raises electricity demand for cooling, and hits outdoor workers hardest. Indian cities are now writing heat action plans, and the practical question in those plans is: where would greening cool the most? Here is the twist on the right of the slide. In daytime Pune, land cells within five kilometres of the centre are 3.4 to 4.0 °C cooler than the outer ring beyond twelve kilometres, in every one of our three years. So if a planner assumes a hot core, they may plant trees in the wrong places. Why is previous work not enough? Many studies correlate temperature with one index, like NDVI, or fit a linear model, which cannot capture thresholds or interactions. And most machine-learning studies test their models on randomly chosen pixels. Neighbouring pixels are nearly identical, so the model is tested on near-copies of its training data, and the accuracy looks better than it really is. That is why explainable AI matters here. A planner will not act on a black box. They need to know why a place is hot, which factors matter, and by roughly how much, and they need to trust that the explanation is stable. So our problem is: predict surface heat accurately in places the model has never seen, explain it, and turn it into actionable, honest guidance.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out what we promised to deliver. On the left are five objectives; on the right are five research questions, each of which gets a measured answer by the end of the talk. Objective one is prediction: estimate each cell's land surface temperature anomaly, meaning how much hotter or cooler it is than that year's city-wide median, from satellite-derived features alone. Objective two is to identify the drivers: which kinds of surface go with heat, and which with cooling. Objective three is scientific reliability. Spatial data break the usual machine-learning assumption that samples are independent, so we need a validation design that respects geography. Objective four is explanation: every prediction should be decomposable into feature contributions, using SHAP. Objective five is decision support: use the model to simulate greening and give planners a range, not a single over-confident number. Now the research questions. RQ1 asks whether satellite variables can accurately predict LST anomalies across Pune. Accuracy here means accuracy in unseen places and an unseen year, not on neighbours of the training data. RQ2 asks which environmental factors contribute most: vegetation, dryness, moisture, land cover or terrain. This is the "concrete versus canopy" question in our title. RQ3 compares spatial block cross-validation with a conventional random train-test split. This matters because if random testing overstates accuracy, the whole literature that relies on it is affected, and it could even change which model we pick. RQ4 asks whether SHAP can interpret the model reliably. An explanation is only useful if it is stable, so we check it across two different models and two SHAP methods, and we look at where it is not stable. RQ5 asks whether counterfactual, or what-if, simulations can estimate the cooling associated with more urban vegetation. Here we must be careful: the model learns associations between places, so a simulation says how much cooler similar places with more trees are, not a guaranteed effect of planting. Each research question maps to a part of the pipeline: RQ1 and RQ3 to evaluation, RQ2 and RQ4 to explainability, and RQ5 to the scenario analysis. With that, let us look at the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four open datasets, all accessed through Google Earth Engine, which lets us process years of satellite imagery in the cloud without downloading raw scenes. The study area is a box over Pune and Pimpri-Chinchwad, and the period is the pre-monsoon season, March to May, of 2023, 2024 and 2025. We chose pre-monsoon because skies are clear and surface heat peaks, so the signal is strong and few images are lost to cloud. The first dataset is Landsat 8 and 9, Collection 2 Level 2. Their thermal sensor measures emitted infrared radiation, from which the surface temperature product is derived. This is our target, the thing we predict. The thermal sensor's native resolution is about one hundred metres, which is why our whole grid is one hundred metres. The second is Sentinel-2 surface reflectance, at ten to twenty metres. Reflectance in the red, near- infrared, green and short-wave infrared bands gives us three spectral indices: NDVI for greenness, NDBI, which turned out to measure dryness, and MNDWI for moisture. The map on the left is NDVI for 2024: green is vegetated, and you can see the river corridors and the green hills. The third is ESA WorldCover 2021, a global land-cover map at ten metres. Each ten-metre pixel has a class such as tree, grass, crop, built-up or water. We turn these into fractions: what share of each hundred-metre cell is trees, what share is built-up, and so on. We also compute distance to water from it. The fourth is the SRTM digital elevation model at thirty metres, which gives elevation and slope. Pune has hills, and higher, steeper, drier slopes behave differently from the river plain. Why combine four sources? Because no single sensor sees all the drivers. Landsat sees heat but not why. Sentinel-2 sees the current state of vegetation and moisture. WorldCover sees what the surface is made of, and SRTM sees the shape of the land. Together they give 13 features per cell, for 81,084 land cells per year, which is 243,252 cell-years in total. One important rule: the target comes only from Landsat, and no feature is derived from it, so there is no target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satellite images cannot go straight into a model. They come from different sensors, in different resolutions, with clouds and gaps. This slide walks through the six preprocessing steps in order. Step one, projection. Satellite products arrive in latitude and longitude, where a degree is not a fixed distance. We reproject everything to UTM zone 43 North, code EPSG 32643, where units are metres. That makes areas, slopes, distances and our four-kilometre blocks exact. Step two, resampling. Our sources are ten, twenty and thirty metres. We first take a seasonal median of each pixel over March to May, which removes passing clouds and odd days. Then we aggregate to one hundred metres with an area-weighted mean, so each cell is the average of the finer pixels inside it. For land cover, we first convert each class to a zero-or-one mask and then average, so the result is the fraction of the cell in that class. Step three, the one-hundred-metre grid itself, which matches the Landsat thermal sensor. Modelling at thirty metres would pretend to detail the target does not have. Each cell gets a stable identifier computed from its coordinates, so the same cell in 2023, 2024 and 2025 always falls in the same block. Step four, the water mask. Cells that are at least half water, the reservoirs and wide river reaches, are removed: 899 cells per year, 2,697 of 245,949 rows, none of them urban. Water temperature is governed by thermal inertia, not land-surface drivers, and water is not something a planner can change. Step five, missing values. Landsat and Sentinel-2 come with quality flags; we mask cloud, cirrus and cloud-shadow pixels and skip scenes over thirty percent cloud. Masked pixels get an explicit no-data value of minus 9999, so a gap can never be mistaken for a real zero. We require at least 3 clear observations per cell. Thanks to the clear pre-monsoon season, no cell failed that check. Step six, the target. Absolute temperature shifts between years with weather and the timing of the overpass, and nothing in our features knows the year. So we model the anomaly: each cell's LST minus that year's city-wide median. A positive value means hotter than typical, negative means cooler.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engineering means turning raw measurements into inputs that carry meaning for the problem. A model given raw reflectance in twelve bands has to discover vegetation by itself. A model given NDVI starts from a quantity that physically means greenness. Good features make models more accurate, easier to explain, and more robust in new places. We built 13 features in three families. First, spectral indices from Sentinel-2. Each one is a normalised difference of two bands, a ratio between minus one and plus one. NDVI compares near-infrared and red: healthy leaves reflect strongly in near-infrared and absorb red, so high NDVI means dense, green vegetation. NDBI compares short-wave infrared and near-infrared. It was designed to highlight built-up land, but as we will see on the next slide, in Pune it behaves as a dryness index. MNDWI compares green and short-wave infrared and responds to water and moisture, so we call it the moisture index. Second, land-cover fractions from WorldCover: the share of each cell that is trees, grass, crops, water, bare land, shrubs and built-up. Fractions are better than a single class label, because a cell that is sixty percent built and forty percent trees is very different from one that is one hundred percent built. The seven fractions sum to one. That creates perfect collinearity for linear regression, so for the linear model only, we drop the built-up fraction as the reference category. The tree models keep all seven, otherwise SHAP could never attribute anything to concrete. Third, terrain: elevation and slope from SRTM, and distance to the nearest water body in metres, which captures the cooling influence of rivers and reservoirs. Just as important is what we left out. Coordinates, latitude, longitude, easting and northing, are never features. If they were, the model could memorise that a certain location is hot without learning why, and its explanations would say "it is hot because of where it is", which is useless to a planner. The code asserts this rule, along with excluding the year and the observation 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training any model, we looked hard at the data. Exploratory analysis tells us what relationships exist, which assumptions are wrong, and which features might cause trouble. The left panel is the correlation matrix of all features and the target, pooled over the three years. Red is positive, blue negative. Look at the last row, the LST anomaly. The strongest positive correlations are NDBI at +0.63 and grass fraction at +0.59: dry grassland is the hottest surface in Pune. The strongest negative ones are tree fraction at −0.49 and NDVI at −0.44: vegetation goes with cooler surfaces. And surprisingly, built-up fraction is negative, −0.19. More concrete goes with slightly cooler daytime surfaces. The feature histograms, bottom right, show the shape of each variable. The land-cover fractions are zero-inflated: most cells have none of a given class, with a spike at zero and sometimes at one. The indices are roughly bell-shaped. These shapes favour tree models, which split on thresholds and do not assume normality. The scatter-style panels, top right, bin cells by their built-up fraction. On the left, mean temperature anomaly falls as built-up share rises: the least-built cells run 2.1 °C warmer than cells that are eighty to ninety percent built, in all three years. On the right is the important discovery. NDBI, the so-called built-up index, is highest in the least-built cells. Why? Because NDBI responds to short-wave infrared, which is high for dry grass, fallow fields and bare soil. So in Pune, NDBI behaves more like a dryness indicator than a pure built-up indicator, and we call it that throughout. We also checked multicollinearity with the variance inflation factor, or VIF. A VIF above ten means a feature is largely predictable from the others. With built-up dropped, the median VIF is 2.2, but the three indices are high: NDVI 29.8, MNDWI 18.8 and NDBI 18.4. They overlap, so in the linear model their individual coefficients are unstable, and when we explain the tree models we rank them together as one spectral group.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five models, from the simplest possible to state-of-the-art gradient boosting, all trained and tested on exactly the same folds, so the comparison is fair. The mean baseline is not really a model. It predicts the training-set average for every cell. Its job is to set the floor: any useful model must beat it clearly. Because our target is an anomaly around zero, the baseline's error is simply the spread of the data. Linear regression predicts the target as a weighted sum of the features, plus a constant. It is fast and easy to read: each coefficient says how much the prediction changes per unit of a feature. But it assumes straight-line, additive effects. It cannot learn that tree cover helps a lot at first and then levels off, or that dryness matters more on slopes. We standardise features inside each training fold, so test data never leaks into the scaling. Linear regression represents the status quo in many heat island studies. Random Forest builds hundreds of decision trees. Each tree is grown on a bootstrap sample of the rows and considers random subsets of features at each split, so the trees are different from each other. The forest averages them. Averaging reduces variance, so the forest is robust and captures nonlinearity and interactions automatically. This idea is called bagging. XGBoost and LightGBM use the other big idea, boosting. Instead of independent trees, they add small trees one at a time, and each new tree is fitted to the errors left by the trees so far, with a small learning rate so the model improves gradually. XGBoost grows each tree level by level, depth-wise. LightGBM grows leaf-wise, always splitting the leaf that reduces error most, and it bins feature values into histograms, which makes it very fast on our quarter of a million rows. All hyperparameters were tuned by randomised search, 25 candidate settings per model, scored inside the 4-kilometre spatial folds, on 2023 and 2024 only, using a 60,000-row sample. So the 2025 test year never influenced a single setting, and no tuning choice saw its own test blocks.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methodological heart of the project, so let me build it up carefully. Machine-learning evaluation assumes the test data are independent of the training data. Geographic data break that assumption. Tobler's first law of geography says near things are more related than distant things. Two neighbouring hundred-metre cells usually have almost the same land cover, vegetation and temperature. In statistics this is called spatial autocorrelation. Now look at the left diagram, a random split. We pick cells at random for testing, shown in blue. Almost every test cell has training cells right next to it. A flexible model can effectively look up the answer from a neighbour it has already seen. This is spatial leakage, and it makes accuracy look better than it will be in a genuinely new place. The right diagram is spatial block cross-validation. We divide the city into square blocks and hold out whole blocks at once. Now the test cells are surrounded by other test cells, and the model must predict from what a place is like, not from what its neighbours were. This is the honest question a planner asks: how good is the model in a neighbourhood it has not seen? How big should a block be? Big enough that the remaining errors are no longer correlated across its edge. We fitted a variogram to the model's residuals, and the correlation range came out at about 3,950 metres, so we use 4-kilometre blocks. Blocks are dealt to 5 folds at random, repeated over 5 seeds, so every score is a mean of 25 runs. We add a spatio-temporal test, too: train on 2023 and 2024, test on 2025 in unseen blocks. What did it show? Moving from random to 4-kilometre blocks, linear regression's error rises by only 0.02 °C, but the tree models rise by 0.12 to 0.15 °C. The more flexible a model, the more random splitting flatters it, so random testing does not just inflate scores, it can change which model looks best. To be precise, spatial CV does not make the model better. It measures generalisation to new places honestly, which is what lets us trust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numbers. The main metric is RMSE, root mean squared error, in degrees Celsius: roughly, the typical size of a prediction error, with large errors penalised more. Lower is better. R squared is the share of the variation in the target that the model explains; one is perfect and zero is no better than the mean. Read the table column by column. Under random cross-validation, XGBoost looks best at 1.59 °C. That is the number many studies would publish. Under 4-kilometre spatial blocks, everything gets worse, and the three tree models are tied between 1.75 and 1.76 °C, well inside their fold-to-fold spread. So the random-CV winner was partly an artefact of leakage. The last two columns are the toughest test: 2025, a year no model saw during training or tuning, in blocks it never saw. LightGBM scores 1.75 °C with R squared 0.72. Random Forest and XGBoost are within a few thousandths of a degree, so honestly it is a tie, not a decisive win. Compare with the floor. The mean baseline's error is about 3.39 °C, so the tree models roughly halve it. Linear regression reaches 1.90 °C: decent, which tells us much of the signal is fairly simple, but the trees add real value by capturing thresholds such as the tree-cover knot we will see later. So why choose LightGBM as the final model? Three reasons. One, it is tied for the best accuracy on the honest tests and marginally lowest on 2025. Two, it has the smallest memorisation gap of the three tree models: when it has already seen a place in earlier years, it improves by 0.15 °C, against up to 0.23 for Random Forest. A smaller gap means it relies less on memorising places. Three, it is fast to train and has exact, fast TreeSHAP explanations, which matters when we explain tens of thousands of cells. We still use the others as a check: every explanation is repeated with XGBoost, and every scenario is averaged across all three tree models.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prediction is not enough; we need to know why. For this we use SHAP, which stands for SHapley Additive exPlanations. The idea comes from cooperative game theory. Imagine a team of four people wins a prize, and we want to split it fairly according to each member's contribution. The problem is that contributions depend on who else is in the team. Lloyd Shapley's solution, which later contributed to a Nobel Prize, is to consider every possible order in which members could join the team, measure how much each member adds when they join, and average that across all orders. That average is the member's Shapley value. In SHAP, the features are the team members and the prediction is the prize. For one cell, SHAP starts from the model's average prediction, the base value, and assigns each feature a contribution in degrees Celsius, so that the base value plus all contributions equals the cell's prediction exactly. That additivity is what makes SHAP so readable. That gives us local explanations, shown on the right: one hot, tree-less fringe cell. Red bars push it warmer: high dryness, no tree cover, low NDVI. Blue bars push it cooler. A planner can read exactly why this cell is predicted hot. Collect SHAP values over ten thousand cells and you get the global view, on the left: a beeswarm plot. Each dot is one cell; its position is the feature's contribution, and its colour is the feature's value, dark for high. High NDVI, dark dots, sit on the left: greener means cooler. High dryness sits on the right. These patterns are also our contribution plots. Feature importance is the mean absolute SHAP value: NDVI 0.95, NDBI 0.73 and MNDWI 0.61 °C lead. Is it reliable? The three indices are correlated, so the model can trade credit between them. We therefore rank feature groups. The spectral group leads at 1.49 °C, about 2.1 times the dry-cover group, and built-up is the smallest group, 0.12 °C. XGBoost gives the same ranking, with rank correlation 0.99, and the same leading group in 95% of cells. Remember that SHAP explains the model, not the physical world: these are associations.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use the trained models as a policy simulator. A counterfactual asks: what would the model predict if one thing about a place were different? Here the thing we change is tree cover. Step one, the current state. We selected the urban cells, more than half built-up, that fall in the hottest ten percent of observed temperature, averaged over three years. That gives 2,673 cells. They are mostly tree-sparse, newer developments on the city fringe, many on the eastern edge, not the old core. Step two, the modification. We raise their tree cover by ten percentage points. Because fractions must still add up to one, the new canopy is taken from built-up, bare and grass in proportion to what each cell has. We do not touch the spectral indices in the lower bound. In the realistic bound, we let NDVI, NDBI and MNDWI respond, using small models that learn how the indices change with land cover. The truth is likely between the two, so we always report a range. Step three, the predicted cooling. Averaged over LightGBM, XGBoost and Random Forest, ten more points of tree cover go with 0.37 to 1.02 °C cooler surfaces. Twenty points go with 0.56 to 1.63 °C. Raising every cell just to the 10.2% knot goes with 0.35 to 0.97 °C. The maps show where the cooling falls for each scenario: blue is cooler. Two subtleties. First, diminishing returns: the cooling per point of canopy roughly halves beyond about ten to twelve percent cover, from 0.12 to 0.05 °C per point. So spreading some canopy across many bare places beats concentrating it in a few. Second, we exclude the very first pixel of canopy. Going from zero to one percent is worth 1.4 °C in the model, but that reflects what kind of place has no trees at all, not what one tree does. Finally, the caveat that matters for policy. The model learned from comparing places, so these numbers say how much cooler similar places with more trees are. They are associations, not measured effects of planting, and they give planners a ranking and a plausible range,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can a city actually do with this? Let me go through six applications, each tied to something the project produced. Smart cities. The whole pipeline runs on open satellite data and rebuilds every table and figure from one command. A city could rerun it every pre-monsoon season and get an updated, hundred-metre heat map at almost no cost, without installing sensors. That is a cheap monitoring layer for a smart-city platform. Urban planning. The first lesson is where the problem is. In daytime Pune, the hottest urban surfaces are not in the dense old core; they are on the dry, tree-sparse fringe, where development is newest and still underway. That is exactly where planning rules for new layouts, setbacks and open spaces can still change the outcome. Green infrastructure. Our scenarios suggest that the biggest gains per unit of canopy come from getting bare places up to about ten percent tree cover. That favours spreading street trees, small parks and green buffers widely across hot areas, rather than one large park in one place. Tree plantation. We can rank individual hundred-metre cells: the 2,673 hottest urban cells are a ready-made, mappable priority list for plantation drives, ward by ward. Heat mitigation. Heat action plans need to know where people are exposed to the hottest surfaces. The map, together with the per-cell SHAP explanation, tells officials not only where it is hot but why: dryness, lack of vegetation, or terrain. Different causes call for different fixes, such as greening, irrigation or cool roofs. Climate adaptation. Heatwaves are expected to become more frequent. A reproducible, honest model gives a baseline against which future seasons can be compared, and the same method can be transferred to other Indian cities with only the study-area box changed. We also built a read-only Streamlit dashboard that shows every result and lets a user pick a cell, see its explanation, and try a greening what-if. Throughout, the outputs support decisions; they do not replace field surveys or local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study has limits, and stating them clearly is part of doing it rigorously. Here are five. First, Pune only. We studied one city with one climate, a semi-arid, hilly setting where the surroundings dry out before the monsoon. That dryness is exactly why the core is cooler by day. In a humid or irrigated region the pattern could be different, so we cannot assume the drivers transfer without testing. Second, pre-monsoon data only, and only daytime. Landsat passes over in the late morning. At night, built surfaces release stored heat and the classic heat island may well reappear. After the monsoon, the surroundings turn green and the contrast changes. Our conclusions are for daytime, March to May. Third, the hundred-metre thermal resolution. Landsat's thermal sensor sees about a hundred metres, so a cell mixes roofs, roads, trees and courtyards. We cannot resolve a single street or building, and heat blurs across cell edges. You can see a symptom on the right: this is the map of model residuals, red where a cell is hotter than predicted, blue where it is cooler. The errors are clustered, with residual Moran's I around 0.6. That tells us there are drivers we cannot see, such as building height, roof material and irrigation. Fourth, correlation is not causation. Everything we learned comes from comparing different places at the same time. Places with more trees are cooler, but they may also be wealthier, better irrigated or older. SHAP explains the model, not physics, and the scenarios are associations. Proving a causal effect would need before-and-after data from actual planting. Fifth, static land cover. We used one WorldCover map from 2021 for all three years. Any construction or clearing since then is invisible to the land-cover fractions, though the Sentinel-2 indices, which are updated every year, partly compensate. None of these limits changes the validation results, which are honest by design. They bound how far the scenarios can be read, and they point directly to the future work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point straight to the next steps. We have arranged them on a timeline, from what could be done next semester to longer-term research. In the near term, more cities. The pipeline takes only a study-area box, so the first step is to run it on other Indian cities with different climates, such as a humid coastal city and a hotter inland one. If the same drivers come out on top, the conclusions generalise; if not, we learn where they break. Also near term, multiple seasons. Adding night-time thermal data and post-monsoon and winter composites would show whether Pune's daytime cool island flips into a classic heat island at night, which matters for health, because night-time heat prevents the body from recovering. In the medium term, higher-resolution imagery. Thermal data from the ECOSTRESS instrument on the space station, at roughly seventy metres, or downscaling methods, would sharpen the picture. Building footprints and heights would add the urban-form drivers that our clustered residuals point to. Also medium term, meteorological variables. Air temperature, humidity and wind from weather stations or reanalysis data would let us connect surface temperature to the air temperature people actually feel, and test whether our associations carry over. In the long term, a real-time dashboard. Our current Streamlit dashboard is read-only and shows stored results. The next version would ingest each new season automatically, update the map, and let planners run the realistic-bound scenario live. And finally, climate projections. Combining our model with downscaled climate-model scenarios would let us ask how much canopy would be needed to offset projected warming in the hottest wards by mid-century. That would turn the tool from describing today into planning for tomorrow. On the method side, we would also add nested spatial cross-validation to remove the small optimism left by tuning, and before-and-after comparisons of land-cover change to move from association toward cause.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pull everything together, following the flow on the slide. The problem. Pune is urbanising fast, and heat action plans need to know where greening will cool the most. The textbook assumption of a hot core does not hold in daytime Pune: the core is cooler than the dry fringe. And common evaluation practice, random pixel splits, overstates how well models work. The method. We combined four open satellite datasets into 13 physically meaningful features on a hundred-metre grid, modelled the temperature anomaly with five models, and evaluated them with 4-kilometre spatial block cross-validation and an untouched 2025 test, never using coordinates as features. The results. Random cross-validation flattered the flexible models by up to 0.15 °C. Under honest testing, the tree models tie, and LightGBM, our final model, predicts the anomaly in unseen places and an unseen year with an RMSE of 1.75 °C and R squared of 0.72. The explainability. SHAP shows that vegetation, dryness and moisture lead, and that the built-up fraction, the concrete in our title, is the smallest driver group. The raw link between built-up cover and cooler surfaces, −0.22 °C per ten points, shrinks by 87% once vegetation and dryness are modelled. So the cool core is mainly a vegetation and dryness contrast. These rankings hold across models. The real-world impact. Pune's hottest urban surfaces are tree-sparse fringe developments. In these data, raising them to about ten percent tree cover is associated with roughly 0.4 to 1.0 °C cooler daytime surfaces, with gains per point roughly halving beyond that. That gives planners a concrete, mappable target, with honest bounds and clearly stated caveats. In one sentence: in daytime Pune, the surface heat is in the dry fringe, not the dense core, and canopy matters far more than concrete. Thank you for your attention. We are happy to take your questions, and every number you have seen can be traced back to an output table in our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4" name="TextBox 3"/>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 / 16</a:t>
            </a:r>
          </a:p>
        </p:txBody>
      </p:sp>
      <p:sp>
        <p:nvSpPr>
          <p:cNvPr id="5" name="TextBox 4"/>
          <p:cNvSpPr txBox="1"/>
          <p:nvPr/>
        </p:nvSpPr>
        <p:spPr>
          <a:xfrm>
            <a:off x="548640" y="822960"/>
            <a:ext cx="6400800" cy="1005840"/>
          </a:xfrm>
          <a:prstGeom prst="rect">
            <a:avLst/>
          </a:prstGeom>
          <a:noFill/>
        </p:spPr>
        <p:txBody>
          <a:bodyPr wrap="square" anchor="t" lIns="45720" rIns="45720">
            <a:spAutoFit/>
          </a:bodyPr>
          <a:lstStyle/>
          <a:p>
            <a:pPr algn="l">
              <a:spcAft>
                <a:spcPts val="600"/>
              </a:spcAft>
            </a:pPr>
            <a:r>
              <a:rPr sz="5400" b="1">
                <a:solidFill>
                  <a:srgbClr val="2A78D6"/>
                </a:solidFill>
                <a:latin typeface="Calibri"/>
              </a:rPr>
              <a:t>MirageAI</a:t>
            </a:r>
          </a:p>
        </p:txBody>
      </p:sp>
      <p:sp>
        <p:nvSpPr>
          <p:cNvPr id="6" name="TextBox 5"/>
          <p:cNvSpPr txBox="1"/>
          <p:nvPr/>
        </p:nvSpPr>
        <p:spPr>
          <a:xfrm>
            <a:off x="548640" y="1874519"/>
            <a:ext cx="6035040" cy="1554480"/>
          </a:xfrm>
          <a:prstGeom prst="rect">
            <a:avLst/>
          </a:prstGeom>
          <a:noFill/>
        </p:spPr>
        <p:txBody>
          <a:bodyPr wrap="square" anchor="t" lIns="45720" rIns="45720">
            <a:spAutoFit/>
          </a:bodyPr>
          <a:lstStyle/>
          <a:p>
            <a:pPr algn="l">
              <a:spcAft>
                <a:spcPts val="600"/>
              </a:spcAft>
            </a:pPr>
            <a:r>
              <a:rPr sz="2800" b="1">
                <a:solidFill>
                  <a:srgbClr val="0B0B0B"/>
                </a:solidFill>
                <a:latin typeface="Calibri"/>
              </a:rPr>
              <a:t>Concrete vs. Canopy: Explainable Machine Learning for Urban Heat Island Drivers in Pune</a:t>
            </a:r>
          </a:p>
        </p:txBody>
      </p:sp>
      <p:cxnSp>
        <p:nvCxnSpPr>
          <p:cNvPr id="7" name="Connector 6"/>
          <p:cNvCxnSpPr/>
          <p:nvPr/>
        </p:nvCxnSpPr>
        <p:spPr>
          <a:xfrm>
            <a:off x="566928" y="3657600"/>
            <a:ext cx="1261872" cy="0"/>
          </a:xfrm>
          <a:prstGeom prst="line">
            <a:avLst/>
          </a:prstGeom>
          <a:ln w="38100">
            <a:solidFill>
              <a:srgbClr val="2A78D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3840480"/>
            <a:ext cx="6035040" cy="1371600"/>
          </a:xfrm>
          <a:prstGeom prst="rect">
            <a:avLst/>
          </a:prstGeom>
          <a:noFill/>
        </p:spPr>
        <p:txBody>
          <a:bodyPr wrap="square" anchor="t" lIns="45720" rIns="45720">
            <a:spAutoFit/>
          </a:bodyPr>
          <a:lstStyle/>
          <a:p>
            <a:pPr algn="l">
              <a:spcAft>
                <a:spcPts val="400"/>
              </a:spcAft>
            </a:pPr>
            <a:r>
              <a:rPr sz="1700" b="0">
                <a:solidFill>
                  <a:srgbClr val="0B0B0B"/>
                </a:solidFill>
                <a:latin typeface="Calibri"/>
              </a:rPr>
              <a:t>Shourya Tiwari · Shashwat Kumar</a:t>
            </a:r>
          </a:p>
          <a:p>
            <a:pPr algn="l">
              <a:spcAft>
                <a:spcPts val="400"/>
              </a:spcAft>
            </a:pPr>
            <a:r>
              <a:rPr sz="1700" b="0">
                <a:solidFill>
                  <a:srgbClr val="0B0B0B"/>
                </a:solidFill>
                <a:latin typeface="Calibri"/>
              </a:rPr>
              <a:t>Rishik Sinha · Shubhankar Bhan</a:t>
            </a:r>
          </a:p>
        </p:txBody>
      </p:sp>
      <p:sp>
        <p:nvSpPr>
          <p:cNvPr id="9" name="TextBox 8"/>
          <p:cNvSpPr txBox="1"/>
          <p:nvPr/>
        </p:nvSpPr>
        <p:spPr>
          <a:xfrm>
            <a:off x="548640" y="5074920"/>
            <a:ext cx="6217920" cy="822960"/>
          </a:xfrm>
          <a:prstGeom prst="rect">
            <a:avLst/>
          </a:prstGeom>
          <a:noFill/>
        </p:spPr>
        <p:txBody>
          <a:bodyPr wrap="square" anchor="t" lIns="45720" rIns="45720">
            <a:spAutoFit/>
          </a:bodyPr>
          <a:lstStyle/>
          <a:p>
            <a:pPr algn="l">
              <a:spcAft>
                <a:spcPts val="200"/>
              </a:spcAft>
            </a:pPr>
            <a:r>
              <a:rPr sz="1400" b="0">
                <a:solidFill>
                  <a:srgbClr val="898781"/>
                </a:solidFill>
                <a:latin typeface="Calibri"/>
              </a:rPr>
              <a:t>Applications and Use Cases of Machine Learning (TE7483)</a:t>
            </a:r>
          </a:p>
          <a:p>
            <a:pPr algn="l">
              <a:spcAft>
                <a:spcPts val="200"/>
              </a:spcAft>
            </a:pPr>
            <a:r>
              <a:rPr sz="1400" b="0">
                <a:solidFill>
                  <a:srgbClr val="898781"/>
                </a:solidFill>
                <a:latin typeface="Calibri"/>
              </a:rPr>
              <a:t>Symbiosis Institute of Technology, Pune</a:t>
            </a:r>
          </a:p>
        </p:txBody>
      </p:sp>
      <p:pic>
        <p:nvPicPr>
          <p:cNvPr id="10" name="Picture 9" descr="01_lst_map_2024.png"/>
          <p:cNvPicPr>
            <a:picLocks noChangeAspect="1"/>
          </p:cNvPicPr>
          <p:nvPr/>
        </p:nvPicPr>
        <p:blipFill>
          <a:blip r:embed="rId3"/>
          <a:stretch>
            <a:fillRect/>
          </a:stretch>
        </p:blipFill>
        <p:spPr>
          <a:xfrm>
            <a:off x="6812280" y="1402350"/>
            <a:ext cx="5029200" cy="391613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Cities are heating, and planners need to know where to act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PROBLEM STATEMENT</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2 / 16</a:t>
            </a:r>
          </a:p>
        </p:txBody>
      </p:sp>
      <p:sp>
        <p:nvSpPr>
          <p:cNvPr id="7" name="Rounded Rectangle 6"/>
          <p:cNvSpPr/>
          <p:nvPr/>
        </p:nvSpPr>
        <p:spPr>
          <a:xfrm>
            <a:off x="548640" y="14630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6642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642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1</a:t>
            </a:r>
          </a:p>
        </p:txBody>
      </p:sp>
      <p:sp>
        <p:nvSpPr>
          <p:cNvPr id="10" name="TextBox 9"/>
          <p:cNvSpPr txBox="1"/>
          <p:nvPr/>
        </p:nvSpPr>
        <p:spPr>
          <a:xfrm>
            <a:off x="1371600" y="16459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Rapid urbanisation</a:t>
            </a:r>
          </a:p>
        </p:txBody>
      </p:sp>
      <p:sp>
        <p:nvSpPr>
          <p:cNvPr id="11" name="TextBox 10"/>
          <p:cNvSpPr txBox="1"/>
          <p:nvPr/>
        </p:nvSpPr>
        <p:spPr>
          <a:xfrm>
            <a:off x="731520" y="22860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built-up land spreading outward</a:t>
            </a:r>
          </a:p>
        </p:txBody>
      </p:sp>
      <p:sp>
        <p:nvSpPr>
          <p:cNvPr id="12" name="Rounded Rectangle 11"/>
          <p:cNvSpPr/>
          <p:nvPr/>
        </p:nvSpPr>
        <p:spPr>
          <a:xfrm>
            <a:off x="4160520" y="14630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3400" y="16642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16642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2</a:t>
            </a:r>
          </a:p>
        </p:txBody>
      </p:sp>
      <p:sp>
        <p:nvSpPr>
          <p:cNvPr id="15" name="TextBox 14"/>
          <p:cNvSpPr txBox="1"/>
          <p:nvPr/>
        </p:nvSpPr>
        <p:spPr>
          <a:xfrm>
            <a:off x="4983480" y="16459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Urban Heat Island</a:t>
            </a:r>
          </a:p>
        </p:txBody>
      </p:sp>
      <p:sp>
        <p:nvSpPr>
          <p:cNvPr id="16" name="TextBox 15"/>
          <p:cNvSpPr txBox="1"/>
          <p:nvPr/>
        </p:nvSpPr>
        <p:spPr>
          <a:xfrm>
            <a:off x="4343400" y="22860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hard surfaces store and re-emit heat</a:t>
            </a:r>
          </a:p>
        </p:txBody>
      </p:sp>
      <p:sp>
        <p:nvSpPr>
          <p:cNvPr id="17" name="Rounded Rectangle 16"/>
          <p:cNvSpPr/>
          <p:nvPr/>
        </p:nvSpPr>
        <p:spPr>
          <a:xfrm>
            <a:off x="548640" y="30632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32644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644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3</a:t>
            </a:r>
          </a:p>
        </p:txBody>
      </p:sp>
      <p:sp>
        <p:nvSpPr>
          <p:cNvPr id="20" name="TextBox 19"/>
          <p:cNvSpPr txBox="1"/>
          <p:nvPr/>
        </p:nvSpPr>
        <p:spPr>
          <a:xfrm>
            <a:off x="1371600" y="32461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Loss of vegetation</a:t>
            </a:r>
          </a:p>
        </p:txBody>
      </p:sp>
      <p:sp>
        <p:nvSpPr>
          <p:cNvPr id="21" name="TextBox 20"/>
          <p:cNvSpPr txBox="1"/>
          <p:nvPr/>
        </p:nvSpPr>
        <p:spPr>
          <a:xfrm>
            <a:off x="731520" y="38862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canopy replaced by roofs and paving</a:t>
            </a:r>
          </a:p>
        </p:txBody>
      </p:sp>
      <p:sp>
        <p:nvSpPr>
          <p:cNvPr id="22" name="Rounded Rectangle 21"/>
          <p:cNvSpPr/>
          <p:nvPr/>
        </p:nvSpPr>
        <p:spPr>
          <a:xfrm>
            <a:off x="4160520" y="30632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43400" y="32644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60" y="32644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4</a:t>
            </a:r>
          </a:p>
        </p:txBody>
      </p:sp>
      <p:sp>
        <p:nvSpPr>
          <p:cNvPr id="25" name="TextBox 24"/>
          <p:cNvSpPr txBox="1"/>
          <p:nvPr/>
        </p:nvSpPr>
        <p:spPr>
          <a:xfrm>
            <a:off x="4983480" y="32461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Rising surface heat</a:t>
            </a:r>
          </a:p>
        </p:txBody>
      </p:sp>
      <p:sp>
        <p:nvSpPr>
          <p:cNvPr id="26" name="TextBox 25"/>
          <p:cNvSpPr txBox="1"/>
          <p:nvPr/>
        </p:nvSpPr>
        <p:spPr>
          <a:xfrm>
            <a:off x="4343400" y="38862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pre-monsoon city median above 44 °C</a:t>
            </a:r>
          </a:p>
        </p:txBody>
      </p:sp>
      <p:sp>
        <p:nvSpPr>
          <p:cNvPr id="27" name="Rounded Rectangle 26"/>
          <p:cNvSpPr/>
          <p:nvPr/>
        </p:nvSpPr>
        <p:spPr>
          <a:xfrm>
            <a:off x="548640" y="46634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31520" y="4864607"/>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864607"/>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5</a:t>
            </a:r>
          </a:p>
        </p:txBody>
      </p:sp>
      <p:sp>
        <p:nvSpPr>
          <p:cNvPr id="30" name="TextBox 29"/>
          <p:cNvSpPr txBox="1"/>
          <p:nvPr/>
        </p:nvSpPr>
        <p:spPr>
          <a:xfrm>
            <a:off x="1371600" y="48463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Explainable prediction</a:t>
            </a:r>
          </a:p>
        </p:txBody>
      </p:sp>
      <p:sp>
        <p:nvSpPr>
          <p:cNvPr id="31" name="TextBox 30"/>
          <p:cNvSpPr txBox="1"/>
          <p:nvPr/>
        </p:nvSpPr>
        <p:spPr>
          <a:xfrm>
            <a:off x="731520" y="54864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planners will not act on a black box</a:t>
            </a:r>
          </a:p>
        </p:txBody>
      </p:sp>
      <p:sp>
        <p:nvSpPr>
          <p:cNvPr id="32" name="Rounded Rectangle 31"/>
          <p:cNvSpPr/>
          <p:nvPr/>
        </p:nvSpPr>
        <p:spPr>
          <a:xfrm>
            <a:off x="4160520" y="46634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343400" y="4864607"/>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4864607"/>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6</a:t>
            </a:r>
          </a:p>
        </p:txBody>
      </p:sp>
      <p:sp>
        <p:nvSpPr>
          <p:cNvPr id="35" name="TextBox 34"/>
          <p:cNvSpPr txBox="1"/>
          <p:nvPr/>
        </p:nvSpPr>
        <p:spPr>
          <a:xfrm>
            <a:off x="4983480" y="48463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Actionable planning</a:t>
            </a:r>
          </a:p>
        </p:txBody>
      </p:sp>
      <p:sp>
        <p:nvSpPr>
          <p:cNvPr id="36" name="TextBox 35"/>
          <p:cNvSpPr txBox="1"/>
          <p:nvPr/>
        </p:nvSpPr>
        <p:spPr>
          <a:xfrm>
            <a:off x="4343400" y="54864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where to green, and by how much</a:t>
            </a:r>
          </a:p>
        </p:txBody>
      </p:sp>
      <p:sp>
        <p:nvSpPr>
          <p:cNvPr id="37" name="Rounded Rectangle 36"/>
          <p:cNvSpPr/>
          <p:nvPr/>
        </p:nvSpPr>
        <p:spPr>
          <a:xfrm>
            <a:off x="7909560" y="1463040"/>
            <a:ext cx="3703320" cy="4572000"/>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79" y="1691640"/>
            <a:ext cx="3291840" cy="365760"/>
          </a:xfrm>
          <a:prstGeom prst="rect">
            <a:avLst/>
          </a:prstGeom>
          <a:noFill/>
        </p:spPr>
        <p:txBody>
          <a:bodyPr wrap="square" anchor="t" lIns="45720" rIns="45720">
            <a:spAutoFit/>
          </a:bodyPr>
          <a:lstStyle/>
          <a:p>
            <a:pPr algn="l">
              <a:spcAft>
                <a:spcPts val="600"/>
              </a:spcAft>
            </a:pPr>
            <a:r>
              <a:rPr sz="1300" b="1">
                <a:solidFill>
                  <a:srgbClr val="C9D6EA"/>
                </a:solidFill>
                <a:latin typeface="Calibri"/>
              </a:rPr>
              <a:t>PUNE'S TWIST</a:t>
            </a:r>
          </a:p>
        </p:txBody>
      </p:sp>
      <p:sp>
        <p:nvSpPr>
          <p:cNvPr id="39" name="TextBox 38"/>
          <p:cNvSpPr txBox="1"/>
          <p:nvPr/>
        </p:nvSpPr>
        <p:spPr>
          <a:xfrm>
            <a:off x="8183879" y="2103120"/>
            <a:ext cx="3291840" cy="635000"/>
          </a:xfrm>
          <a:prstGeom prst="rect">
            <a:avLst/>
          </a:prstGeom>
          <a:noFill/>
        </p:spPr>
        <p:txBody>
          <a:bodyPr wrap="square" anchor="t" lIns="45720" rIns="45720">
            <a:spAutoFit/>
          </a:bodyPr>
          <a:lstStyle/>
          <a:p>
            <a:pPr algn="l">
              <a:spcAft>
                <a:spcPts val="600"/>
              </a:spcAft>
            </a:pPr>
            <a:r>
              <a:rPr sz="4000" b="1">
                <a:solidFill>
                  <a:srgbClr val="FFFFFF"/>
                </a:solidFill>
                <a:latin typeface="Calibri"/>
              </a:rPr>
              <a:t>3.4–4.0 °C</a:t>
            </a:r>
          </a:p>
        </p:txBody>
      </p:sp>
      <p:sp>
        <p:nvSpPr>
          <p:cNvPr id="40" name="TextBox 39"/>
          <p:cNvSpPr txBox="1"/>
          <p:nvPr/>
        </p:nvSpPr>
        <p:spPr>
          <a:xfrm>
            <a:off x="8183879" y="2738120"/>
            <a:ext cx="3291840" cy="822960"/>
          </a:xfrm>
          <a:prstGeom prst="rect">
            <a:avLst/>
          </a:prstGeom>
          <a:noFill/>
        </p:spPr>
        <p:txBody>
          <a:bodyPr wrap="square" anchor="t" lIns="45720" rIns="45720">
            <a:spAutoFit/>
          </a:bodyPr>
          <a:lstStyle/>
          <a:p>
            <a:pPr algn="l">
              <a:spcAft>
                <a:spcPts val="600"/>
              </a:spcAft>
            </a:pPr>
            <a:r>
              <a:rPr sz="1500" b="0">
                <a:solidFill>
                  <a:srgbClr val="C9D6EA"/>
                </a:solidFill>
                <a:latin typeface="Calibri"/>
              </a:rPr>
              <a:t>cooler: city core vs outer ring, daytime, 2023–25</a:t>
            </a:r>
          </a:p>
        </p:txBody>
      </p:sp>
      <p:sp>
        <p:nvSpPr>
          <p:cNvPr id="41" name="TextBox 40"/>
          <p:cNvSpPr txBox="1"/>
          <p:nvPr/>
        </p:nvSpPr>
        <p:spPr>
          <a:xfrm>
            <a:off x="8183879" y="3566160"/>
            <a:ext cx="3291840" cy="2286000"/>
          </a:xfrm>
          <a:prstGeom prst="rect">
            <a:avLst/>
          </a:prstGeom>
          <a:noFill/>
        </p:spPr>
        <p:txBody>
          <a:bodyPr wrap="square" anchor="t" lIns="45720" rIns="45720">
            <a:spAutoFit/>
          </a:bodyPr>
          <a:lstStyle/>
          <a:p>
            <a:pPr algn="l">
              <a:spcAft>
                <a:spcPts val="1000"/>
              </a:spcAft>
            </a:pPr>
            <a:r>
              <a:rPr sz="1600" b="0">
                <a:solidFill>
                  <a:srgbClr val="2A78D6"/>
                </a:solidFill>
                <a:latin typeface="Calibri"/>
              </a:rPr>
              <a:t>▪  </a:t>
            </a:r>
            <a:r>
              <a:rPr sz="1600" b="0">
                <a:solidFill>
                  <a:srgbClr val="FFFFFF"/>
                </a:solidFill>
                <a:latin typeface="Calibri"/>
              </a:rPr>
              <a:t>Assume a hot core and you green the wrong places.</a:t>
            </a:r>
          </a:p>
          <a:p>
            <a:pPr algn="l">
              <a:spcAft>
                <a:spcPts val="1000"/>
              </a:spcAft>
            </a:pPr>
            <a:r>
              <a:rPr sz="1600" b="0">
                <a:solidFill>
                  <a:srgbClr val="2A78D6"/>
                </a:solidFill>
                <a:latin typeface="Calibri"/>
              </a:rPr>
              <a:t>▪  </a:t>
            </a:r>
            <a:r>
              <a:rPr sz="1600" b="0">
                <a:solidFill>
                  <a:srgbClr val="FFFFFF"/>
                </a:solidFill>
                <a:latin typeface="Calibri"/>
              </a:rPr>
              <a:t>Random-pixel testing flatters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Research objectives and research questions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RESEARCH OBJECTIVES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3 / 16</a:t>
            </a:r>
          </a:p>
        </p:txBody>
      </p:sp>
      <p:sp>
        <p:nvSpPr>
          <p:cNvPr id="7" name="TextBox 6"/>
          <p:cNvSpPr txBox="1"/>
          <p:nvPr/>
        </p:nvSpPr>
        <p:spPr>
          <a:xfrm>
            <a:off x="548640" y="1417320"/>
            <a:ext cx="4572000" cy="411480"/>
          </a:xfrm>
          <a:prstGeom prst="rect">
            <a:avLst/>
          </a:prstGeom>
          <a:noFill/>
        </p:spPr>
        <p:txBody>
          <a:bodyPr wrap="square" anchor="t" lIns="45720" rIns="45720">
            <a:spAutoFit/>
          </a:bodyPr>
          <a:lstStyle/>
          <a:p>
            <a:pPr algn="l">
              <a:spcAft>
                <a:spcPts val="600"/>
              </a:spcAft>
            </a:pPr>
            <a:r>
              <a:rPr sz="2000" b="1">
                <a:solidFill>
                  <a:srgbClr val="2A78D6"/>
                </a:solidFill>
                <a:latin typeface="Calibri"/>
              </a:rPr>
              <a:t>Objectives</a:t>
            </a:r>
          </a:p>
        </p:txBody>
      </p:sp>
      <p:sp>
        <p:nvSpPr>
          <p:cNvPr id="8" name="TextBox 7"/>
          <p:cNvSpPr txBox="1"/>
          <p:nvPr/>
        </p:nvSpPr>
        <p:spPr>
          <a:xfrm>
            <a:off x="548640" y="1920240"/>
            <a:ext cx="4572000" cy="4206240"/>
          </a:xfrm>
          <a:prstGeom prst="rect">
            <a:avLst/>
          </a:prstGeom>
          <a:noFill/>
        </p:spPr>
        <p:txBody>
          <a:bodyPr wrap="square" anchor="t" lIns="45720" rIns="45720">
            <a:spAutoFit/>
          </a:bodyPr>
          <a:lstStyle/>
          <a:p>
            <a:pPr algn="l">
              <a:spcAft>
                <a:spcPts val="2600"/>
              </a:spcAft>
            </a:pPr>
            <a:r>
              <a:rPr sz="1800" b="0">
                <a:solidFill>
                  <a:srgbClr val="2A78D6"/>
                </a:solidFill>
                <a:latin typeface="Calibri"/>
              </a:rPr>
              <a:t>▪  </a:t>
            </a:r>
            <a:r>
              <a:rPr sz="1800" b="0">
                <a:solidFill>
                  <a:srgbClr val="52514E"/>
                </a:solidFill>
                <a:latin typeface="Calibri"/>
              </a:rPr>
              <a:t>Predict LST anomaly from satellite features</a:t>
            </a:r>
          </a:p>
          <a:p>
            <a:pPr algn="l">
              <a:spcAft>
                <a:spcPts val="2600"/>
              </a:spcAft>
            </a:pPr>
            <a:r>
              <a:rPr sz="1800" b="0">
                <a:solidFill>
                  <a:srgbClr val="2A78D6"/>
                </a:solidFill>
                <a:latin typeface="Calibri"/>
              </a:rPr>
              <a:t>▪  </a:t>
            </a:r>
            <a:r>
              <a:rPr sz="1800" b="0">
                <a:solidFill>
                  <a:srgbClr val="52514E"/>
                </a:solidFill>
                <a:latin typeface="Calibri"/>
              </a:rPr>
              <a:t>Identify the strongest drivers of urban heat</a:t>
            </a:r>
          </a:p>
          <a:p>
            <a:pPr algn="l">
              <a:spcAft>
                <a:spcPts val="2600"/>
              </a:spcAft>
            </a:pPr>
            <a:r>
              <a:rPr sz="1800" b="0">
                <a:solidFill>
                  <a:srgbClr val="2A78D6"/>
                </a:solidFill>
                <a:latin typeface="Calibri"/>
              </a:rPr>
              <a:t>▪  </a:t>
            </a:r>
            <a:r>
              <a:rPr sz="1800" b="0">
                <a:solidFill>
                  <a:srgbClr val="52514E"/>
                </a:solidFill>
                <a:latin typeface="Calibri"/>
              </a:rPr>
              <a:t>Build a spatially reliable ML framework</a:t>
            </a:r>
          </a:p>
          <a:p>
            <a:pPr algn="l">
              <a:spcAft>
                <a:spcPts val="2600"/>
              </a:spcAft>
            </a:pPr>
            <a:r>
              <a:rPr sz="1800" b="0">
                <a:solidFill>
                  <a:srgbClr val="2A78D6"/>
                </a:solidFill>
                <a:latin typeface="Calibri"/>
              </a:rPr>
              <a:t>▪  </a:t>
            </a:r>
            <a:r>
              <a:rPr sz="1800" b="0">
                <a:solidFill>
                  <a:srgbClr val="52514E"/>
                </a:solidFill>
                <a:latin typeface="Calibri"/>
              </a:rPr>
              <a:t>Explain predictions with SHAP</a:t>
            </a:r>
          </a:p>
          <a:p>
            <a:pPr algn="l">
              <a:spcAft>
                <a:spcPts val="2600"/>
              </a:spcAft>
            </a:pPr>
            <a:r>
              <a:rPr sz="1800" b="0">
                <a:solidFill>
                  <a:srgbClr val="2A78D6"/>
                </a:solidFill>
                <a:latin typeface="Calibri"/>
              </a:rPr>
              <a:t>▪  </a:t>
            </a:r>
            <a:r>
              <a:rPr sz="1800" b="0">
                <a:solidFill>
                  <a:srgbClr val="52514E"/>
                </a:solidFill>
                <a:latin typeface="Calibri"/>
              </a:rPr>
              <a:t>Simulate greening to support planning</a:t>
            </a:r>
          </a:p>
        </p:txBody>
      </p:sp>
      <p:sp>
        <p:nvSpPr>
          <p:cNvPr id="9" name="Rounded Rectangle 8"/>
          <p:cNvSpPr/>
          <p:nvPr/>
        </p:nvSpPr>
        <p:spPr>
          <a:xfrm>
            <a:off x="5440680" y="1463040"/>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1463040"/>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RQ1</a:t>
            </a:r>
          </a:p>
        </p:txBody>
      </p:sp>
      <p:sp>
        <p:nvSpPr>
          <p:cNvPr id="11" name="Rounded Rectangle 10"/>
          <p:cNvSpPr/>
          <p:nvPr/>
        </p:nvSpPr>
        <p:spPr>
          <a:xfrm>
            <a:off x="6446520" y="1463040"/>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463040"/>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Can satellite features accurately predict LST anomalies across Pune?</a:t>
            </a:r>
          </a:p>
        </p:txBody>
      </p:sp>
      <p:sp>
        <p:nvSpPr>
          <p:cNvPr id="13" name="Rounded Rectangle 12"/>
          <p:cNvSpPr/>
          <p:nvPr/>
        </p:nvSpPr>
        <p:spPr>
          <a:xfrm>
            <a:off x="5440680" y="2404872"/>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2404872"/>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RQ2</a:t>
            </a:r>
          </a:p>
        </p:txBody>
      </p:sp>
      <p:sp>
        <p:nvSpPr>
          <p:cNvPr id="15" name="Rounded Rectangle 14"/>
          <p:cNvSpPr/>
          <p:nvPr/>
        </p:nvSpPr>
        <p:spPr>
          <a:xfrm>
            <a:off x="6446520" y="2404872"/>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404872"/>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Which environmental factors contribute most to urban heat?</a:t>
            </a:r>
          </a:p>
        </p:txBody>
      </p:sp>
      <p:sp>
        <p:nvSpPr>
          <p:cNvPr id="17" name="Rounded Rectangle 16"/>
          <p:cNvSpPr/>
          <p:nvPr/>
        </p:nvSpPr>
        <p:spPr>
          <a:xfrm>
            <a:off x="5440680" y="3346704"/>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3346704"/>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RQ3</a:t>
            </a:r>
          </a:p>
        </p:txBody>
      </p:sp>
      <p:sp>
        <p:nvSpPr>
          <p:cNvPr id="19" name="Rounded Rectangle 18"/>
          <p:cNvSpPr/>
          <p:nvPr/>
        </p:nvSpPr>
        <p:spPr>
          <a:xfrm>
            <a:off x="6446520" y="3346704"/>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346704"/>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How does spatial block CV compare with a random train–test split?</a:t>
            </a:r>
          </a:p>
        </p:txBody>
      </p:sp>
      <p:sp>
        <p:nvSpPr>
          <p:cNvPr id="21" name="Rounded Rectangle 20"/>
          <p:cNvSpPr/>
          <p:nvPr/>
        </p:nvSpPr>
        <p:spPr>
          <a:xfrm>
            <a:off x="5440680" y="4288536"/>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4288536"/>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RQ4</a:t>
            </a:r>
          </a:p>
        </p:txBody>
      </p:sp>
      <p:sp>
        <p:nvSpPr>
          <p:cNvPr id="23" name="Rounded Rectangle 22"/>
          <p:cNvSpPr/>
          <p:nvPr/>
        </p:nvSpPr>
        <p:spPr>
          <a:xfrm>
            <a:off x="6446520" y="4288536"/>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288536"/>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Can SHAP reliably interpret the model's predictions?</a:t>
            </a:r>
          </a:p>
        </p:txBody>
      </p:sp>
      <p:sp>
        <p:nvSpPr>
          <p:cNvPr id="25" name="Rounded Rectangle 24"/>
          <p:cNvSpPr/>
          <p:nvPr/>
        </p:nvSpPr>
        <p:spPr>
          <a:xfrm>
            <a:off x="5440680" y="5230368"/>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5230368"/>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RQ5</a:t>
            </a:r>
          </a:p>
        </p:txBody>
      </p:sp>
      <p:sp>
        <p:nvSpPr>
          <p:cNvPr id="27" name="Rounded Rectangle 26"/>
          <p:cNvSpPr/>
          <p:nvPr/>
        </p:nvSpPr>
        <p:spPr>
          <a:xfrm>
            <a:off x="6446520" y="5230368"/>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5230368"/>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Can counterfactual simulations estimate cooling from more vegetation?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Four open satellite datasets, one 100 m grid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DATASETS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4 / 16</a:t>
            </a:r>
          </a:p>
        </p:txBody>
      </p:sp>
      <p:pic>
        <p:nvPicPr>
          <p:cNvPr id="7" name="Picture 6" descr="01_ndvi_map_2024.png"/>
          <p:cNvPicPr>
            <a:picLocks noChangeAspect="1"/>
          </p:cNvPicPr>
          <p:nvPr/>
        </p:nvPicPr>
        <p:blipFill>
          <a:blip r:embed="rId3"/>
          <a:stretch>
            <a:fillRect/>
          </a:stretch>
        </p:blipFill>
        <p:spPr>
          <a:xfrm>
            <a:off x="457200" y="1563208"/>
            <a:ext cx="5760720" cy="4463103"/>
          </a:xfrm>
          <a:prstGeom prst="rect">
            <a:avLst/>
          </a:prstGeom>
        </p:spPr>
      </p:pic>
      <p:sp>
        <p:nvSpPr>
          <p:cNvPr id="8" name="Rounded Rectangle 7"/>
          <p:cNvSpPr/>
          <p:nvPr/>
        </p:nvSpPr>
        <p:spPr>
          <a:xfrm>
            <a:off x="6583680" y="1417320"/>
            <a:ext cx="5029200" cy="8686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490472"/>
            <a:ext cx="4754880" cy="777240"/>
          </a:xfrm>
          <a:prstGeom prst="rect">
            <a:avLst/>
          </a:prstGeom>
          <a:noFill/>
        </p:spPr>
        <p:txBody>
          <a:bodyPr wrap="square" anchor="t" lIns="45720" rIns="45720">
            <a:spAutoFit/>
          </a:bodyPr>
          <a:lstStyle/>
          <a:p>
            <a:pPr algn="l">
              <a:spcAft>
                <a:spcPts val="200"/>
              </a:spcAft>
            </a:pPr>
            <a:r>
              <a:rPr sz="1600" b="1">
                <a:solidFill>
                  <a:srgbClr val="0B0B0B"/>
                </a:solidFill>
                <a:latin typeface="Calibri"/>
              </a:rPr>
              <a:t>Landsat 8/9</a:t>
            </a:r>
            <a:r>
              <a:rPr sz="1600" b="0">
                <a:solidFill>
                  <a:srgbClr val="898781"/>
                </a:solidFill>
                <a:latin typeface="Calibri"/>
              </a:rPr>
              <a:t>   100 m thermal</a:t>
            </a:r>
          </a:p>
          <a:p>
            <a:pPr algn="l">
              <a:spcAft>
                <a:spcPts val="200"/>
              </a:spcAft>
            </a:pPr>
            <a:r>
              <a:rPr sz="1600" b="0">
                <a:solidFill>
                  <a:srgbClr val="52514E"/>
                </a:solidFill>
                <a:latin typeface="Calibri"/>
              </a:rPr>
              <a:t>target: land surface temperature</a:t>
            </a:r>
          </a:p>
        </p:txBody>
      </p:sp>
      <p:sp>
        <p:nvSpPr>
          <p:cNvPr id="10" name="Rounded Rectangle 9"/>
          <p:cNvSpPr/>
          <p:nvPr/>
        </p:nvSpPr>
        <p:spPr>
          <a:xfrm>
            <a:off x="6583680" y="2423160"/>
            <a:ext cx="5029200" cy="8686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496312"/>
            <a:ext cx="4754880" cy="777240"/>
          </a:xfrm>
          <a:prstGeom prst="rect">
            <a:avLst/>
          </a:prstGeom>
          <a:noFill/>
        </p:spPr>
        <p:txBody>
          <a:bodyPr wrap="square" anchor="t" lIns="45720" rIns="45720">
            <a:spAutoFit/>
          </a:bodyPr>
          <a:lstStyle/>
          <a:p>
            <a:pPr algn="l">
              <a:spcAft>
                <a:spcPts val="200"/>
              </a:spcAft>
            </a:pPr>
            <a:r>
              <a:rPr sz="1600" b="1">
                <a:solidFill>
                  <a:srgbClr val="0B0B0B"/>
                </a:solidFill>
                <a:latin typeface="Calibri"/>
              </a:rPr>
              <a:t>Sentinel-2</a:t>
            </a:r>
            <a:r>
              <a:rPr sz="1600" b="0">
                <a:solidFill>
                  <a:srgbClr val="898781"/>
                </a:solidFill>
                <a:latin typeface="Calibri"/>
              </a:rPr>
              <a:t>   10–20 m</a:t>
            </a:r>
          </a:p>
          <a:p>
            <a:pPr algn="l">
              <a:spcAft>
                <a:spcPts val="200"/>
              </a:spcAft>
            </a:pPr>
            <a:r>
              <a:rPr sz="1600" b="0">
                <a:solidFill>
                  <a:srgbClr val="52514E"/>
                </a:solidFill>
                <a:latin typeface="Calibri"/>
              </a:rPr>
              <a:t>NDVI, NDBI, MNDWI indices</a:t>
            </a:r>
          </a:p>
        </p:txBody>
      </p:sp>
      <p:sp>
        <p:nvSpPr>
          <p:cNvPr id="12" name="Rounded Rectangle 11"/>
          <p:cNvSpPr/>
          <p:nvPr/>
        </p:nvSpPr>
        <p:spPr>
          <a:xfrm>
            <a:off x="6583680" y="3429000"/>
            <a:ext cx="5029200" cy="8686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3502152"/>
            <a:ext cx="4754880" cy="777240"/>
          </a:xfrm>
          <a:prstGeom prst="rect">
            <a:avLst/>
          </a:prstGeom>
          <a:noFill/>
        </p:spPr>
        <p:txBody>
          <a:bodyPr wrap="square" anchor="t" lIns="45720" rIns="45720">
            <a:spAutoFit/>
          </a:bodyPr>
          <a:lstStyle/>
          <a:p>
            <a:pPr algn="l">
              <a:spcAft>
                <a:spcPts val="200"/>
              </a:spcAft>
            </a:pPr>
            <a:r>
              <a:rPr sz="1600" b="1">
                <a:solidFill>
                  <a:srgbClr val="0B0B0B"/>
                </a:solidFill>
                <a:latin typeface="Calibri"/>
              </a:rPr>
              <a:t>ESA WorldCover 2021</a:t>
            </a:r>
            <a:r>
              <a:rPr sz="1600" b="0">
                <a:solidFill>
                  <a:srgbClr val="898781"/>
                </a:solidFill>
                <a:latin typeface="Calibri"/>
              </a:rPr>
              <a:t>   10 m</a:t>
            </a:r>
          </a:p>
          <a:p>
            <a:pPr algn="l">
              <a:spcAft>
                <a:spcPts val="200"/>
              </a:spcAft>
            </a:pPr>
            <a:r>
              <a:rPr sz="1600" b="0">
                <a:solidFill>
                  <a:srgbClr val="52514E"/>
                </a:solidFill>
                <a:latin typeface="Calibri"/>
              </a:rPr>
              <a:t>7 land-cover fractions, distance to water</a:t>
            </a:r>
          </a:p>
        </p:txBody>
      </p:sp>
      <p:sp>
        <p:nvSpPr>
          <p:cNvPr id="14" name="Rounded Rectangle 13"/>
          <p:cNvSpPr/>
          <p:nvPr/>
        </p:nvSpPr>
        <p:spPr>
          <a:xfrm>
            <a:off x="6583680" y="4434840"/>
            <a:ext cx="5029200" cy="8686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507992"/>
            <a:ext cx="4754880" cy="777240"/>
          </a:xfrm>
          <a:prstGeom prst="rect">
            <a:avLst/>
          </a:prstGeom>
          <a:noFill/>
        </p:spPr>
        <p:txBody>
          <a:bodyPr wrap="square" anchor="t" lIns="45720" rIns="45720">
            <a:spAutoFit/>
          </a:bodyPr>
          <a:lstStyle/>
          <a:p>
            <a:pPr algn="l">
              <a:spcAft>
                <a:spcPts val="200"/>
              </a:spcAft>
            </a:pPr>
            <a:r>
              <a:rPr sz="1600" b="1">
                <a:solidFill>
                  <a:srgbClr val="0B0B0B"/>
                </a:solidFill>
                <a:latin typeface="Calibri"/>
              </a:rPr>
              <a:t>SRTM DEM</a:t>
            </a:r>
            <a:r>
              <a:rPr sz="1600" b="0">
                <a:solidFill>
                  <a:srgbClr val="898781"/>
                </a:solidFill>
                <a:latin typeface="Calibri"/>
              </a:rPr>
              <a:t>   30 m</a:t>
            </a:r>
          </a:p>
          <a:p>
            <a:pPr algn="l">
              <a:spcAft>
                <a:spcPts val="200"/>
              </a:spcAft>
            </a:pPr>
            <a:r>
              <a:rPr sz="1600" b="0">
                <a:solidFill>
                  <a:srgbClr val="52514E"/>
                </a:solidFill>
                <a:latin typeface="Calibri"/>
              </a:rPr>
              <a:t>elevation, slope</a:t>
            </a:r>
          </a:p>
        </p:txBody>
      </p:sp>
      <p:sp>
        <p:nvSpPr>
          <p:cNvPr id="16" name="TextBox 15"/>
          <p:cNvSpPr txBox="1"/>
          <p:nvPr/>
        </p:nvSpPr>
        <p:spPr>
          <a:xfrm>
            <a:off x="6583680" y="5486400"/>
            <a:ext cx="5120640" cy="731520"/>
          </a:xfrm>
          <a:prstGeom prst="rect">
            <a:avLst/>
          </a:prstGeom>
          <a:noFill/>
        </p:spPr>
        <p:txBody>
          <a:bodyPr wrap="square" anchor="t" lIns="45720" rIns="45720">
            <a:spAutoFit/>
          </a:bodyPr>
          <a:lstStyle/>
          <a:p>
            <a:pPr algn="l">
              <a:spcAft>
                <a:spcPts val="600"/>
              </a:spcAft>
            </a:pPr>
            <a:r>
              <a:rPr sz="1700" b="1">
                <a:solidFill>
                  <a:srgbClr val="2A78D6"/>
                </a:solidFill>
                <a:latin typeface="Calibri"/>
              </a:rPr>
              <a:t>Mar–May 2023, 2024, 2025 · 243,252 land cell-years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From raw scenes to one clean modelling table</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DATA PREPROCESSING</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5 / 16</a:t>
            </a:r>
          </a:p>
        </p:txBody>
      </p:sp>
      <p:sp>
        <p:nvSpPr>
          <p:cNvPr id="7" name="Rounded Rectangle 6"/>
          <p:cNvSpPr/>
          <p:nvPr/>
        </p:nvSpPr>
        <p:spPr>
          <a:xfrm>
            <a:off x="548640" y="146304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6459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4592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1</a:t>
            </a:r>
          </a:p>
        </p:txBody>
      </p:sp>
      <p:sp>
        <p:nvSpPr>
          <p:cNvPr id="10" name="TextBox 9"/>
          <p:cNvSpPr txBox="1"/>
          <p:nvPr/>
        </p:nvSpPr>
        <p:spPr>
          <a:xfrm>
            <a:off x="1371600" y="1691640"/>
            <a:ext cx="242316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Projection</a:t>
            </a:r>
          </a:p>
        </p:txBody>
      </p:sp>
      <p:sp>
        <p:nvSpPr>
          <p:cNvPr id="11" name="TextBox 10"/>
          <p:cNvSpPr txBox="1"/>
          <p:nvPr/>
        </p:nvSpPr>
        <p:spPr>
          <a:xfrm>
            <a:off x="731520" y="233172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UTM 43N (EPSG:32643), metres</a:t>
            </a:r>
          </a:p>
        </p:txBody>
      </p:sp>
      <p:sp>
        <p:nvSpPr>
          <p:cNvPr id="12" name="Right Arrow 11"/>
          <p:cNvSpPr/>
          <p:nvPr/>
        </p:nvSpPr>
        <p:spPr>
          <a:xfrm>
            <a:off x="3941063" y="214884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46304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26280" y="16459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64592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2</a:t>
            </a:r>
          </a:p>
        </p:txBody>
      </p:sp>
      <p:sp>
        <p:nvSpPr>
          <p:cNvPr id="16" name="TextBox 15"/>
          <p:cNvSpPr txBox="1"/>
          <p:nvPr/>
        </p:nvSpPr>
        <p:spPr>
          <a:xfrm>
            <a:off x="5166360" y="1691640"/>
            <a:ext cx="242316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Resampling</a:t>
            </a:r>
          </a:p>
        </p:txBody>
      </p:sp>
      <p:sp>
        <p:nvSpPr>
          <p:cNvPr id="17" name="TextBox 16"/>
          <p:cNvSpPr txBox="1"/>
          <p:nvPr/>
        </p:nvSpPr>
        <p:spPr>
          <a:xfrm>
            <a:off x="4526280" y="233172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seasonal median, area-weighted mean</a:t>
            </a:r>
          </a:p>
        </p:txBody>
      </p:sp>
      <p:sp>
        <p:nvSpPr>
          <p:cNvPr id="18" name="Right Arrow 17"/>
          <p:cNvSpPr/>
          <p:nvPr/>
        </p:nvSpPr>
        <p:spPr>
          <a:xfrm>
            <a:off x="7735824" y="214884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60" y="146304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21040" y="16459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64592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3</a:t>
            </a:r>
          </a:p>
        </p:txBody>
      </p:sp>
      <p:sp>
        <p:nvSpPr>
          <p:cNvPr id="22" name="TextBox 21"/>
          <p:cNvSpPr txBox="1"/>
          <p:nvPr/>
        </p:nvSpPr>
        <p:spPr>
          <a:xfrm>
            <a:off x="8961120" y="1691640"/>
            <a:ext cx="242316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100 m grid</a:t>
            </a:r>
          </a:p>
        </p:txBody>
      </p:sp>
      <p:sp>
        <p:nvSpPr>
          <p:cNvPr id="23" name="TextBox 22"/>
          <p:cNvSpPr txBox="1"/>
          <p:nvPr/>
        </p:nvSpPr>
        <p:spPr>
          <a:xfrm>
            <a:off x="8321040" y="233172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Landsat thermal scale · 81,084 land cells</a:t>
            </a:r>
          </a:p>
        </p:txBody>
      </p:sp>
      <p:sp>
        <p:nvSpPr>
          <p:cNvPr id="24" name="Rounded Rectangle 23"/>
          <p:cNvSpPr/>
          <p:nvPr/>
        </p:nvSpPr>
        <p:spPr>
          <a:xfrm>
            <a:off x="548640" y="347472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36576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65760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4</a:t>
            </a:r>
          </a:p>
        </p:txBody>
      </p:sp>
      <p:sp>
        <p:nvSpPr>
          <p:cNvPr id="27" name="TextBox 26"/>
          <p:cNvSpPr txBox="1"/>
          <p:nvPr/>
        </p:nvSpPr>
        <p:spPr>
          <a:xfrm>
            <a:off x="1371600" y="3703320"/>
            <a:ext cx="242316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Water mask</a:t>
            </a:r>
          </a:p>
        </p:txBody>
      </p:sp>
      <p:sp>
        <p:nvSpPr>
          <p:cNvPr id="28" name="TextBox 27"/>
          <p:cNvSpPr txBox="1"/>
          <p:nvPr/>
        </p:nvSpPr>
        <p:spPr>
          <a:xfrm>
            <a:off x="731520" y="434340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 50% water removed · 2,697 rows</a:t>
            </a:r>
          </a:p>
        </p:txBody>
      </p:sp>
      <p:sp>
        <p:nvSpPr>
          <p:cNvPr id="29" name="Right Arrow 28"/>
          <p:cNvSpPr/>
          <p:nvPr/>
        </p:nvSpPr>
        <p:spPr>
          <a:xfrm>
            <a:off x="3941063" y="416052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43400" y="347472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26280" y="36576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365760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5</a:t>
            </a:r>
          </a:p>
        </p:txBody>
      </p:sp>
      <p:sp>
        <p:nvSpPr>
          <p:cNvPr id="33" name="TextBox 32"/>
          <p:cNvSpPr txBox="1"/>
          <p:nvPr/>
        </p:nvSpPr>
        <p:spPr>
          <a:xfrm>
            <a:off x="5166360" y="3703320"/>
            <a:ext cx="242316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Missing values</a:t>
            </a:r>
          </a:p>
        </p:txBody>
      </p:sp>
      <p:sp>
        <p:nvSpPr>
          <p:cNvPr id="34" name="TextBox 33"/>
          <p:cNvSpPr txBox="1"/>
          <p:nvPr/>
        </p:nvSpPr>
        <p:spPr>
          <a:xfrm>
            <a:off x="4526280" y="434340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cloud masks · nodata −9999 · none dropped</a:t>
            </a:r>
          </a:p>
        </p:txBody>
      </p:sp>
      <p:sp>
        <p:nvSpPr>
          <p:cNvPr id="35" name="Right Arrow 34"/>
          <p:cNvSpPr/>
          <p:nvPr/>
        </p:nvSpPr>
        <p:spPr>
          <a:xfrm>
            <a:off x="7735824" y="416052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138160" y="347472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321040" y="36576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365760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6</a:t>
            </a:r>
          </a:p>
        </p:txBody>
      </p:sp>
      <p:sp>
        <p:nvSpPr>
          <p:cNvPr id="39" name="TextBox 38"/>
          <p:cNvSpPr txBox="1"/>
          <p:nvPr/>
        </p:nvSpPr>
        <p:spPr>
          <a:xfrm>
            <a:off x="8961120" y="3703320"/>
            <a:ext cx="242316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LST anomaly</a:t>
            </a:r>
          </a:p>
        </p:txBody>
      </p:sp>
      <p:sp>
        <p:nvSpPr>
          <p:cNvPr id="40" name="TextBox 39"/>
          <p:cNvSpPr txBox="1"/>
          <p:nvPr/>
        </p:nvSpPr>
        <p:spPr>
          <a:xfrm>
            <a:off x="8321040" y="434340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cell LST − that year's median</a:t>
            </a:r>
          </a:p>
        </p:txBody>
      </p:sp>
      <p:sp>
        <p:nvSpPr>
          <p:cNvPr id="41" name="TextBox 40"/>
          <p:cNvSpPr txBox="1"/>
          <p:nvPr/>
        </p:nvSpPr>
        <p:spPr>
          <a:xfrm>
            <a:off x="548640" y="5623560"/>
            <a:ext cx="11064240" cy="548640"/>
          </a:xfrm>
          <a:prstGeom prst="rect">
            <a:avLst/>
          </a:prstGeom>
          <a:noFill/>
        </p:spPr>
        <p:txBody>
          <a:bodyPr wrap="square" anchor="t" lIns="45720" rIns="45720">
            <a:spAutoFit/>
          </a:bodyPr>
          <a:lstStyle/>
          <a:p>
            <a:pPr algn="l">
              <a:spcAft>
                <a:spcPts val="600"/>
              </a:spcAft>
            </a:pPr>
            <a:r>
              <a:rPr sz="1700" b="1">
                <a:solidFill>
                  <a:srgbClr val="2A78D6"/>
                </a:solidFill>
                <a:latin typeface="Calibri"/>
              </a:rPr>
              <a:t>Why the anomaly?  </a:t>
            </a:r>
            <a:r>
              <a:rPr sz="1700" b="0">
                <a:solidFill>
                  <a:srgbClr val="52514E"/>
                </a:solidFill>
                <a:latin typeface="Calibri"/>
              </a:rPr>
              <a:t>the yearly level shifts with weather; the model learns the spatial pattern, not the 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13 physically meaningful features per cell</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FEATURE ENGINEERING</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6 / 16</a:t>
            </a:r>
          </a:p>
        </p:txBody>
      </p:sp>
      <p:sp>
        <p:nvSpPr>
          <p:cNvPr id="7" name="Rounded Rectangle 6"/>
          <p:cNvSpPr/>
          <p:nvPr/>
        </p:nvSpPr>
        <p:spPr>
          <a:xfrm>
            <a:off x="548640" y="1463040"/>
            <a:ext cx="3520440" cy="39319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69164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731520" cy="548640"/>
          </a:xfrm>
          <a:prstGeom prst="rect">
            <a:avLst/>
          </a:prstGeom>
          <a:noFill/>
        </p:spPr>
        <p:txBody>
          <a:bodyPr wrap="square" anchor="ctr" lIns="45720" rIns="45720">
            <a:spAutoFit/>
          </a:bodyPr>
          <a:lstStyle/>
          <a:p>
            <a:pPr algn="ctr">
              <a:spcAft>
                <a:spcPts val="0"/>
              </a:spcAft>
            </a:pPr>
            <a:r>
              <a:rPr sz="1800" b="1">
                <a:solidFill>
                  <a:srgbClr val="FFFFFF"/>
                </a:solidFill>
                <a:latin typeface="Calibri"/>
              </a:rPr>
              <a:t>S</a:t>
            </a:r>
          </a:p>
        </p:txBody>
      </p:sp>
      <p:sp>
        <p:nvSpPr>
          <p:cNvPr id="10" name="TextBox 9"/>
          <p:cNvSpPr txBox="1"/>
          <p:nvPr/>
        </p:nvSpPr>
        <p:spPr>
          <a:xfrm>
            <a:off x="1463040" y="1737360"/>
            <a:ext cx="2514600" cy="502920"/>
          </a:xfrm>
          <a:prstGeom prst="rect">
            <a:avLst/>
          </a:prstGeom>
          <a:noFill/>
        </p:spPr>
        <p:txBody>
          <a:bodyPr wrap="square" anchor="t" lIns="45720" rIns="45720">
            <a:spAutoFit/>
          </a:bodyPr>
          <a:lstStyle/>
          <a:p>
            <a:pPr algn="l">
              <a:spcAft>
                <a:spcPts val="0"/>
              </a:spcAft>
            </a:pPr>
            <a:r>
              <a:rPr sz="1900" b="1">
                <a:solidFill>
                  <a:srgbClr val="0B0B0B"/>
                </a:solidFill>
                <a:latin typeface="Calibri"/>
              </a:rPr>
              <a:t>Spectral</a:t>
            </a:r>
          </a:p>
        </p:txBody>
      </p:sp>
      <p:sp>
        <p:nvSpPr>
          <p:cNvPr id="11" name="TextBox 10"/>
          <p:cNvSpPr txBox="1"/>
          <p:nvPr/>
        </p:nvSpPr>
        <p:spPr>
          <a:xfrm>
            <a:off x="777240" y="2514600"/>
            <a:ext cx="3154680" cy="2743200"/>
          </a:xfrm>
          <a:prstGeom prst="rect">
            <a:avLst/>
          </a:prstGeom>
          <a:noFill/>
        </p:spPr>
        <p:txBody>
          <a:bodyPr wrap="square" anchor="t" lIns="45720" rIns="45720">
            <a:spAutoFit/>
          </a:bodyPr>
          <a:lstStyle/>
          <a:p>
            <a:pPr algn="l">
              <a:spcAft>
                <a:spcPts val="1400"/>
              </a:spcAft>
            </a:pPr>
            <a:r>
              <a:rPr sz="1600" b="1">
                <a:solidFill>
                  <a:srgbClr val="0B0B0B"/>
                </a:solidFill>
                <a:latin typeface="Calibri"/>
              </a:rPr>
              <a:t>NDVI</a:t>
            </a:r>
            <a:r>
              <a:rPr sz="1600" b="0">
                <a:solidFill>
                  <a:srgbClr val="52514E"/>
                </a:solidFill>
                <a:latin typeface="Calibri"/>
              </a:rPr>
              <a:t>  greenness · B8, B4</a:t>
            </a:r>
          </a:p>
          <a:p>
            <a:pPr algn="l">
              <a:spcAft>
                <a:spcPts val="1400"/>
              </a:spcAft>
            </a:pPr>
            <a:r>
              <a:rPr sz="1600" b="1">
                <a:solidFill>
                  <a:srgbClr val="0B0B0B"/>
                </a:solidFill>
                <a:latin typeface="Calibri"/>
              </a:rPr>
              <a:t>NDBI</a:t>
            </a:r>
            <a:r>
              <a:rPr sz="1600" b="0">
                <a:solidFill>
                  <a:srgbClr val="52514E"/>
                </a:solidFill>
                <a:latin typeface="Calibri"/>
              </a:rPr>
              <a:t>  dryness · B11, B8</a:t>
            </a:r>
          </a:p>
          <a:p>
            <a:pPr algn="l">
              <a:spcAft>
                <a:spcPts val="1400"/>
              </a:spcAft>
            </a:pPr>
            <a:r>
              <a:rPr sz="1600" b="1">
                <a:solidFill>
                  <a:srgbClr val="0B0B0B"/>
                </a:solidFill>
                <a:latin typeface="Calibri"/>
              </a:rPr>
              <a:t>MNDWI</a:t>
            </a:r>
            <a:r>
              <a:rPr sz="1600" b="0">
                <a:solidFill>
                  <a:srgbClr val="52514E"/>
                </a:solidFill>
                <a:latin typeface="Calibri"/>
              </a:rPr>
              <a:t>  moisture · B3, B11</a:t>
            </a:r>
          </a:p>
        </p:txBody>
      </p:sp>
      <p:sp>
        <p:nvSpPr>
          <p:cNvPr id="12" name="TextBox 11"/>
          <p:cNvSpPr txBox="1"/>
          <p:nvPr/>
        </p:nvSpPr>
        <p:spPr>
          <a:xfrm>
            <a:off x="777240" y="4526280"/>
            <a:ext cx="3154680" cy="731520"/>
          </a:xfrm>
          <a:prstGeom prst="rect">
            <a:avLst/>
          </a:prstGeom>
          <a:noFill/>
        </p:spPr>
        <p:txBody>
          <a:bodyPr wrap="square" anchor="t" lIns="45720" rIns="45720">
            <a:spAutoFit/>
          </a:bodyPr>
          <a:lstStyle/>
          <a:p>
            <a:pPr algn="l">
              <a:spcAft>
                <a:spcPts val="0"/>
              </a:spcAft>
            </a:pPr>
            <a:r>
              <a:rPr sz="1500" b="1">
                <a:solidFill>
                  <a:srgbClr val="2A78D6"/>
                </a:solidFill>
                <a:latin typeface="Calibri"/>
              </a:rPr>
              <a:t>Captures:  </a:t>
            </a:r>
            <a:r>
              <a:rPr sz="1500" b="0">
                <a:solidFill>
                  <a:srgbClr val="52514E"/>
                </a:solidFill>
                <a:latin typeface="Calibri"/>
              </a:rPr>
              <a:t>vegetation and water state, every year</a:t>
            </a:r>
          </a:p>
        </p:txBody>
      </p:sp>
      <p:sp>
        <p:nvSpPr>
          <p:cNvPr id="13" name="Rounded Rectangle 12"/>
          <p:cNvSpPr/>
          <p:nvPr/>
        </p:nvSpPr>
        <p:spPr>
          <a:xfrm>
            <a:off x="4343400" y="1463040"/>
            <a:ext cx="3520440" cy="39319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72000" y="169164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691640"/>
            <a:ext cx="731520" cy="548640"/>
          </a:xfrm>
          <a:prstGeom prst="rect">
            <a:avLst/>
          </a:prstGeom>
          <a:noFill/>
        </p:spPr>
        <p:txBody>
          <a:bodyPr wrap="square" anchor="ctr" lIns="45720" rIns="45720">
            <a:spAutoFit/>
          </a:bodyPr>
          <a:lstStyle/>
          <a:p>
            <a:pPr algn="ctr">
              <a:spcAft>
                <a:spcPts val="0"/>
              </a:spcAft>
            </a:pPr>
            <a:r>
              <a:rPr sz="1800" b="1">
                <a:solidFill>
                  <a:srgbClr val="FFFFFF"/>
                </a:solidFill>
                <a:latin typeface="Calibri"/>
              </a:rPr>
              <a:t>L</a:t>
            </a:r>
          </a:p>
        </p:txBody>
      </p:sp>
      <p:sp>
        <p:nvSpPr>
          <p:cNvPr id="16" name="TextBox 15"/>
          <p:cNvSpPr txBox="1"/>
          <p:nvPr/>
        </p:nvSpPr>
        <p:spPr>
          <a:xfrm>
            <a:off x="5257800" y="1737360"/>
            <a:ext cx="2514600" cy="502920"/>
          </a:xfrm>
          <a:prstGeom prst="rect">
            <a:avLst/>
          </a:prstGeom>
          <a:noFill/>
        </p:spPr>
        <p:txBody>
          <a:bodyPr wrap="square" anchor="t" lIns="45720" rIns="45720">
            <a:spAutoFit/>
          </a:bodyPr>
          <a:lstStyle/>
          <a:p>
            <a:pPr algn="l">
              <a:spcAft>
                <a:spcPts val="0"/>
              </a:spcAft>
            </a:pPr>
            <a:r>
              <a:rPr sz="1900" b="1">
                <a:solidFill>
                  <a:srgbClr val="0B0B0B"/>
                </a:solidFill>
                <a:latin typeface="Calibri"/>
              </a:rPr>
              <a:t>Land-cover fractions</a:t>
            </a:r>
          </a:p>
        </p:txBody>
      </p:sp>
      <p:sp>
        <p:nvSpPr>
          <p:cNvPr id="17" name="TextBox 16"/>
          <p:cNvSpPr txBox="1"/>
          <p:nvPr/>
        </p:nvSpPr>
        <p:spPr>
          <a:xfrm>
            <a:off x="4572000" y="2514600"/>
            <a:ext cx="3154680" cy="2743200"/>
          </a:xfrm>
          <a:prstGeom prst="rect">
            <a:avLst/>
          </a:prstGeom>
          <a:noFill/>
        </p:spPr>
        <p:txBody>
          <a:bodyPr wrap="square" anchor="t" lIns="45720" rIns="45720">
            <a:spAutoFit/>
          </a:bodyPr>
          <a:lstStyle/>
          <a:p>
            <a:pPr algn="l">
              <a:spcAft>
                <a:spcPts val="1400"/>
              </a:spcAft>
            </a:pPr>
            <a:r>
              <a:rPr sz="1600" b="1">
                <a:solidFill>
                  <a:srgbClr val="0B0B0B"/>
                </a:solidFill>
                <a:latin typeface="Calibri"/>
              </a:rPr>
              <a:t>Trees · Grass · Crops</a:t>
            </a:r>
          </a:p>
          <a:p>
            <a:pPr algn="l">
              <a:spcAft>
                <a:spcPts val="1400"/>
              </a:spcAft>
            </a:pPr>
            <a:r>
              <a:rPr sz="1600" b="1">
                <a:solidFill>
                  <a:srgbClr val="0B0B0B"/>
                </a:solidFill>
                <a:latin typeface="Calibri"/>
              </a:rPr>
              <a:t>Water · Bare land</a:t>
            </a:r>
          </a:p>
          <a:p>
            <a:pPr algn="l">
              <a:spcAft>
                <a:spcPts val="1400"/>
              </a:spcAft>
            </a:pPr>
            <a:r>
              <a:rPr sz="1600" b="1">
                <a:solidFill>
                  <a:srgbClr val="0B0B0B"/>
                </a:solidFill>
                <a:latin typeface="Calibri"/>
              </a:rPr>
              <a:t>Shrubs · Built-up</a:t>
            </a:r>
          </a:p>
          <a:p>
            <a:pPr algn="l">
              <a:spcAft>
                <a:spcPts val="1400"/>
              </a:spcAft>
            </a:pPr>
            <a:r>
              <a:rPr sz="1500" b="0">
                <a:solidFill>
                  <a:srgbClr val="898781"/>
                </a:solidFill>
                <a:latin typeface="Calibri"/>
              </a:rPr>
              <a:t>share of cell, sum = 1</a:t>
            </a:r>
          </a:p>
        </p:txBody>
      </p:sp>
      <p:sp>
        <p:nvSpPr>
          <p:cNvPr id="18" name="TextBox 17"/>
          <p:cNvSpPr txBox="1"/>
          <p:nvPr/>
        </p:nvSpPr>
        <p:spPr>
          <a:xfrm>
            <a:off x="4572000" y="4526280"/>
            <a:ext cx="3154680" cy="731520"/>
          </a:xfrm>
          <a:prstGeom prst="rect">
            <a:avLst/>
          </a:prstGeom>
          <a:noFill/>
        </p:spPr>
        <p:txBody>
          <a:bodyPr wrap="square" anchor="t" lIns="45720" rIns="45720">
            <a:spAutoFit/>
          </a:bodyPr>
          <a:lstStyle/>
          <a:p>
            <a:pPr algn="l">
              <a:spcAft>
                <a:spcPts val="0"/>
              </a:spcAft>
            </a:pPr>
            <a:r>
              <a:rPr sz="1500" b="1">
                <a:solidFill>
                  <a:srgbClr val="2A78D6"/>
                </a:solidFill>
                <a:latin typeface="Calibri"/>
              </a:rPr>
              <a:t>Captures:  </a:t>
            </a:r>
            <a:r>
              <a:rPr sz="1500" b="0">
                <a:solidFill>
                  <a:srgbClr val="52514E"/>
                </a:solidFill>
                <a:latin typeface="Calibri"/>
              </a:rPr>
              <a:t>what the surface is made of</a:t>
            </a:r>
          </a:p>
        </p:txBody>
      </p:sp>
      <p:sp>
        <p:nvSpPr>
          <p:cNvPr id="19" name="Rounded Rectangle 18"/>
          <p:cNvSpPr/>
          <p:nvPr/>
        </p:nvSpPr>
        <p:spPr>
          <a:xfrm>
            <a:off x="8138160" y="1463040"/>
            <a:ext cx="3520440" cy="39319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66760" y="169164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691640"/>
            <a:ext cx="731520" cy="548640"/>
          </a:xfrm>
          <a:prstGeom prst="rect">
            <a:avLst/>
          </a:prstGeom>
          <a:noFill/>
        </p:spPr>
        <p:txBody>
          <a:bodyPr wrap="square" anchor="ctr" lIns="45720" rIns="45720">
            <a:spAutoFit/>
          </a:bodyPr>
          <a:lstStyle/>
          <a:p>
            <a:pPr algn="ctr">
              <a:spcAft>
                <a:spcPts val="0"/>
              </a:spcAft>
            </a:pPr>
            <a:r>
              <a:rPr sz="1800" b="1">
                <a:solidFill>
                  <a:srgbClr val="FFFFFF"/>
                </a:solidFill>
                <a:latin typeface="Calibri"/>
              </a:rPr>
              <a:t>T</a:t>
            </a:r>
          </a:p>
        </p:txBody>
      </p:sp>
      <p:sp>
        <p:nvSpPr>
          <p:cNvPr id="22" name="TextBox 21"/>
          <p:cNvSpPr txBox="1"/>
          <p:nvPr/>
        </p:nvSpPr>
        <p:spPr>
          <a:xfrm>
            <a:off x="9052560" y="1737360"/>
            <a:ext cx="2514600" cy="502920"/>
          </a:xfrm>
          <a:prstGeom prst="rect">
            <a:avLst/>
          </a:prstGeom>
          <a:noFill/>
        </p:spPr>
        <p:txBody>
          <a:bodyPr wrap="square" anchor="t" lIns="45720" rIns="45720">
            <a:spAutoFit/>
          </a:bodyPr>
          <a:lstStyle/>
          <a:p>
            <a:pPr algn="l">
              <a:spcAft>
                <a:spcPts val="0"/>
              </a:spcAft>
            </a:pPr>
            <a:r>
              <a:rPr sz="1900" b="1">
                <a:solidFill>
                  <a:srgbClr val="0B0B0B"/>
                </a:solidFill>
                <a:latin typeface="Calibri"/>
              </a:rPr>
              <a:t>Terrain</a:t>
            </a:r>
          </a:p>
        </p:txBody>
      </p:sp>
      <p:sp>
        <p:nvSpPr>
          <p:cNvPr id="23" name="TextBox 22"/>
          <p:cNvSpPr txBox="1"/>
          <p:nvPr/>
        </p:nvSpPr>
        <p:spPr>
          <a:xfrm>
            <a:off x="8366760" y="2514600"/>
            <a:ext cx="3154680" cy="2743200"/>
          </a:xfrm>
          <a:prstGeom prst="rect">
            <a:avLst/>
          </a:prstGeom>
          <a:noFill/>
        </p:spPr>
        <p:txBody>
          <a:bodyPr wrap="square" anchor="t" lIns="45720" rIns="45720">
            <a:spAutoFit/>
          </a:bodyPr>
          <a:lstStyle/>
          <a:p>
            <a:pPr algn="l">
              <a:spcAft>
                <a:spcPts val="1400"/>
              </a:spcAft>
            </a:pPr>
            <a:r>
              <a:rPr sz="1600" b="1">
                <a:solidFill>
                  <a:srgbClr val="0B0B0B"/>
                </a:solidFill>
                <a:latin typeface="Calibri"/>
              </a:rPr>
              <a:t>Elevation</a:t>
            </a:r>
            <a:r>
              <a:rPr sz="1600" b="0">
                <a:solidFill>
                  <a:srgbClr val="52514E"/>
                </a:solidFill>
                <a:latin typeface="Calibri"/>
              </a:rPr>
              <a:t>  SRTM, metres</a:t>
            </a:r>
          </a:p>
          <a:p>
            <a:pPr algn="l">
              <a:spcAft>
                <a:spcPts val="1400"/>
              </a:spcAft>
            </a:pPr>
            <a:r>
              <a:rPr sz="1600" b="1">
                <a:solidFill>
                  <a:srgbClr val="0B0B0B"/>
                </a:solidFill>
                <a:latin typeface="Calibri"/>
              </a:rPr>
              <a:t>Slope</a:t>
            </a:r>
            <a:r>
              <a:rPr sz="1600" b="0">
                <a:solidFill>
                  <a:srgbClr val="52514E"/>
                </a:solidFill>
                <a:latin typeface="Calibri"/>
              </a:rPr>
              <a:t>  degrees</a:t>
            </a:r>
          </a:p>
          <a:p>
            <a:pPr algn="l">
              <a:spcAft>
                <a:spcPts val="1400"/>
              </a:spcAft>
            </a:pPr>
            <a:r>
              <a:rPr sz="1600" b="1">
                <a:solidFill>
                  <a:srgbClr val="0B0B0B"/>
                </a:solidFill>
                <a:latin typeface="Calibri"/>
              </a:rPr>
              <a:t>Distance to water</a:t>
            </a:r>
            <a:r>
              <a:rPr sz="1600" b="0">
                <a:solidFill>
                  <a:srgbClr val="52514E"/>
                </a:solidFill>
                <a:latin typeface="Calibri"/>
              </a:rPr>
              <a:t>  metres</a:t>
            </a:r>
          </a:p>
        </p:txBody>
      </p:sp>
      <p:sp>
        <p:nvSpPr>
          <p:cNvPr id="24" name="TextBox 23"/>
          <p:cNvSpPr txBox="1"/>
          <p:nvPr/>
        </p:nvSpPr>
        <p:spPr>
          <a:xfrm>
            <a:off x="8366760" y="4526280"/>
            <a:ext cx="3154680" cy="731520"/>
          </a:xfrm>
          <a:prstGeom prst="rect">
            <a:avLst/>
          </a:prstGeom>
          <a:noFill/>
        </p:spPr>
        <p:txBody>
          <a:bodyPr wrap="square" anchor="t" lIns="45720" rIns="45720">
            <a:spAutoFit/>
          </a:bodyPr>
          <a:lstStyle/>
          <a:p>
            <a:pPr algn="l">
              <a:spcAft>
                <a:spcPts val="0"/>
              </a:spcAft>
            </a:pPr>
            <a:r>
              <a:rPr sz="1500" b="1">
                <a:solidFill>
                  <a:srgbClr val="2A78D6"/>
                </a:solidFill>
                <a:latin typeface="Calibri"/>
              </a:rPr>
              <a:t>Captures:  </a:t>
            </a:r>
            <a:r>
              <a:rPr sz="1500" b="0">
                <a:solidFill>
                  <a:srgbClr val="52514E"/>
                </a:solidFill>
                <a:latin typeface="Calibri"/>
              </a:rPr>
              <a:t>shape of the land, nearness of water</a:t>
            </a:r>
          </a:p>
        </p:txBody>
      </p:sp>
      <p:sp>
        <p:nvSpPr>
          <p:cNvPr id="25" name="TextBox 24"/>
          <p:cNvSpPr txBox="1"/>
          <p:nvPr/>
        </p:nvSpPr>
        <p:spPr>
          <a:xfrm>
            <a:off x="548640" y="5623560"/>
            <a:ext cx="11064240" cy="548640"/>
          </a:xfrm>
          <a:prstGeom prst="rect">
            <a:avLst/>
          </a:prstGeom>
          <a:noFill/>
        </p:spPr>
        <p:txBody>
          <a:bodyPr wrap="square" anchor="t" lIns="45720" rIns="45720">
            <a:spAutoFit/>
          </a:bodyPr>
          <a:lstStyle/>
          <a:p>
            <a:pPr algn="l">
              <a:spcAft>
                <a:spcPts val="600"/>
              </a:spcAft>
            </a:pPr>
            <a:r>
              <a:rPr sz="1700" b="1">
                <a:solidFill>
                  <a:srgbClr val="2A78D6"/>
                </a:solidFill>
                <a:latin typeface="Calibri"/>
              </a:rPr>
              <a:t>Never features:  </a:t>
            </a:r>
            <a:r>
              <a:rPr sz="1700" b="0">
                <a:solidFill>
                  <a:srgbClr val="0B0B0B"/>
                </a:solidFill>
                <a:latin typeface="Calibri"/>
              </a:rPr>
              <a:t>coordinates, year, observation count.  </a:t>
            </a:r>
            <a:r>
              <a:rPr sz="1700" b="0">
                <a:solidFill>
                  <a:srgbClr val="52514E"/>
                </a:solidFill>
                <a:latin typeface="Calibri"/>
              </a:rPr>
              <a:t>Linear model drops built-up (sum-to-1).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the data said before any model</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EXPLORATORY DATA ANALYSIS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7 / 16</a:t>
            </a:r>
          </a:p>
        </p:txBody>
      </p:sp>
      <p:pic>
        <p:nvPicPr>
          <p:cNvPr id="7" name="Picture 6" descr="02_correlation_heatmap.png"/>
          <p:cNvPicPr>
            <a:picLocks noChangeAspect="1"/>
          </p:cNvPicPr>
          <p:nvPr/>
        </p:nvPicPr>
        <p:blipFill>
          <a:blip r:embed="rId3"/>
          <a:stretch>
            <a:fillRect/>
          </a:stretch>
        </p:blipFill>
        <p:spPr>
          <a:xfrm>
            <a:off x="365760" y="1364975"/>
            <a:ext cx="4480560" cy="3945168"/>
          </a:xfrm>
          <a:prstGeom prst="rect">
            <a:avLst/>
          </a:prstGeom>
        </p:spPr>
      </p:pic>
      <p:sp>
        <p:nvSpPr>
          <p:cNvPr id="8" name="TextBox 7"/>
          <p:cNvSpPr txBox="1"/>
          <p:nvPr/>
        </p:nvSpPr>
        <p:spPr>
          <a:xfrm>
            <a:off x="548640" y="5394960"/>
            <a:ext cx="4206240" cy="822960"/>
          </a:xfrm>
          <a:prstGeom prst="rect">
            <a:avLst/>
          </a:prstGeom>
          <a:noFill/>
        </p:spPr>
        <p:txBody>
          <a:bodyPr wrap="square" anchor="t" lIns="45720" rIns="45720">
            <a:spAutoFit/>
          </a:bodyPr>
          <a:lstStyle/>
          <a:p>
            <a:pPr algn="l">
              <a:spcAft>
                <a:spcPts val="200"/>
              </a:spcAft>
            </a:pPr>
            <a:r>
              <a:rPr sz="1500" b="1">
                <a:solidFill>
                  <a:srgbClr val="0B0B0B"/>
                </a:solidFill>
                <a:latin typeface="Calibri"/>
              </a:rPr>
              <a:t>Correlation with LST anomaly</a:t>
            </a:r>
          </a:p>
          <a:p>
            <a:pPr algn="l">
              <a:spcAft>
                <a:spcPts val="200"/>
              </a:spcAft>
            </a:pPr>
            <a:r>
              <a:rPr sz="1500" b="0">
                <a:solidFill>
                  <a:srgbClr val="52514E"/>
                </a:solidFill>
                <a:latin typeface="Calibri"/>
              </a:rPr>
              <a:t>NDBI +0.63 · grass +0.59 · trees −0.49</a:t>
            </a:r>
          </a:p>
        </p:txBody>
      </p:sp>
      <p:pic>
        <p:nvPicPr>
          <p:cNvPr id="9" name="Picture 8" descr="08_cool_island.png"/>
          <p:cNvPicPr>
            <a:picLocks noChangeAspect="1"/>
          </p:cNvPicPr>
          <p:nvPr/>
        </p:nvPicPr>
        <p:blipFill>
          <a:blip r:embed="rId4"/>
          <a:stretch>
            <a:fillRect/>
          </a:stretch>
        </p:blipFill>
        <p:spPr>
          <a:xfrm>
            <a:off x="4999598" y="1325880"/>
            <a:ext cx="6825763" cy="2743200"/>
          </a:xfrm>
          <a:prstGeom prst="rect">
            <a:avLst/>
          </a:prstGeom>
        </p:spPr>
      </p:pic>
      <p:pic>
        <p:nvPicPr>
          <p:cNvPr id="10" name="Picture 9" descr="02_feature_distributions.png"/>
          <p:cNvPicPr>
            <a:picLocks noChangeAspect="1"/>
          </p:cNvPicPr>
          <p:nvPr/>
        </p:nvPicPr>
        <p:blipFill>
          <a:blip r:embed="rId5"/>
          <a:stretch>
            <a:fillRect/>
          </a:stretch>
        </p:blipFill>
        <p:spPr>
          <a:xfrm>
            <a:off x="4983480" y="4225128"/>
            <a:ext cx="2697480" cy="2019623"/>
          </a:xfrm>
          <a:prstGeom prst="rect">
            <a:avLst/>
          </a:prstGeom>
        </p:spPr>
      </p:pic>
      <p:sp>
        <p:nvSpPr>
          <p:cNvPr id="11" name="Rounded Rectangle 10"/>
          <p:cNvSpPr/>
          <p:nvPr/>
        </p:nvSpPr>
        <p:spPr>
          <a:xfrm>
            <a:off x="7863840" y="4206240"/>
            <a:ext cx="3749039" cy="20116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4297680"/>
            <a:ext cx="3474720" cy="365760"/>
          </a:xfrm>
          <a:prstGeom prst="rect">
            <a:avLst/>
          </a:prstGeom>
          <a:noFill/>
        </p:spPr>
        <p:txBody>
          <a:bodyPr wrap="square" anchor="t" lIns="45720" rIns="45720">
            <a:spAutoFit/>
          </a:bodyPr>
          <a:lstStyle/>
          <a:p>
            <a:pPr algn="l">
              <a:spcAft>
                <a:spcPts val="0"/>
              </a:spcAft>
            </a:pPr>
            <a:r>
              <a:rPr sz="1700" b="1">
                <a:solidFill>
                  <a:srgbClr val="2A78D6"/>
                </a:solidFill>
                <a:latin typeface="Calibri"/>
              </a:rPr>
              <a:t>Discovery</a:t>
            </a:r>
          </a:p>
        </p:txBody>
      </p:sp>
      <p:sp>
        <p:nvSpPr>
          <p:cNvPr id="13" name="TextBox 12"/>
          <p:cNvSpPr txBox="1"/>
          <p:nvPr/>
        </p:nvSpPr>
        <p:spPr>
          <a:xfrm>
            <a:off x="8046720" y="4663440"/>
            <a:ext cx="3474720" cy="777240"/>
          </a:xfrm>
          <a:prstGeom prst="rect">
            <a:avLst/>
          </a:prstGeom>
          <a:noFill/>
        </p:spPr>
        <p:txBody>
          <a:bodyPr wrap="square" anchor="t" lIns="45720" rIns="45720">
            <a:spAutoFit/>
          </a:bodyPr>
          <a:lstStyle/>
          <a:p>
            <a:pPr algn="l">
              <a:spcAft>
                <a:spcPts val="0"/>
              </a:spcAft>
            </a:pPr>
            <a:r>
              <a:rPr sz="1500" b="0">
                <a:solidFill>
                  <a:srgbClr val="0B0B0B"/>
                </a:solidFill>
                <a:latin typeface="Calibri"/>
              </a:rPr>
              <a:t>NDBI is highest in the least-built cells: it tracks dryness, not concrete.</a:t>
            </a:r>
          </a:p>
        </p:txBody>
      </p:sp>
      <p:sp>
        <p:nvSpPr>
          <p:cNvPr id="14" name="TextBox 13"/>
          <p:cNvSpPr txBox="1"/>
          <p:nvPr/>
        </p:nvSpPr>
        <p:spPr>
          <a:xfrm>
            <a:off x="8046720" y="5486400"/>
            <a:ext cx="3474720" cy="685800"/>
          </a:xfrm>
          <a:prstGeom prst="rect">
            <a:avLst/>
          </a:prstGeom>
          <a:noFill/>
        </p:spPr>
        <p:txBody>
          <a:bodyPr wrap="square" anchor="t" lIns="45720" rIns="45720">
            <a:spAutoFit/>
          </a:bodyPr>
          <a:lstStyle/>
          <a:p>
            <a:pPr algn="l">
              <a:spcAft>
                <a:spcPts val="0"/>
              </a:spcAft>
            </a:pPr>
            <a:r>
              <a:rPr sz="1400" b="0">
                <a:solidFill>
                  <a:srgbClr val="52514E"/>
                </a:solidFill>
                <a:latin typeface="Calibri"/>
              </a:rPr>
              <a:t>VIF: NDVI 29.8 · MNDWI 18.8 · NDBI 18.4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A baseline and four learners on identical folds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MACHINE LEARNING MODELS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8 / 16</a:t>
            </a:r>
          </a:p>
        </p:txBody>
      </p:sp>
      <p:graphicFrame>
        <p:nvGraphicFramePr>
          <p:cNvPr id="7" name="Table 6"/>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2194560"/>
                <a:gridCol w="2286000"/>
                <a:gridCol w="3611880"/>
                <a:gridCol w="2971800"/>
              </a:tblGrid>
              <a:tr h="566928">
                <a:tc>
                  <a:txBody>
                    <a:bodyPr/>
                    <a:lstStyle/>
                    <a:p>
                      <a:pPr algn="l"/>
                      <a:r>
                        <a:rPr sz="1500" b="1">
                          <a:solidFill>
                            <a:srgbClr val="FFFFFF"/>
                          </a:solidFill>
                          <a:latin typeface="Calibri"/>
                        </a:rPr>
                        <a:t>Model</a:t>
                      </a:r>
                    </a:p>
                  </a:txBody>
                  <a:tcPr anchor="ctr" marL="91440" marR="91440">
                    <a:solidFill>
                      <a:srgbClr val="2A78D6"/>
                    </a:solidFill>
                  </a:tcPr>
                </a:tc>
                <a:tc>
                  <a:txBody>
                    <a:bodyPr/>
                    <a:lstStyle/>
                    <a:p>
                      <a:pPr algn="l"/>
                      <a:r>
                        <a:rPr sz="1500" b="1">
                          <a:solidFill>
                            <a:srgbClr val="FFFFFF"/>
                          </a:solidFill>
                          <a:latin typeface="Calibri"/>
                        </a:rPr>
                        <a:t>Family</a:t>
                      </a:r>
                    </a:p>
                  </a:txBody>
                  <a:tcPr anchor="ctr" marL="91440" marR="91440">
                    <a:solidFill>
                      <a:srgbClr val="2A78D6"/>
                    </a:solidFill>
                  </a:tcPr>
                </a:tc>
                <a:tc>
                  <a:txBody>
                    <a:bodyPr/>
                    <a:lstStyle/>
                    <a:p>
                      <a:pPr algn="l"/>
                      <a:r>
                        <a:rPr sz="1500" b="1">
                          <a:solidFill>
                            <a:srgbClr val="FFFFFF"/>
                          </a:solidFill>
                          <a:latin typeface="Calibri"/>
                        </a:rPr>
                        <a:t>How it learns</a:t>
                      </a:r>
                    </a:p>
                  </a:txBody>
                  <a:tcPr anchor="ctr" marL="91440" marR="91440">
                    <a:solidFill>
                      <a:srgbClr val="2A78D6"/>
                    </a:solidFill>
                  </a:tcPr>
                </a:tc>
                <a:tc>
                  <a:txBody>
                    <a:bodyPr/>
                    <a:lstStyle/>
                    <a:p>
                      <a:pPr algn="l"/>
                      <a:r>
                        <a:rPr sz="1500" b="1">
                          <a:solidFill>
                            <a:srgbClr val="FFFFFF"/>
                          </a:solidFill>
                          <a:latin typeface="Calibri"/>
                        </a:rPr>
                        <a:t>Why include it</a:t>
                      </a:r>
                    </a:p>
                  </a:txBody>
                  <a:tcPr anchor="ctr" marL="91440" marR="91440">
                    <a:solidFill>
                      <a:srgbClr val="2A78D6"/>
                    </a:solidFill>
                  </a:tcPr>
                </a:tc>
              </a:tr>
              <a:tr h="566928">
                <a:tc>
                  <a:txBody>
                    <a:bodyPr/>
                    <a:lstStyle/>
                    <a:p>
                      <a:pPr algn="l"/>
                      <a:r>
                        <a:rPr sz="1600" b="1">
                          <a:solidFill>
                            <a:srgbClr val="0B0B0B"/>
                          </a:solidFill>
                          <a:latin typeface="Calibri"/>
                        </a:rPr>
                        <a:t>Mean baseline</a:t>
                      </a:r>
                    </a:p>
                  </a:txBody>
                  <a:tcPr anchor="ctr" marL="91440" marR="91440">
                    <a:solidFill>
                      <a:srgbClr val="EEF4FC"/>
                    </a:solidFill>
                  </a:tcPr>
                </a:tc>
                <a:tc>
                  <a:txBody>
                    <a:bodyPr/>
                    <a:lstStyle/>
                    <a:p>
                      <a:pPr algn="l"/>
                      <a:r>
                        <a:rPr sz="1600" b="0">
                          <a:solidFill>
                            <a:srgbClr val="0B0B0B"/>
                          </a:solidFill>
                          <a:latin typeface="Calibri"/>
                        </a:rPr>
                        <a:t>constant</a:t>
                      </a:r>
                    </a:p>
                  </a:txBody>
                  <a:tcPr anchor="ctr" marL="91440" marR="91440">
                    <a:solidFill>
                      <a:srgbClr val="EEF4FC"/>
                    </a:solidFill>
                  </a:tcPr>
                </a:tc>
                <a:tc>
                  <a:txBody>
                    <a:bodyPr/>
                    <a:lstStyle/>
                    <a:p>
                      <a:pPr algn="l"/>
                      <a:r>
                        <a:rPr sz="1600" b="0">
                          <a:solidFill>
                            <a:srgbClr val="0B0B0B"/>
                          </a:solidFill>
                          <a:latin typeface="Calibri"/>
                        </a:rPr>
                        <a:t>predicts the training mean</a:t>
                      </a:r>
                    </a:p>
                  </a:txBody>
                  <a:tcPr anchor="ctr" marL="91440" marR="91440">
                    <a:solidFill>
                      <a:srgbClr val="EEF4FC"/>
                    </a:solidFill>
                  </a:tcPr>
                </a:tc>
                <a:tc>
                  <a:txBody>
                    <a:bodyPr/>
                    <a:lstStyle/>
                    <a:p>
                      <a:pPr algn="l"/>
                      <a:r>
                        <a:rPr sz="1600" b="0">
                          <a:solidFill>
                            <a:srgbClr val="0B0B0B"/>
                          </a:solidFill>
                          <a:latin typeface="Calibri"/>
                        </a:rPr>
                        <a:t>the floor to beat</a:t>
                      </a:r>
                    </a:p>
                  </a:txBody>
                  <a:tcPr anchor="ctr" marL="91440" marR="91440">
                    <a:solidFill>
                      <a:srgbClr val="EEF4FC"/>
                    </a:solidFill>
                  </a:tcPr>
                </a:tc>
              </a:tr>
              <a:tr h="566928">
                <a:tc>
                  <a:txBody>
                    <a:bodyPr/>
                    <a:lstStyle/>
                    <a:p>
                      <a:pPr algn="l"/>
                      <a:r>
                        <a:rPr sz="1600" b="1">
                          <a:solidFill>
                            <a:srgbClr val="0B0B0B"/>
                          </a:solidFill>
                          <a:latin typeface="Calibri"/>
                        </a:rPr>
                        <a:t>Linear Regression</a:t>
                      </a:r>
                    </a:p>
                  </a:txBody>
                  <a:tcPr anchor="ctr" marL="91440" marR="91440">
                    <a:solidFill>
                      <a:srgbClr val="FFFFFF"/>
                    </a:solidFill>
                  </a:tcPr>
                </a:tc>
                <a:tc>
                  <a:txBody>
                    <a:bodyPr/>
                    <a:lstStyle/>
                    <a:p>
                      <a:pPr algn="l"/>
                      <a:r>
                        <a:rPr sz="1600" b="0">
                          <a:solidFill>
                            <a:srgbClr val="0B0B0B"/>
                          </a:solidFill>
                          <a:latin typeface="Calibri"/>
                        </a:rPr>
                        <a:t>linear</a:t>
                      </a:r>
                    </a:p>
                  </a:txBody>
                  <a:tcPr anchor="ctr" marL="91440" marR="91440">
                    <a:solidFill>
                      <a:srgbClr val="FFFFFF"/>
                    </a:solidFill>
                  </a:tcPr>
                </a:tc>
                <a:tc>
                  <a:txBody>
                    <a:bodyPr/>
                    <a:lstStyle/>
                    <a:p>
                      <a:pPr algn="l"/>
                      <a:r>
                        <a:rPr sz="1600" b="0">
                          <a:solidFill>
                            <a:srgbClr val="0B0B0B"/>
                          </a:solidFill>
                          <a:latin typeface="Calibri"/>
                        </a:rPr>
                        <a:t>weighted sum of features</a:t>
                      </a:r>
                    </a:p>
                  </a:txBody>
                  <a:tcPr anchor="ctr" marL="91440" marR="91440">
                    <a:solidFill>
                      <a:srgbClr val="FFFFFF"/>
                    </a:solidFill>
                  </a:tcPr>
                </a:tc>
                <a:tc>
                  <a:txBody>
                    <a:bodyPr/>
                    <a:lstStyle/>
                    <a:p>
                      <a:pPr algn="l"/>
                      <a:r>
                        <a:rPr sz="1600" b="0">
                          <a:solidFill>
                            <a:srgbClr val="0B0B0B"/>
                          </a:solidFill>
                          <a:latin typeface="Calibri"/>
                        </a:rPr>
                        <a:t>interpretable status quo</a:t>
                      </a:r>
                    </a:p>
                  </a:txBody>
                  <a:tcPr anchor="ctr" marL="91440" marR="91440">
                    <a:solidFill>
                      <a:srgbClr val="FFFFFF"/>
                    </a:solidFill>
                  </a:tcPr>
                </a:tc>
              </a:tr>
              <a:tr h="566928">
                <a:tc>
                  <a:txBody>
                    <a:bodyPr/>
                    <a:lstStyle/>
                    <a:p>
                      <a:pPr algn="l"/>
                      <a:r>
                        <a:rPr sz="1600" b="1">
                          <a:solidFill>
                            <a:srgbClr val="0B0B0B"/>
                          </a:solidFill>
                          <a:latin typeface="Calibri"/>
                        </a:rPr>
                        <a:t>Random Forest</a:t>
                      </a:r>
                    </a:p>
                  </a:txBody>
                  <a:tcPr anchor="ctr" marL="91440" marR="91440">
                    <a:solidFill>
                      <a:srgbClr val="EEF4FC"/>
                    </a:solidFill>
                  </a:tcPr>
                </a:tc>
                <a:tc>
                  <a:txBody>
                    <a:bodyPr/>
                    <a:lstStyle/>
                    <a:p>
                      <a:pPr algn="l"/>
                      <a:r>
                        <a:rPr sz="1600" b="0">
                          <a:solidFill>
                            <a:srgbClr val="0B0B0B"/>
                          </a:solidFill>
                          <a:latin typeface="Calibri"/>
                        </a:rPr>
                        <a:t>bagging</a:t>
                      </a:r>
                    </a:p>
                  </a:txBody>
                  <a:tcPr anchor="ctr" marL="91440" marR="91440">
                    <a:solidFill>
                      <a:srgbClr val="EEF4FC"/>
                    </a:solidFill>
                  </a:tcPr>
                </a:tc>
                <a:tc>
                  <a:txBody>
                    <a:bodyPr/>
                    <a:lstStyle/>
                    <a:p>
                      <a:pPr algn="l"/>
                      <a:r>
                        <a:rPr sz="1600" b="0">
                          <a:solidFill>
                            <a:srgbClr val="0B0B0B"/>
                          </a:solidFill>
                          <a:latin typeface="Calibri"/>
                        </a:rPr>
                        <a:t>averages many deep trees</a:t>
                      </a:r>
                    </a:p>
                  </a:txBody>
                  <a:tcPr anchor="ctr" marL="91440" marR="91440">
                    <a:solidFill>
                      <a:srgbClr val="EEF4FC"/>
                    </a:solidFill>
                  </a:tcPr>
                </a:tc>
                <a:tc>
                  <a:txBody>
                    <a:bodyPr/>
                    <a:lstStyle/>
                    <a:p>
                      <a:pPr algn="l"/>
                      <a:r>
                        <a:rPr sz="1600" b="0">
                          <a:solidFill>
                            <a:srgbClr val="0B0B0B"/>
                          </a:solidFill>
                          <a:latin typeface="Calibri"/>
                        </a:rPr>
                        <a:t>robust, nonlinear</a:t>
                      </a:r>
                    </a:p>
                  </a:txBody>
                  <a:tcPr anchor="ctr" marL="91440" marR="91440">
                    <a:solidFill>
                      <a:srgbClr val="EEF4FC"/>
                    </a:solidFill>
                  </a:tcPr>
                </a:tc>
              </a:tr>
              <a:tr h="566928">
                <a:tc>
                  <a:txBody>
                    <a:bodyPr/>
                    <a:lstStyle/>
                    <a:p>
                      <a:pPr algn="l"/>
                      <a:r>
                        <a:rPr sz="1600" b="1">
                          <a:solidFill>
                            <a:srgbClr val="0B0B0B"/>
                          </a:solidFill>
                          <a:latin typeface="Calibri"/>
                        </a:rPr>
                        <a:t>XGBoost</a:t>
                      </a:r>
                    </a:p>
                  </a:txBody>
                  <a:tcPr anchor="ctr" marL="91440" marR="91440">
                    <a:solidFill>
                      <a:srgbClr val="FFFFFF"/>
                    </a:solidFill>
                  </a:tcPr>
                </a:tc>
                <a:tc>
                  <a:txBody>
                    <a:bodyPr/>
                    <a:lstStyle/>
                    <a:p>
                      <a:pPr algn="l"/>
                      <a:r>
                        <a:rPr sz="1600" b="0">
                          <a:solidFill>
                            <a:srgbClr val="0B0B0B"/>
                          </a:solidFill>
                          <a:latin typeface="Calibri"/>
                        </a:rPr>
                        <a:t>boosting, depth-wise</a:t>
                      </a:r>
                    </a:p>
                  </a:txBody>
                  <a:tcPr anchor="ctr" marL="91440" marR="91440">
                    <a:solidFill>
                      <a:srgbClr val="FFFFFF"/>
                    </a:solidFill>
                  </a:tcPr>
                </a:tc>
                <a:tc>
                  <a:txBody>
                    <a:bodyPr/>
                    <a:lstStyle/>
                    <a:p>
                      <a:pPr algn="l"/>
                      <a:r>
                        <a:rPr sz="1600" b="0">
                          <a:solidFill>
                            <a:srgbClr val="0B0B0B"/>
                          </a:solidFill>
                          <a:latin typeface="Calibri"/>
                        </a:rPr>
                        <a:t>each tree fixes past errors</a:t>
                      </a:r>
                    </a:p>
                  </a:txBody>
                  <a:tcPr anchor="ctr" marL="91440" marR="91440">
                    <a:solidFill>
                      <a:srgbClr val="FFFFFF"/>
                    </a:solidFill>
                  </a:tcPr>
                </a:tc>
                <a:tc>
                  <a:txBody>
                    <a:bodyPr/>
                    <a:lstStyle/>
                    <a:p>
                      <a:pPr algn="l"/>
                      <a:r>
                        <a:rPr sz="1600" b="0">
                          <a:solidFill>
                            <a:srgbClr val="0B0B0B"/>
                          </a:solidFill>
                          <a:latin typeface="Calibri"/>
                        </a:rPr>
                        <a:t>strong on tabular data</a:t>
                      </a:r>
                    </a:p>
                  </a:txBody>
                  <a:tcPr anchor="ctr" marL="91440" marR="91440">
                    <a:solidFill>
                      <a:srgbClr val="FFFFFF"/>
                    </a:solidFill>
                  </a:tcPr>
                </a:tc>
              </a:tr>
              <a:tr h="566928">
                <a:tc>
                  <a:txBody>
                    <a:bodyPr/>
                    <a:lstStyle/>
                    <a:p>
                      <a:pPr algn="l"/>
                      <a:r>
                        <a:rPr sz="1600" b="1">
                          <a:solidFill>
                            <a:srgbClr val="0B0B0B"/>
                          </a:solidFill>
                          <a:latin typeface="Calibri"/>
                        </a:rPr>
                        <a:t>LightGBM</a:t>
                      </a:r>
                    </a:p>
                  </a:txBody>
                  <a:tcPr anchor="ctr" marL="91440" marR="91440">
                    <a:solidFill>
                      <a:srgbClr val="EEF4FC"/>
                    </a:solidFill>
                  </a:tcPr>
                </a:tc>
                <a:tc>
                  <a:txBody>
                    <a:bodyPr/>
                    <a:lstStyle/>
                    <a:p>
                      <a:pPr algn="l"/>
                      <a:r>
                        <a:rPr sz="1600" b="0">
                          <a:solidFill>
                            <a:srgbClr val="0B0B0B"/>
                          </a:solidFill>
                          <a:latin typeface="Calibri"/>
                        </a:rPr>
                        <a:t>boosting, leaf-wise</a:t>
                      </a:r>
                    </a:p>
                  </a:txBody>
                  <a:tcPr anchor="ctr" marL="91440" marR="91440">
                    <a:solidFill>
                      <a:srgbClr val="EEF4FC"/>
                    </a:solidFill>
                  </a:tcPr>
                </a:tc>
                <a:tc>
                  <a:txBody>
                    <a:bodyPr/>
                    <a:lstStyle/>
                    <a:p>
                      <a:pPr algn="l"/>
                      <a:r>
                        <a:rPr sz="1600" b="0">
                          <a:solidFill>
                            <a:srgbClr val="0B0B0B"/>
                          </a:solidFill>
                          <a:latin typeface="Calibri"/>
                        </a:rPr>
                        <a:t>histogram splits, leaf-wise growth</a:t>
                      </a:r>
                    </a:p>
                  </a:txBody>
                  <a:tcPr anchor="ctr" marL="91440" marR="91440">
                    <a:solidFill>
                      <a:srgbClr val="EEF4FC"/>
                    </a:solidFill>
                  </a:tcPr>
                </a:tc>
                <a:tc>
                  <a:txBody>
                    <a:bodyPr/>
                    <a:lstStyle/>
                    <a:p>
                      <a:pPr algn="l"/>
                      <a:r>
                        <a:rPr sz="1600" b="0">
                          <a:solidFill>
                            <a:srgbClr val="0B0B0B"/>
                          </a:solidFill>
                          <a:latin typeface="Calibri"/>
                        </a:rPr>
                        <a:t>fast, fast exact SHAP</a:t>
                      </a:r>
                    </a:p>
                  </a:txBody>
                  <a:tcPr anchor="ctr" marL="91440" marR="91440">
                    <a:solidFill>
                      <a:srgbClr val="EEF4FC"/>
                    </a:solidFill>
                  </a:tcPr>
                </a:tc>
              </a:tr>
            </a:tbl>
          </a:graphicData>
        </a:graphic>
      </p:graphicFrame>
      <p:sp>
        <p:nvSpPr>
          <p:cNvPr id="8" name="Rounded Rectangle 7"/>
          <p:cNvSpPr/>
          <p:nvPr/>
        </p:nvSpPr>
        <p:spPr>
          <a:xfrm>
            <a:off x="548640" y="5166360"/>
            <a:ext cx="11064240" cy="10058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230368"/>
            <a:ext cx="10607040" cy="411480"/>
          </a:xfrm>
          <a:prstGeom prst="rect">
            <a:avLst/>
          </a:prstGeom>
          <a:noFill/>
        </p:spPr>
        <p:txBody>
          <a:bodyPr wrap="square" anchor="t" lIns="45720" rIns="45720">
            <a:spAutoFit/>
          </a:bodyPr>
          <a:lstStyle/>
          <a:p>
            <a:pPr algn="l">
              <a:spcAft>
                <a:spcPts val="0"/>
              </a:spcAft>
            </a:pPr>
            <a:r>
              <a:rPr sz="1800" b="1">
                <a:solidFill>
                  <a:srgbClr val="0B0B0B"/>
                </a:solidFill>
                <a:latin typeface="Calibri"/>
              </a:rPr>
              <a:t>Tuning, inside spatial CV</a:t>
            </a:r>
          </a:p>
        </p:txBody>
      </p:sp>
      <p:sp>
        <p:nvSpPr>
          <p:cNvPr id="10" name="TextBox 9"/>
          <p:cNvSpPr txBox="1"/>
          <p:nvPr/>
        </p:nvSpPr>
        <p:spPr>
          <a:xfrm>
            <a:off x="777240" y="5623560"/>
            <a:ext cx="10607040" cy="457200"/>
          </a:xfrm>
          <a:prstGeom prst="rect">
            <a:avLst/>
          </a:prstGeom>
          <a:noFill/>
        </p:spPr>
        <p:txBody>
          <a:bodyPr wrap="square" anchor="t" lIns="45720" rIns="45720">
            <a:spAutoFit/>
          </a:bodyPr>
          <a:lstStyle/>
          <a:p>
            <a:pPr algn="l">
              <a:spcAft>
                <a:spcPts val="0"/>
              </a:spcAft>
            </a:pPr>
            <a:r>
              <a:rPr sz="1600" b="0">
                <a:solidFill>
                  <a:srgbClr val="52514E"/>
                </a:solidFill>
                <a:latin typeface="Calibri"/>
              </a:rPr>
              <a:t>Randomised search · 25 candidates per model · 4 km spatial folds · 2023–24 only · 60,000-row sample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Random split vs spatial block split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SPATIAL CROSS-VALIDATION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9 / 16</a:t>
            </a:r>
          </a:p>
        </p:txBody>
      </p:sp>
      <p:sp>
        <p:nvSpPr>
          <p:cNvPr id="7" name="TextBox 6"/>
          <p:cNvSpPr txBox="1"/>
          <p:nvPr/>
        </p:nvSpPr>
        <p:spPr>
          <a:xfrm>
            <a:off x="548640" y="1371600"/>
            <a:ext cx="3566160" cy="411480"/>
          </a:xfrm>
          <a:prstGeom prst="rect">
            <a:avLst/>
          </a:prstGeom>
          <a:noFill/>
        </p:spPr>
        <p:txBody>
          <a:bodyPr wrap="square" anchor="t" lIns="45720" rIns="45720">
            <a:spAutoFit/>
          </a:bodyPr>
          <a:lstStyle/>
          <a:p>
            <a:pPr algn="l">
              <a:spcAft>
                <a:spcPts val="0"/>
              </a:spcAft>
            </a:pPr>
            <a:r>
              <a:rPr sz="1900" b="1">
                <a:solidFill>
                  <a:srgbClr val="0B0B0B"/>
                </a:solidFill>
                <a:latin typeface="Calibri"/>
              </a:rPr>
              <a:t>Random split</a:t>
            </a:r>
          </a:p>
        </p:txBody>
      </p:sp>
      <p:sp>
        <p:nvSpPr>
          <p:cNvPr id="8" name="Rectangle 7"/>
          <p:cNvSpPr/>
          <p:nvPr/>
        </p:nvSpPr>
        <p:spPr>
          <a:xfrm>
            <a:off x="548640"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8"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2416"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89304"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36192"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83080"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29968"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76856"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23744"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70632"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17520"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64408"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8"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42416"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9304"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536192"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83080"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29968"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76856"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23744"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70632"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017520"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64408"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5528"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42416" y="236829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89304" y="236829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536192"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783080"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29968"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276856"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523744"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70632"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017520"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64408"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95528"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416"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289304"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536192"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783080" y="261518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29968" y="261518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276856"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523744" y="261518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70632" y="261518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017520" y="261518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264408" y="261518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95528"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42416"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289304" y="286207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536192"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783080"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029968"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276856"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523744" y="286207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770632"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017520" y="286207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264408" y="28620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48640"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95528"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2416"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289304"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536192"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783080"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029968" y="310896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276856" y="310896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523744"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770632"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17520" y="310896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264408" y="31089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48640"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95528"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42416"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289304"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536192"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783080"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029968"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276856" y="335584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523744"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770632"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3017520"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264408" y="33558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48640"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95528" y="360273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42416"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289304"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536192" y="360273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783080" y="360273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029968" y="360273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276856"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523744"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770632"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017520" y="360273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264408" y="360273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48640"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95528"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42416"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289304"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36192" y="384962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783080"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2029968"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2276856"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523744"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2770632"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017520" y="3849624"/>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264408" y="3849624"/>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48640"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95528"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042416"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289304"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536192"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783080" y="409651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2029968"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2276856"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523744"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770632"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017520" y="409651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264408" y="409651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48640"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795528"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42416"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289304"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536192" y="434340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783080"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2029968" y="434340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2276856"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2523744"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2770632"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3017520" y="434340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3264408" y="434340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48640"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795528"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042416" y="459028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289304"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536192" y="459028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783080"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2029968"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2276856" y="459028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2523744"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2770632"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3017520"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3264408" y="4590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48640" y="4983480"/>
            <a:ext cx="329184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test cells touch training neighbours → leakage, optimistic score</a:t>
            </a:r>
          </a:p>
        </p:txBody>
      </p:sp>
      <p:sp>
        <p:nvSpPr>
          <p:cNvPr id="153" name="TextBox 152"/>
          <p:cNvSpPr txBox="1"/>
          <p:nvPr/>
        </p:nvSpPr>
        <p:spPr>
          <a:xfrm>
            <a:off x="4526280" y="1371600"/>
            <a:ext cx="3566160" cy="411480"/>
          </a:xfrm>
          <a:prstGeom prst="rect">
            <a:avLst/>
          </a:prstGeom>
          <a:noFill/>
        </p:spPr>
        <p:txBody>
          <a:bodyPr wrap="square" anchor="t" lIns="45720" rIns="45720">
            <a:spAutoFit/>
          </a:bodyPr>
          <a:lstStyle/>
          <a:p>
            <a:pPr algn="l">
              <a:spcAft>
                <a:spcPts val="0"/>
              </a:spcAft>
            </a:pPr>
            <a:r>
              <a:rPr sz="1900" b="1">
                <a:solidFill>
                  <a:srgbClr val="0B0B0B"/>
                </a:solidFill>
                <a:latin typeface="Calibri"/>
              </a:rPr>
              <a:t>Spatial block split</a:t>
            </a:r>
          </a:p>
        </p:txBody>
      </p:sp>
      <p:sp>
        <p:nvSpPr>
          <p:cNvPr id="154" name="Rectangle 153"/>
          <p:cNvSpPr/>
          <p:nvPr/>
        </p:nvSpPr>
        <p:spPr>
          <a:xfrm>
            <a:off x="4526280"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4773168"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5020056"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5312664"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559552"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5806440" y="187451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6099048"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345936"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592824"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885432"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132320"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379208" y="187451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526280"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773168"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5020056"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5312664"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5559552"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806440" y="212140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099048"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345936"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592824"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6885432"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7132320"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7379208" y="212140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526280"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4773168"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020056"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312664" y="236829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559552" y="236829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806440" y="236829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099048"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345936"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592824"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6885432"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7132320"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7379208" y="236829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526280"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4773168"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020056"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312664"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559552"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806440"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6099048"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345936"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592824" y="266090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6885432" y="2660903"/>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7132320" y="2660903"/>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7379208" y="2660903"/>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4526280"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4773168"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020056"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312664"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5559552"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5806440"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6099048"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345936"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6592824" y="2907791"/>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885432" y="2907791"/>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7132320" y="2907791"/>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7379208" y="2907791"/>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4526280"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4773168"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5020056"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5312664"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5559552"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5806440"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6099048"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6345936"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6592824" y="3154679"/>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6885432" y="315467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7132320" y="315467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7379208" y="3154679"/>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4526280" y="344728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4773168" y="344728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5020056" y="344728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5312664"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5559552"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5806440"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6099048"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345936"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592824"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6885432"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7132320"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7379208" y="344728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4526280" y="369417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4773168" y="369417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5020056" y="3694176"/>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312664"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559552"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5806440"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6099048"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6345936"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6592824"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6885432"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7132320"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7379208" y="3694176"/>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4526280" y="3941063"/>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4773168" y="3941063"/>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5020056" y="3941063"/>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5312664"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5559552"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5806440"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6099048"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6345936"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6592824"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885432"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7132320"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7379208" y="3941063"/>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4526280"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4773168"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5020056"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5312664"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5559552"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5806440"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6099048" y="423367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6345936" y="423367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6592824" y="4233672"/>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6885432"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7132320"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7379208" y="4233672"/>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4526280"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4773168"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5020056"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5312664"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5559552"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5806440"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6099048" y="448056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6345936" y="448056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6592824" y="4480560"/>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6885432"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7132320"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7379208" y="4480560"/>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4526280"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4773168"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5020056"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5312664"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5559552"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5806440"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6099048" y="472744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6345936" y="472744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6592824" y="4727448"/>
            <a:ext cx="219456" cy="21945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6885432"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7132320"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7379208" y="4727448"/>
            <a:ext cx="219456" cy="219456"/>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4526280" y="4983480"/>
            <a:ext cx="329184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whole 4 km blocks held out → honest score</a:t>
            </a:r>
          </a:p>
        </p:txBody>
      </p:sp>
      <p:sp>
        <p:nvSpPr>
          <p:cNvPr id="299" name="Right Arrow 298"/>
          <p:cNvSpPr/>
          <p:nvPr/>
        </p:nvSpPr>
        <p:spPr>
          <a:xfrm>
            <a:off x="3931920" y="3246120"/>
            <a:ext cx="457200" cy="41148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548640" y="5852160"/>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804672" y="5788152"/>
            <a:ext cx="1097280" cy="320040"/>
          </a:xfrm>
          <a:prstGeom prst="rect">
            <a:avLst/>
          </a:prstGeom>
          <a:noFill/>
        </p:spPr>
        <p:txBody>
          <a:bodyPr wrap="square" anchor="t" lIns="45720" rIns="45720">
            <a:spAutoFit/>
          </a:bodyPr>
          <a:lstStyle/>
          <a:p>
            <a:pPr algn="l">
              <a:spcAft>
                <a:spcPts val="0"/>
              </a:spcAft>
            </a:pPr>
            <a:r>
              <a:rPr sz="1400" b="0">
                <a:solidFill>
                  <a:srgbClr val="52514E"/>
                </a:solidFill>
                <a:latin typeface="Calibri"/>
              </a:rPr>
              <a:t>test</a:t>
            </a:r>
          </a:p>
        </p:txBody>
      </p:sp>
      <p:sp>
        <p:nvSpPr>
          <p:cNvPr id="302" name="Rectangle 301"/>
          <p:cNvSpPr/>
          <p:nvPr/>
        </p:nvSpPr>
        <p:spPr>
          <a:xfrm>
            <a:off x="1600200" y="5852160"/>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856231" y="5788152"/>
            <a:ext cx="1097280" cy="320040"/>
          </a:xfrm>
          <a:prstGeom prst="rect">
            <a:avLst/>
          </a:prstGeom>
          <a:noFill/>
        </p:spPr>
        <p:txBody>
          <a:bodyPr wrap="square" anchor="t" lIns="45720" rIns="45720">
            <a:spAutoFit/>
          </a:bodyPr>
          <a:lstStyle/>
          <a:p>
            <a:pPr algn="l">
              <a:spcAft>
                <a:spcPts val="0"/>
              </a:spcAft>
            </a:pPr>
            <a:r>
              <a:rPr sz="1400" b="0">
                <a:solidFill>
                  <a:srgbClr val="52514E"/>
                </a:solidFill>
                <a:latin typeface="Calibri"/>
              </a:rPr>
              <a:t>train</a:t>
            </a:r>
          </a:p>
        </p:txBody>
      </p:sp>
      <p:sp>
        <p:nvSpPr>
          <p:cNvPr id="304" name="Rounded Rectangle 303"/>
          <p:cNvSpPr/>
          <p:nvPr/>
        </p:nvSpPr>
        <p:spPr>
          <a:xfrm>
            <a:off x="8366760" y="1463040"/>
            <a:ext cx="3246120" cy="14173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8549640" y="1554480"/>
            <a:ext cx="2971800" cy="380999"/>
          </a:xfrm>
          <a:prstGeom prst="rect">
            <a:avLst/>
          </a:prstGeom>
          <a:noFill/>
        </p:spPr>
        <p:txBody>
          <a:bodyPr wrap="square" anchor="t" lIns="45720" rIns="45720">
            <a:spAutoFit/>
          </a:bodyPr>
          <a:lstStyle/>
          <a:p>
            <a:pPr algn="l">
              <a:spcAft>
                <a:spcPts val="600"/>
              </a:spcAft>
            </a:pPr>
            <a:r>
              <a:rPr sz="2400" b="1">
                <a:solidFill>
                  <a:srgbClr val="2A78D6"/>
                </a:solidFill>
                <a:latin typeface="Calibri"/>
              </a:rPr>
              <a:t>3,950 m → 4 km</a:t>
            </a:r>
          </a:p>
        </p:txBody>
      </p:sp>
      <p:sp>
        <p:nvSpPr>
          <p:cNvPr id="306" name="TextBox 305"/>
          <p:cNvSpPr txBox="1"/>
          <p:nvPr/>
        </p:nvSpPr>
        <p:spPr>
          <a:xfrm>
            <a:off x="8549640" y="1935480"/>
            <a:ext cx="2971800" cy="822960"/>
          </a:xfrm>
          <a:prstGeom prst="rect">
            <a:avLst/>
          </a:prstGeom>
          <a:noFill/>
        </p:spPr>
        <p:txBody>
          <a:bodyPr wrap="square" anchor="t" lIns="45720" rIns="45720">
            <a:spAutoFit/>
          </a:bodyPr>
          <a:lstStyle/>
          <a:p>
            <a:pPr algn="l">
              <a:spcAft>
                <a:spcPts val="600"/>
              </a:spcAft>
            </a:pPr>
            <a:r>
              <a:rPr sz="1400" b="0">
                <a:solidFill>
                  <a:srgbClr val="52514E"/>
                </a:solidFill>
                <a:latin typeface="Calibri"/>
              </a:rPr>
              <a:t>residual autocorrelation range sets the block</a:t>
            </a:r>
          </a:p>
        </p:txBody>
      </p:sp>
      <p:sp>
        <p:nvSpPr>
          <p:cNvPr id="307" name="Rounded Rectangle 306"/>
          <p:cNvSpPr/>
          <p:nvPr/>
        </p:nvSpPr>
        <p:spPr>
          <a:xfrm>
            <a:off x="8366760" y="3063240"/>
            <a:ext cx="3246120" cy="14173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8549640" y="3154680"/>
            <a:ext cx="2971800" cy="380999"/>
          </a:xfrm>
          <a:prstGeom prst="rect">
            <a:avLst/>
          </a:prstGeom>
          <a:noFill/>
        </p:spPr>
        <p:txBody>
          <a:bodyPr wrap="square" anchor="t" lIns="45720" rIns="45720">
            <a:spAutoFit/>
          </a:bodyPr>
          <a:lstStyle/>
          <a:p>
            <a:pPr algn="l">
              <a:spcAft>
                <a:spcPts val="600"/>
              </a:spcAft>
            </a:pPr>
            <a:r>
              <a:rPr sz="2400" b="1">
                <a:solidFill>
                  <a:srgbClr val="2A78D6"/>
                </a:solidFill>
                <a:latin typeface="Calibri"/>
              </a:rPr>
              <a:t>5 × 5 = 25 runs</a:t>
            </a:r>
          </a:p>
        </p:txBody>
      </p:sp>
      <p:sp>
        <p:nvSpPr>
          <p:cNvPr id="309" name="TextBox 308"/>
          <p:cNvSpPr txBox="1"/>
          <p:nvPr/>
        </p:nvSpPr>
        <p:spPr>
          <a:xfrm>
            <a:off x="8549640" y="3535680"/>
            <a:ext cx="2971800" cy="822960"/>
          </a:xfrm>
          <a:prstGeom prst="rect">
            <a:avLst/>
          </a:prstGeom>
          <a:noFill/>
        </p:spPr>
        <p:txBody>
          <a:bodyPr wrap="square" anchor="t" lIns="45720" rIns="45720">
            <a:spAutoFit/>
          </a:bodyPr>
          <a:lstStyle/>
          <a:p>
            <a:pPr algn="l">
              <a:spcAft>
                <a:spcPts val="600"/>
              </a:spcAft>
            </a:pPr>
            <a:r>
              <a:rPr sz="1400" b="0">
                <a:solidFill>
                  <a:srgbClr val="52514E"/>
                </a:solidFill>
                <a:latin typeface="Calibri"/>
              </a:rPr>
              <a:t>seeds × folds behind every score</a:t>
            </a:r>
          </a:p>
        </p:txBody>
      </p:sp>
      <p:sp>
        <p:nvSpPr>
          <p:cNvPr id="310" name="Rounded Rectangle 309"/>
          <p:cNvSpPr/>
          <p:nvPr/>
        </p:nvSpPr>
        <p:spPr>
          <a:xfrm>
            <a:off x="8366760" y="4663440"/>
            <a:ext cx="3246120" cy="14173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8549640" y="4754879"/>
            <a:ext cx="2971800" cy="380999"/>
          </a:xfrm>
          <a:prstGeom prst="rect">
            <a:avLst/>
          </a:prstGeom>
          <a:noFill/>
        </p:spPr>
        <p:txBody>
          <a:bodyPr wrap="square" anchor="t" lIns="45720" rIns="45720">
            <a:spAutoFit/>
          </a:bodyPr>
          <a:lstStyle/>
          <a:p>
            <a:pPr algn="l">
              <a:spcAft>
                <a:spcPts val="600"/>
              </a:spcAft>
            </a:pPr>
            <a:r>
              <a:rPr sz="2400" b="1">
                <a:solidFill>
                  <a:srgbClr val="2A78D6"/>
                </a:solidFill>
                <a:latin typeface="Calibri"/>
              </a:rPr>
              <a:t>+0.02 vs +0.12–0.15 °C</a:t>
            </a:r>
          </a:p>
        </p:txBody>
      </p:sp>
      <p:sp>
        <p:nvSpPr>
          <p:cNvPr id="312" name="TextBox 311"/>
          <p:cNvSpPr txBox="1"/>
          <p:nvPr/>
        </p:nvSpPr>
        <p:spPr>
          <a:xfrm>
            <a:off x="8549640" y="5135880"/>
            <a:ext cx="2971800" cy="822960"/>
          </a:xfrm>
          <a:prstGeom prst="rect">
            <a:avLst/>
          </a:prstGeom>
          <a:noFill/>
        </p:spPr>
        <p:txBody>
          <a:bodyPr wrap="square" anchor="t" lIns="45720" rIns="45720">
            <a:spAutoFit/>
          </a:bodyPr>
          <a:lstStyle/>
          <a:p>
            <a:pPr algn="l">
              <a:spcAft>
                <a:spcPts val="600"/>
              </a:spcAft>
            </a:pPr>
            <a:r>
              <a:rPr sz="1400" b="0">
                <a:solidFill>
                  <a:srgbClr val="52514E"/>
                </a:solidFill>
                <a:latin typeface="Calibri"/>
              </a:rPr>
              <a:t>RMSE inflation, random → blocks: linear vs trees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Honest accuracy: the tree models tie, LightGBM is selected</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RESULTS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10 / 16</a:t>
            </a:r>
          </a:p>
        </p:txBody>
      </p:sp>
      <p:graphicFrame>
        <p:nvGraphicFramePr>
          <p:cNvPr id="7" name="Table 6"/>
          <p:cNvGraphicFramePr>
            <a:graphicFrameLocks noGrp="1"/>
          </p:cNvGraphicFramePr>
          <p:nvPr/>
        </p:nvGraphicFramePr>
        <p:xfrm>
          <a:off x="548640" y="1463040"/>
          <a:ext cx="7863840" cy="3621024"/>
        </p:xfrm>
        <a:graphic>
          <a:graphicData uri="http://schemas.openxmlformats.org/drawingml/2006/table">
            <a:tbl>
              <a:tblPr firstRow="1" bandRow="1">
                <a:tableStyleId>{5C22544A-7EE6-4342-B048-85BDC9FD1C3A}</a:tableStyleId>
              </a:tblPr>
              <a:tblGrid>
                <a:gridCol w="1965960"/>
                <a:gridCol w="1325880"/>
                <a:gridCol w="1188720"/>
                <a:gridCol w="1051560"/>
                <a:gridCol w="1280160"/>
                <a:gridCol w="1051560"/>
              </a:tblGrid>
              <a:tr h="603504">
                <a:tc>
                  <a:txBody>
                    <a:bodyPr/>
                    <a:lstStyle/>
                    <a:p>
                      <a:pPr algn="l"/>
                      <a:r>
                        <a:rPr sz="1500" b="1">
                          <a:solidFill>
                            <a:srgbClr val="FFFFFF"/>
                          </a:solidFill>
                          <a:latin typeface="Calibri"/>
                        </a:rPr>
                        <a:t>Model</a:t>
                      </a:r>
                    </a:p>
                  </a:txBody>
                  <a:tcPr anchor="ctr" marL="91440" marR="91440">
                    <a:solidFill>
                      <a:srgbClr val="2A78D6"/>
                    </a:solidFill>
                  </a:tcPr>
                </a:tc>
                <a:tc>
                  <a:txBody>
                    <a:bodyPr/>
                    <a:lstStyle/>
                    <a:p>
                      <a:pPr algn="ctr"/>
                      <a:r>
                        <a:rPr sz="1500" b="1">
                          <a:solidFill>
                            <a:srgbClr val="FFFFFF"/>
                          </a:solidFill>
                          <a:latin typeface="Calibri"/>
                        </a:rPr>
                        <a:t>RMSE random</a:t>
                      </a:r>
                    </a:p>
                  </a:txBody>
                  <a:tcPr anchor="ctr" marL="91440" marR="91440">
                    <a:solidFill>
                      <a:srgbClr val="2A78D6"/>
                    </a:solidFill>
                  </a:tcPr>
                </a:tc>
                <a:tc>
                  <a:txBody>
                    <a:bodyPr/>
                    <a:lstStyle/>
                    <a:p>
                      <a:pPr algn="ctr"/>
                      <a:r>
                        <a:rPr sz="1500" b="1">
                          <a:solidFill>
                            <a:srgbClr val="FFFFFF"/>
                          </a:solidFill>
                          <a:latin typeface="Calibri"/>
                        </a:rPr>
                        <a:t>RMSE 4 km</a:t>
                      </a:r>
                    </a:p>
                  </a:txBody>
                  <a:tcPr anchor="ctr" marL="91440" marR="91440">
                    <a:solidFill>
                      <a:srgbClr val="2A78D6"/>
                    </a:solidFill>
                  </a:tcPr>
                </a:tc>
                <a:tc>
                  <a:txBody>
                    <a:bodyPr/>
                    <a:lstStyle/>
                    <a:p>
                      <a:pPr algn="ctr"/>
                      <a:r>
                        <a:rPr sz="1500" b="1">
                          <a:solidFill>
                            <a:srgbClr val="FFFFFF"/>
                          </a:solidFill>
                          <a:latin typeface="Calibri"/>
                        </a:rPr>
                        <a:t>R² 4 km</a:t>
                      </a:r>
                    </a:p>
                  </a:txBody>
                  <a:tcPr anchor="ctr" marL="91440" marR="91440">
                    <a:solidFill>
                      <a:srgbClr val="2A78D6"/>
                    </a:solidFill>
                  </a:tcPr>
                </a:tc>
                <a:tc>
                  <a:txBody>
                    <a:bodyPr/>
                    <a:lstStyle/>
                    <a:p>
                      <a:pPr algn="ctr"/>
                      <a:r>
                        <a:rPr sz="1500" b="1">
                          <a:solidFill>
                            <a:srgbClr val="FFFFFF"/>
                          </a:solidFill>
                          <a:latin typeface="Calibri"/>
                        </a:rPr>
                        <a:t>RMSE 2025</a:t>
                      </a:r>
                    </a:p>
                  </a:txBody>
                  <a:tcPr anchor="ctr" marL="91440" marR="91440">
                    <a:solidFill>
                      <a:srgbClr val="2A78D6"/>
                    </a:solidFill>
                  </a:tcPr>
                </a:tc>
                <a:tc>
                  <a:txBody>
                    <a:bodyPr/>
                    <a:lstStyle/>
                    <a:p>
                      <a:pPr algn="ctr"/>
                      <a:r>
                        <a:rPr sz="1500" b="1">
                          <a:solidFill>
                            <a:srgbClr val="FFFFFF"/>
                          </a:solidFill>
                          <a:latin typeface="Calibri"/>
                        </a:rPr>
                        <a:t>R² 2025</a:t>
                      </a:r>
                    </a:p>
                  </a:txBody>
                  <a:tcPr anchor="ctr" marL="91440" marR="91440">
                    <a:solidFill>
                      <a:srgbClr val="2A78D6"/>
                    </a:solidFill>
                  </a:tcPr>
                </a:tc>
              </a:tr>
              <a:tr h="603504">
                <a:tc>
                  <a:txBody>
                    <a:bodyPr/>
                    <a:lstStyle/>
                    <a:p>
                      <a:pPr algn="l"/>
                      <a:r>
                        <a:rPr sz="1600" b="1">
                          <a:solidFill>
                            <a:srgbClr val="0B0B0B"/>
                          </a:solidFill>
                          <a:latin typeface="Calibri"/>
                        </a:rPr>
                        <a:t>Mean baseline</a:t>
                      </a:r>
                    </a:p>
                  </a:txBody>
                  <a:tcPr anchor="ctr" marL="91440" marR="91440">
                    <a:solidFill>
                      <a:srgbClr val="EEF4FC"/>
                    </a:solidFill>
                  </a:tcPr>
                </a:tc>
                <a:tc>
                  <a:txBody>
                    <a:bodyPr/>
                    <a:lstStyle/>
                    <a:p>
                      <a:pPr algn="ctr"/>
                      <a:r>
                        <a:rPr sz="1600" b="0">
                          <a:solidFill>
                            <a:srgbClr val="0B0B0B"/>
                          </a:solidFill>
                          <a:latin typeface="Calibri"/>
                        </a:rPr>
                        <a:t>3.43</a:t>
                      </a:r>
                    </a:p>
                  </a:txBody>
                  <a:tcPr anchor="ctr" marL="91440" marR="91440">
                    <a:solidFill>
                      <a:srgbClr val="EEF4FC"/>
                    </a:solidFill>
                  </a:tcPr>
                </a:tc>
                <a:tc>
                  <a:txBody>
                    <a:bodyPr/>
                    <a:lstStyle/>
                    <a:p>
                      <a:pPr algn="ctr"/>
                      <a:r>
                        <a:rPr sz="1600" b="0">
                          <a:solidFill>
                            <a:srgbClr val="0B0B0B"/>
                          </a:solidFill>
                          <a:latin typeface="Calibri"/>
                        </a:rPr>
                        <a:t>3.45</a:t>
                      </a:r>
                    </a:p>
                  </a:txBody>
                  <a:tcPr anchor="ctr" marL="91440" marR="91440">
                    <a:solidFill>
                      <a:srgbClr val="EEF4FC"/>
                    </a:solidFill>
                  </a:tcPr>
                </a:tc>
                <a:tc>
                  <a:txBody>
                    <a:bodyPr/>
                    <a:lstStyle/>
                    <a:p>
                      <a:pPr algn="ctr"/>
                      <a:r>
                        <a:rPr sz="1600" b="0">
                          <a:solidFill>
                            <a:srgbClr val="0B0B0B"/>
                          </a:solidFill>
                          <a:latin typeface="Calibri"/>
                        </a:rPr>
                        <a:t>−0.04</a:t>
                      </a:r>
                    </a:p>
                  </a:txBody>
                  <a:tcPr anchor="ctr" marL="91440" marR="91440">
                    <a:solidFill>
                      <a:srgbClr val="EEF4FC"/>
                    </a:solidFill>
                  </a:tcPr>
                </a:tc>
                <a:tc>
                  <a:txBody>
                    <a:bodyPr/>
                    <a:lstStyle/>
                    <a:p>
                      <a:pPr algn="ctr"/>
                      <a:r>
                        <a:rPr sz="1600" b="0">
                          <a:solidFill>
                            <a:srgbClr val="0B0B0B"/>
                          </a:solidFill>
                          <a:latin typeface="Calibri"/>
                        </a:rPr>
                        <a:t>3.39</a:t>
                      </a:r>
                    </a:p>
                  </a:txBody>
                  <a:tcPr anchor="ctr" marL="91440" marR="91440">
                    <a:solidFill>
                      <a:srgbClr val="EEF4FC"/>
                    </a:solidFill>
                  </a:tcPr>
                </a:tc>
                <a:tc>
                  <a:txBody>
                    <a:bodyPr/>
                    <a:lstStyle/>
                    <a:p>
                      <a:pPr algn="ctr"/>
                      <a:r>
                        <a:rPr sz="1600" b="0">
                          <a:solidFill>
                            <a:srgbClr val="0B0B0B"/>
                          </a:solidFill>
                          <a:latin typeface="Calibri"/>
                        </a:rPr>
                        <a:t>−0.04</a:t>
                      </a:r>
                    </a:p>
                  </a:txBody>
                  <a:tcPr anchor="ctr" marL="91440" marR="91440">
                    <a:solidFill>
                      <a:srgbClr val="EEF4FC"/>
                    </a:solidFill>
                  </a:tcPr>
                </a:tc>
              </a:tr>
              <a:tr h="603504">
                <a:tc>
                  <a:txBody>
                    <a:bodyPr/>
                    <a:lstStyle/>
                    <a:p>
                      <a:pPr algn="l"/>
                      <a:r>
                        <a:rPr sz="1600" b="1">
                          <a:solidFill>
                            <a:srgbClr val="0B0B0B"/>
                          </a:solidFill>
                          <a:latin typeface="Calibri"/>
                        </a:rPr>
                        <a:t>Linear Regression</a:t>
                      </a:r>
                    </a:p>
                  </a:txBody>
                  <a:tcPr anchor="ctr" marL="91440" marR="91440">
                    <a:solidFill>
                      <a:srgbClr val="FFFFFF"/>
                    </a:solidFill>
                  </a:tcPr>
                </a:tc>
                <a:tc>
                  <a:txBody>
                    <a:bodyPr/>
                    <a:lstStyle/>
                    <a:p>
                      <a:pPr algn="ctr"/>
                      <a:r>
                        <a:rPr sz="1600" b="0">
                          <a:solidFill>
                            <a:srgbClr val="0B0B0B"/>
                          </a:solidFill>
                          <a:latin typeface="Calibri"/>
                        </a:rPr>
                        <a:t>1.85</a:t>
                      </a:r>
                    </a:p>
                  </a:txBody>
                  <a:tcPr anchor="ctr" marL="91440" marR="91440">
                    <a:solidFill>
                      <a:srgbClr val="FFFFFF"/>
                    </a:solidFill>
                  </a:tcPr>
                </a:tc>
                <a:tc>
                  <a:txBody>
                    <a:bodyPr/>
                    <a:lstStyle/>
                    <a:p>
                      <a:pPr algn="ctr"/>
                      <a:r>
                        <a:rPr sz="1600" b="0">
                          <a:solidFill>
                            <a:srgbClr val="0B0B0B"/>
                          </a:solidFill>
                          <a:latin typeface="Calibri"/>
                        </a:rPr>
                        <a:t>1.87</a:t>
                      </a:r>
                    </a:p>
                  </a:txBody>
                  <a:tcPr anchor="ctr" marL="91440" marR="91440">
                    <a:solidFill>
                      <a:srgbClr val="FFFFFF"/>
                    </a:solidFill>
                  </a:tcPr>
                </a:tc>
                <a:tc>
                  <a:txBody>
                    <a:bodyPr/>
                    <a:lstStyle/>
                    <a:p>
                      <a:pPr algn="ctr"/>
                      <a:r>
                        <a:rPr sz="1600" b="0">
                          <a:solidFill>
                            <a:srgbClr val="0B0B0B"/>
                          </a:solidFill>
                          <a:latin typeface="Calibri"/>
                        </a:rPr>
                        <a:t>0.69</a:t>
                      </a:r>
                    </a:p>
                  </a:txBody>
                  <a:tcPr anchor="ctr" marL="91440" marR="91440">
                    <a:solidFill>
                      <a:srgbClr val="FFFFFF"/>
                    </a:solidFill>
                  </a:tcPr>
                </a:tc>
                <a:tc>
                  <a:txBody>
                    <a:bodyPr/>
                    <a:lstStyle/>
                    <a:p>
                      <a:pPr algn="ctr"/>
                      <a:r>
                        <a:rPr sz="1600" b="0">
                          <a:solidFill>
                            <a:srgbClr val="0B0B0B"/>
                          </a:solidFill>
                          <a:latin typeface="Calibri"/>
                        </a:rPr>
                        <a:t>1.90</a:t>
                      </a:r>
                    </a:p>
                  </a:txBody>
                  <a:tcPr anchor="ctr" marL="91440" marR="91440">
                    <a:solidFill>
                      <a:srgbClr val="FFFFFF"/>
                    </a:solidFill>
                  </a:tcPr>
                </a:tc>
                <a:tc>
                  <a:txBody>
                    <a:bodyPr/>
                    <a:lstStyle/>
                    <a:p>
                      <a:pPr algn="ctr"/>
                      <a:r>
                        <a:rPr sz="1600" b="0">
                          <a:solidFill>
                            <a:srgbClr val="0B0B0B"/>
                          </a:solidFill>
                          <a:latin typeface="Calibri"/>
                        </a:rPr>
                        <a:t>0.67</a:t>
                      </a:r>
                    </a:p>
                  </a:txBody>
                  <a:tcPr anchor="ctr" marL="91440" marR="91440">
                    <a:solidFill>
                      <a:srgbClr val="FFFFFF"/>
                    </a:solidFill>
                  </a:tcPr>
                </a:tc>
              </a:tr>
              <a:tr h="603504">
                <a:tc>
                  <a:txBody>
                    <a:bodyPr/>
                    <a:lstStyle/>
                    <a:p>
                      <a:pPr algn="l"/>
                      <a:r>
                        <a:rPr sz="1600" b="1">
                          <a:solidFill>
                            <a:srgbClr val="0B0B0B"/>
                          </a:solidFill>
                          <a:latin typeface="Calibri"/>
                        </a:rPr>
                        <a:t>Random Forest</a:t>
                      </a:r>
                    </a:p>
                  </a:txBody>
                  <a:tcPr anchor="ctr" marL="91440" marR="91440">
                    <a:solidFill>
                      <a:srgbClr val="EEF4FC"/>
                    </a:solidFill>
                  </a:tcPr>
                </a:tc>
                <a:tc>
                  <a:txBody>
                    <a:bodyPr/>
                    <a:lstStyle/>
                    <a:p>
                      <a:pPr algn="ctr"/>
                      <a:r>
                        <a:rPr sz="1600" b="0">
                          <a:solidFill>
                            <a:srgbClr val="0B0B0B"/>
                          </a:solidFill>
                          <a:latin typeface="Calibri"/>
                        </a:rPr>
                        <a:t>1.64</a:t>
                      </a:r>
                    </a:p>
                  </a:txBody>
                  <a:tcPr anchor="ctr" marL="91440" marR="91440">
                    <a:solidFill>
                      <a:srgbClr val="EEF4FC"/>
                    </a:solidFill>
                  </a:tcPr>
                </a:tc>
                <a:tc>
                  <a:txBody>
                    <a:bodyPr/>
                    <a:lstStyle/>
                    <a:p>
                      <a:pPr algn="ctr"/>
                      <a:r>
                        <a:rPr sz="1600" b="0">
                          <a:solidFill>
                            <a:srgbClr val="0B0B0B"/>
                          </a:solidFill>
                          <a:latin typeface="Calibri"/>
                        </a:rPr>
                        <a:t>1.76</a:t>
                      </a:r>
                    </a:p>
                  </a:txBody>
                  <a:tcPr anchor="ctr" marL="91440" marR="91440">
                    <a:solidFill>
                      <a:srgbClr val="EEF4FC"/>
                    </a:solidFill>
                  </a:tcPr>
                </a:tc>
                <a:tc>
                  <a:txBody>
                    <a:bodyPr/>
                    <a:lstStyle/>
                    <a:p>
                      <a:pPr algn="ctr"/>
                      <a:r>
                        <a:rPr sz="1600" b="0">
                          <a:solidFill>
                            <a:srgbClr val="0B0B0B"/>
                          </a:solidFill>
                          <a:latin typeface="Calibri"/>
                        </a:rPr>
                        <a:t>0.73</a:t>
                      </a:r>
                    </a:p>
                  </a:txBody>
                  <a:tcPr anchor="ctr" marL="91440" marR="91440">
                    <a:solidFill>
                      <a:srgbClr val="EEF4FC"/>
                    </a:solidFill>
                  </a:tcPr>
                </a:tc>
                <a:tc>
                  <a:txBody>
                    <a:bodyPr/>
                    <a:lstStyle/>
                    <a:p>
                      <a:pPr algn="ctr"/>
                      <a:r>
                        <a:rPr sz="1600" b="0">
                          <a:solidFill>
                            <a:srgbClr val="0B0B0B"/>
                          </a:solidFill>
                          <a:latin typeface="Calibri"/>
                        </a:rPr>
                        <a:t>1.75</a:t>
                      </a:r>
                    </a:p>
                  </a:txBody>
                  <a:tcPr anchor="ctr" marL="91440" marR="91440">
                    <a:solidFill>
                      <a:srgbClr val="EEF4FC"/>
                    </a:solidFill>
                  </a:tcPr>
                </a:tc>
                <a:tc>
                  <a:txBody>
                    <a:bodyPr/>
                    <a:lstStyle/>
                    <a:p>
                      <a:pPr algn="ctr"/>
                      <a:r>
                        <a:rPr sz="1600" b="0">
                          <a:solidFill>
                            <a:srgbClr val="0B0B0B"/>
                          </a:solidFill>
                          <a:latin typeface="Calibri"/>
                        </a:rPr>
                        <a:t>0.72</a:t>
                      </a:r>
                    </a:p>
                  </a:txBody>
                  <a:tcPr anchor="ctr" marL="91440" marR="91440">
                    <a:solidFill>
                      <a:srgbClr val="EEF4FC"/>
                    </a:solidFill>
                  </a:tcPr>
                </a:tc>
              </a:tr>
              <a:tr h="603504">
                <a:tc>
                  <a:txBody>
                    <a:bodyPr/>
                    <a:lstStyle/>
                    <a:p>
                      <a:pPr algn="l"/>
                      <a:r>
                        <a:rPr sz="1600" b="1">
                          <a:solidFill>
                            <a:srgbClr val="0B0B0B"/>
                          </a:solidFill>
                          <a:latin typeface="Calibri"/>
                        </a:rPr>
                        <a:t>XGBoost</a:t>
                      </a:r>
                    </a:p>
                  </a:txBody>
                  <a:tcPr anchor="ctr" marL="91440" marR="91440">
                    <a:solidFill>
                      <a:srgbClr val="FFFFFF"/>
                    </a:solidFill>
                  </a:tcPr>
                </a:tc>
                <a:tc>
                  <a:txBody>
                    <a:bodyPr/>
                    <a:lstStyle/>
                    <a:p>
                      <a:pPr algn="ctr"/>
                      <a:r>
                        <a:rPr sz="1600" b="0">
                          <a:solidFill>
                            <a:srgbClr val="0B0B0B"/>
                          </a:solidFill>
                          <a:latin typeface="Calibri"/>
                        </a:rPr>
                        <a:t>1.59</a:t>
                      </a:r>
                    </a:p>
                  </a:txBody>
                  <a:tcPr anchor="ctr" marL="91440" marR="91440">
                    <a:solidFill>
                      <a:srgbClr val="FFFFFF"/>
                    </a:solidFill>
                  </a:tcPr>
                </a:tc>
                <a:tc>
                  <a:txBody>
                    <a:bodyPr/>
                    <a:lstStyle/>
                    <a:p>
                      <a:pPr algn="ctr"/>
                      <a:r>
                        <a:rPr sz="1600" b="0">
                          <a:solidFill>
                            <a:srgbClr val="0B0B0B"/>
                          </a:solidFill>
                          <a:latin typeface="Calibri"/>
                        </a:rPr>
                        <a:t>1.75</a:t>
                      </a:r>
                    </a:p>
                  </a:txBody>
                  <a:tcPr anchor="ctr" marL="91440" marR="91440">
                    <a:solidFill>
                      <a:srgbClr val="FFFFFF"/>
                    </a:solidFill>
                  </a:tcPr>
                </a:tc>
                <a:tc>
                  <a:txBody>
                    <a:bodyPr/>
                    <a:lstStyle/>
                    <a:p>
                      <a:pPr algn="ctr"/>
                      <a:r>
                        <a:rPr sz="1600" b="0">
                          <a:solidFill>
                            <a:srgbClr val="0B0B0B"/>
                          </a:solidFill>
                          <a:latin typeface="Calibri"/>
                        </a:rPr>
                        <a:t>0.73</a:t>
                      </a:r>
                    </a:p>
                  </a:txBody>
                  <a:tcPr anchor="ctr" marL="91440" marR="91440">
                    <a:solidFill>
                      <a:srgbClr val="FFFFFF"/>
                    </a:solidFill>
                  </a:tcPr>
                </a:tc>
                <a:tc>
                  <a:txBody>
                    <a:bodyPr/>
                    <a:lstStyle/>
                    <a:p>
                      <a:pPr algn="ctr"/>
                      <a:r>
                        <a:rPr sz="1600" b="0">
                          <a:solidFill>
                            <a:srgbClr val="0B0B0B"/>
                          </a:solidFill>
                          <a:latin typeface="Calibri"/>
                        </a:rPr>
                        <a:t>1.75</a:t>
                      </a:r>
                    </a:p>
                  </a:txBody>
                  <a:tcPr anchor="ctr" marL="91440" marR="91440">
                    <a:solidFill>
                      <a:srgbClr val="FFFFFF"/>
                    </a:solidFill>
                  </a:tcPr>
                </a:tc>
                <a:tc>
                  <a:txBody>
                    <a:bodyPr/>
                    <a:lstStyle/>
                    <a:p>
                      <a:pPr algn="ctr"/>
                      <a:r>
                        <a:rPr sz="1600" b="0">
                          <a:solidFill>
                            <a:srgbClr val="0B0B0B"/>
                          </a:solidFill>
                          <a:latin typeface="Calibri"/>
                        </a:rPr>
                        <a:t>0.72</a:t>
                      </a:r>
                    </a:p>
                  </a:txBody>
                  <a:tcPr anchor="ctr" marL="91440" marR="91440">
                    <a:solidFill>
                      <a:srgbClr val="FFFFFF"/>
                    </a:solidFill>
                  </a:tcPr>
                </a:tc>
              </a:tr>
              <a:tr h="603504">
                <a:tc>
                  <a:txBody>
                    <a:bodyPr/>
                    <a:lstStyle/>
                    <a:p>
                      <a:pPr algn="l"/>
                      <a:r>
                        <a:rPr sz="1600" b="1">
                          <a:solidFill>
                            <a:srgbClr val="0B0B0B"/>
                          </a:solidFill>
                          <a:latin typeface="Calibri"/>
                        </a:rPr>
                        <a:t>LightGBM</a:t>
                      </a:r>
                    </a:p>
                  </a:txBody>
                  <a:tcPr anchor="ctr" marL="91440" marR="91440">
                    <a:solidFill>
                      <a:srgbClr val="C9DDF7"/>
                    </a:solidFill>
                  </a:tcPr>
                </a:tc>
                <a:tc>
                  <a:txBody>
                    <a:bodyPr/>
                    <a:lstStyle/>
                    <a:p>
                      <a:pPr algn="ctr"/>
                      <a:r>
                        <a:rPr sz="1600" b="0">
                          <a:solidFill>
                            <a:srgbClr val="0B0B0B"/>
                          </a:solidFill>
                          <a:latin typeface="Calibri"/>
                        </a:rPr>
                        <a:t>1.62</a:t>
                      </a:r>
                    </a:p>
                  </a:txBody>
                  <a:tcPr anchor="ctr" marL="91440" marR="91440">
                    <a:solidFill>
                      <a:srgbClr val="C9DDF7"/>
                    </a:solidFill>
                  </a:tcPr>
                </a:tc>
                <a:tc>
                  <a:txBody>
                    <a:bodyPr/>
                    <a:lstStyle/>
                    <a:p>
                      <a:pPr algn="ctr"/>
                      <a:r>
                        <a:rPr sz="1600" b="0">
                          <a:solidFill>
                            <a:srgbClr val="0B0B0B"/>
                          </a:solidFill>
                          <a:latin typeface="Calibri"/>
                        </a:rPr>
                        <a:t>1.75</a:t>
                      </a:r>
                    </a:p>
                  </a:txBody>
                  <a:tcPr anchor="ctr" marL="91440" marR="91440">
                    <a:solidFill>
                      <a:srgbClr val="C9DDF7"/>
                    </a:solidFill>
                  </a:tcPr>
                </a:tc>
                <a:tc>
                  <a:txBody>
                    <a:bodyPr/>
                    <a:lstStyle/>
                    <a:p>
                      <a:pPr algn="ctr"/>
                      <a:r>
                        <a:rPr sz="1600" b="0">
                          <a:solidFill>
                            <a:srgbClr val="0B0B0B"/>
                          </a:solidFill>
                          <a:latin typeface="Calibri"/>
                        </a:rPr>
                        <a:t>0.73</a:t>
                      </a:r>
                    </a:p>
                  </a:txBody>
                  <a:tcPr anchor="ctr" marL="91440" marR="91440">
                    <a:solidFill>
                      <a:srgbClr val="C9DDF7"/>
                    </a:solidFill>
                  </a:tcPr>
                </a:tc>
                <a:tc>
                  <a:txBody>
                    <a:bodyPr/>
                    <a:lstStyle/>
                    <a:p>
                      <a:pPr algn="ctr"/>
                      <a:r>
                        <a:rPr sz="1600" b="0">
                          <a:solidFill>
                            <a:srgbClr val="0B0B0B"/>
                          </a:solidFill>
                          <a:latin typeface="Calibri"/>
                        </a:rPr>
                        <a:t>1.75</a:t>
                      </a:r>
                    </a:p>
                  </a:txBody>
                  <a:tcPr anchor="ctr" marL="91440" marR="91440">
                    <a:solidFill>
                      <a:srgbClr val="C9DDF7"/>
                    </a:solidFill>
                  </a:tcPr>
                </a:tc>
                <a:tc>
                  <a:txBody>
                    <a:bodyPr/>
                    <a:lstStyle/>
                    <a:p>
                      <a:pPr algn="ctr"/>
                      <a:r>
                        <a:rPr sz="1600" b="0">
                          <a:solidFill>
                            <a:srgbClr val="0B0B0B"/>
                          </a:solidFill>
                          <a:latin typeface="Calibri"/>
                        </a:rPr>
                        <a:t>0.72</a:t>
                      </a:r>
                    </a:p>
                  </a:txBody>
                  <a:tcPr anchor="ctr" marL="91440" marR="91440">
                    <a:solidFill>
                      <a:srgbClr val="C9DDF7"/>
                    </a:solidFill>
                  </a:tcPr>
                </a:tc>
              </a:tr>
            </a:tbl>
          </a:graphicData>
        </a:graphic>
      </p:graphicFrame>
      <p:sp>
        <p:nvSpPr>
          <p:cNvPr id="8" name="TextBox 7"/>
          <p:cNvSpPr txBox="1"/>
          <p:nvPr/>
        </p:nvSpPr>
        <p:spPr>
          <a:xfrm>
            <a:off x="548640" y="5212080"/>
            <a:ext cx="7863840" cy="822960"/>
          </a:xfrm>
          <a:prstGeom prst="rect">
            <a:avLst/>
          </a:prstGeom>
          <a:noFill/>
        </p:spPr>
        <p:txBody>
          <a:bodyPr wrap="square" anchor="t" lIns="45720" rIns="45720">
            <a:spAutoFit/>
          </a:bodyPr>
          <a:lstStyle/>
          <a:p>
            <a:pPr algn="l">
              <a:spcAft>
                <a:spcPts val="200"/>
              </a:spcAft>
            </a:pPr>
            <a:r>
              <a:rPr sz="1400" b="0">
                <a:solidFill>
                  <a:srgbClr val="898781"/>
                </a:solidFill>
                <a:latin typeface="Calibri"/>
              </a:rPr>
              <a:t>RMSE in °C, mean of 25 runs; lower is better.</a:t>
            </a:r>
          </a:p>
          <a:p>
            <a:pPr algn="l">
              <a:spcAft>
                <a:spcPts val="200"/>
              </a:spcAft>
            </a:pPr>
            <a:r>
              <a:rPr sz="1400" b="0">
                <a:solidFill>
                  <a:srgbClr val="898781"/>
                </a:solidFill>
                <a:latin typeface="Calibri"/>
              </a:rPr>
              <a:t>2025 = unseen year and unseen 4 km blocks.</a:t>
            </a:r>
          </a:p>
        </p:txBody>
      </p:sp>
      <p:sp>
        <p:nvSpPr>
          <p:cNvPr id="9" name="TextBox 8"/>
          <p:cNvSpPr txBox="1"/>
          <p:nvPr/>
        </p:nvSpPr>
        <p:spPr>
          <a:xfrm>
            <a:off x="8595360" y="1417320"/>
            <a:ext cx="310896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1.75 °C</a:t>
            </a:r>
          </a:p>
        </p:txBody>
      </p:sp>
      <p:sp>
        <p:nvSpPr>
          <p:cNvPr id="10" name="TextBox 9"/>
          <p:cNvSpPr txBox="1"/>
          <p:nvPr/>
        </p:nvSpPr>
        <p:spPr>
          <a:xfrm>
            <a:off x="8595360" y="1893570"/>
            <a:ext cx="310896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RMSE, 2025, unseen places</a:t>
            </a:r>
          </a:p>
        </p:txBody>
      </p:sp>
      <p:sp>
        <p:nvSpPr>
          <p:cNvPr id="11" name="TextBox 10"/>
          <p:cNvSpPr txBox="1"/>
          <p:nvPr/>
        </p:nvSpPr>
        <p:spPr>
          <a:xfrm>
            <a:off x="8595360" y="2697480"/>
            <a:ext cx="3108960" cy="476250"/>
          </a:xfrm>
          <a:prstGeom prst="rect">
            <a:avLst/>
          </a:prstGeom>
          <a:noFill/>
        </p:spPr>
        <p:txBody>
          <a:bodyPr wrap="square" anchor="t" lIns="45720" rIns="45720">
            <a:spAutoFit/>
          </a:bodyPr>
          <a:lstStyle/>
          <a:p>
            <a:pPr algn="l">
              <a:spcAft>
                <a:spcPts val="600"/>
              </a:spcAft>
            </a:pPr>
            <a:r>
              <a:rPr sz="3000" b="1">
                <a:solidFill>
                  <a:srgbClr val="2A78D6"/>
                </a:solidFill>
                <a:latin typeface="Calibri"/>
              </a:rPr>
              <a:t>R² 0.72</a:t>
            </a:r>
          </a:p>
        </p:txBody>
      </p:sp>
      <p:sp>
        <p:nvSpPr>
          <p:cNvPr id="12" name="TextBox 11"/>
          <p:cNvSpPr txBox="1"/>
          <p:nvPr/>
        </p:nvSpPr>
        <p:spPr>
          <a:xfrm>
            <a:off x="8595360" y="3173730"/>
            <a:ext cx="310896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variance explained, 2025</a:t>
            </a:r>
          </a:p>
        </p:txBody>
      </p:sp>
      <p:sp>
        <p:nvSpPr>
          <p:cNvPr id="13" name="Rounded Rectangle 12"/>
          <p:cNvSpPr/>
          <p:nvPr/>
        </p:nvSpPr>
        <p:spPr>
          <a:xfrm>
            <a:off x="8595360" y="4023360"/>
            <a:ext cx="3017520" cy="21488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133087"/>
            <a:ext cx="2743200" cy="411480"/>
          </a:xfrm>
          <a:prstGeom prst="rect">
            <a:avLst/>
          </a:prstGeom>
          <a:noFill/>
        </p:spPr>
        <p:txBody>
          <a:bodyPr wrap="square" anchor="t" lIns="45720" rIns="45720">
            <a:spAutoFit/>
          </a:bodyPr>
          <a:lstStyle/>
          <a:p>
            <a:pPr algn="l">
              <a:spcAft>
                <a:spcPts val="0"/>
              </a:spcAft>
            </a:pPr>
            <a:r>
              <a:rPr sz="1800" b="1">
                <a:solidFill>
                  <a:srgbClr val="FFFFFF"/>
                </a:solidFill>
                <a:latin typeface="Calibri"/>
              </a:rPr>
              <a:t>LightGBM selected</a:t>
            </a:r>
          </a:p>
        </p:txBody>
      </p:sp>
      <p:sp>
        <p:nvSpPr>
          <p:cNvPr id="15" name="TextBox 14"/>
          <p:cNvSpPr txBox="1"/>
          <p:nvPr/>
        </p:nvSpPr>
        <p:spPr>
          <a:xfrm>
            <a:off x="8778240" y="4572000"/>
            <a:ext cx="2743200" cy="1554480"/>
          </a:xfrm>
          <a:prstGeom prst="rect">
            <a:avLst/>
          </a:prstGeom>
          <a:noFill/>
        </p:spPr>
        <p:txBody>
          <a:bodyPr wrap="square" anchor="t" lIns="45720" rIns="45720">
            <a:spAutoFit/>
          </a:bodyPr>
          <a:lstStyle/>
          <a:p>
            <a:pPr algn="l">
              <a:spcAft>
                <a:spcPts val="600"/>
              </a:spcAft>
            </a:pPr>
            <a:r>
              <a:rPr sz="1500" b="0">
                <a:solidFill>
                  <a:srgbClr val="FFFFFF"/>
                </a:solidFill>
                <a:latin typeface="Calibri"/>
              </a:rPr>
              <a:t>Tied-best accuracy</a:t>
            </a:r>
          </a:p>
          <a:p>
            <a:pPr algn="l">
              <a:spcAft>
                <a:spcPts val="600"/>
              </a:spcAft>
            </a:pPr>
            <a:r>
              <a:rPr sz="1500" b="0">
                <a:solidFill>
                  <a:srgbClr val="FFFFFF"/>
                </a:solidFill>
                <a:latin typeface="Calibri"/>
              </a:rPr>
              <a:t>Least memorisation of the trees</a:t>
            </a:r>
          </a:p>
          <a:p>
            <a:pPr algn="l">
              <a:spcAft>
                <a:spcPts val="600"/>
              </a:spcAft>
            </a:pPr>
            <a:r>
              <a:rPr sz="1500" b="0">
                <a:solidFill>
                  <a:srgbClr val="FFFFFF"/>
                </a:solidFill>
                <a:latin typeface="Calibri"/>
              </a:rPr>
              <a:t>Fast, exact TreeSHAP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SHAP: what pushes each prediction up or down</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EXPLAINABLE AI</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11 / 16</a:t>
            </a:r>
          </a:p>
        </p:txBody>
      </p:sp>
      <p:sp>
        <p:nvSpPr>
          <p:cNvPr id="7" name="TextBox 6"/>
          <p:cNvSpPr txBox="1"/>
          <p:nvPr/>
        </p:nvSpPr>
        <p:spPr>
          <a:xfrm>
            <a:off x="548640" y="1371600"/>
            <a:ext cx="5486400" cy="365760"/>
          </a:xfrm>
          <a:prstGeom prst="rect">
            <a:avLst/>
          </a:prstGeom>
          <a:noFill/>
        </p:spPr>
        <p:txBody>
          <a:bodyPr wrap="square" anchor="t" lIns="45720" rIns="45720">
            <a:spAutoFit/>
          </a:bodyPr>
          <a:lstStyle/>
          <a:p>
            <a:pPr algn="l">
              <a:spcAft>
                <a:spcPts val="0"/>
              </a:spcAft>
            </a:pPr>
            <a:r>
              <a:rPr sz="1300" b="1">
                <a:solidFill>
                  <a:srgbClr val="2A78D6"/>
                </a:solidFill>
                <a:latin typeface="Calibri"/>
              </a:rPr>
              <a:t>GLOBAL SHAP · feature contributions, 10,000 cells</a:t>
            </a:r>
          </a:p>
        </p:txBody>
      </p:sp>
      <p:pic>
        <p:nvPicPr>
          <p:cNvPr id="8" name="Picture 7" descr="06_shap_beeswarm.png"/>
          <p:cNvPicPr>
            <a:picLocks noChangeAspect="1"/>
          </p:cNvPicPr>
          <p:nvPr/>
        </p:nvPicPr>
        <p:blipFill>
          <a:blip r:embed="rId3"/>
          <a:stretch>
            <a:fillRect/>
          </a:stretch>
        </p:blipFill>
        <p:spPr>
          <a:xfrm>
            <a:off x="411480" y="1782427"/>
            <a:ext cx="5760720" cy="4344704"/>
          </a:xfrm>
          <a:prstGeom prst="rect">
            <a:avLst/>
          </a:prstGeom>
        </p:spPr>
      </p:pic>
      <p:sp>
        <p:nvSpPr>
          <p:cNvPr id="9" name="TextBox 8"/>
          <p:cNvSpPr txBox="1"/>
          <p:nvPr/>
        </p:nvSpPr>
        <p:spPr>
          <a:xfrm>
            <a:off x="6446520" y="1371600"/>
            <a:ext cx="5303520" cy="365760"/>
          </a:xfrm>
          <a:prstGeom prst="rect">
            <a:avLst/>
          </a:prstGeom>
          <a:noFill/>
        </p:spPr>
        <p:txBody>
          <a:bodyPr wrap="square" anchor="t" lIns="45720" rIns="45720">
            <a:spAutoFit/>
          </a:bodyPr>
          <a:lstStyle/>
          <a:p>
            <a:pPr algn="l">
              <a:spcAft>
                <a:spcPts val="0"/>
              </a:spcAft>
            </a:pPr>
            <a:r>
              <a:rPr sz="1300" b="1">
                <a:solidFill>
                  <a:srgbClr val="2A78D6"/>
                </a:solidFill>
                <a:latin typeface="Calibri"/>
              </a:rPr>
              <a:t>LOCAL SHAP · one hot, tree-less fringe cell</a:t>
            </a:r>
          </a:p>
        </p:txBody>
      </p:sp>
      <p:pic>
        <p:nvPicPr>
          <p:cNvPr id="10" name="Picture 9" descr="image.png"/>
          <p:cNvPicPr>
            <a:picLocks noChangeAspect="1"/>
          </p:cNvPicPr>
          <p:nvPr/>
        </p:nvPicPr>
        <p:blipFill>
          <a:blip r:embed="rId4"/>
          <a:stretch>
            <a:fillRect/>
          </a:stretch>
        </p:blipFill>
        <p:spPr>
          <a:xfrm>
            <a:off x="6846932" y="1737360"/>
            <a:ext cx="4411255" cy="2834640"/>
          </a:xfrm>
          <a:prstGeom prst="rect">
            <a:avLst/>
          </a:prstGeom>
        </p:spPr>
      </p:pic>
      <p:sp>
        <p:nvSpPr>
          <p:cNvPr id="11" name="Rounded Rectangle 10"/>
          <p:cNvSpPr/>
          <p:nvPr/>
        </p:nvSpPr>
        <p:spPr>
          <a:xfrm>
            <a:off x="6446520" y="4800600"/>
            <a:ext cx="16002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846320"/>
            <a:ext cx="1463040" cy="349250"/>
          </a:xfrm>
          <a:prstGeom prst="rect">
            <a:avLst/>
          </a:prstGeom>
          <a:noFill/>
        </p:spPr>
        <p:txBody>
          <a:bodyPr wrap="square" anchor="t" lIns="45720" rIns="45720">
            <a:spAutoFit/>
          </a:bodyPr>
          <a:lstStyle/>
          <a:p>
            <a:pPr algn="l">
              <a:spcAft>
                <a:spcPts val="600"/>
              </a:spcAft>
            </a:pPr>
            <a:r>
              <a:rPr sz="2200" b="1">
                <a:solidFill>
                  <a:srgbClr val="2A78D6"/>
                </a:solidFill>
                <a:latin typeface="Calibri"/>
              </a:rPr>
              <a:t>1.49 °C</a:t>
            </a:r>
          </a:p>
        </p:txBody>
      </p:sp>
      <p:sp>
        <p:nvSpPr>
          <p:cNvPr id="13" name="TextBox 12"/>
          <p:cNvSpPr txBox="1"/>
          <p:nvPr/>
        </p:nvSpPr>
        <p:spPr>
          <a:xfrm>
            <a:off x="6537960" y="5195570"/>
            <a:ext cx="1463040" cy="822960"/>
          </a:xfrm>
          <a:prstGeom prst="rect">
            <a:avLst/>
          </a:prstGeom>
          <a:noFill/>
        </p:spPr>
        <p:txBody>
          <a:bodyPr wrap="square" anchor="t" lIns="45720" rIns="45720">
            <a:spAutoFit/>
          </a:bodyPr>
          <a:lstStyle/>
          <a:p>
            <a:pPr algn="l">
              <a:spcAft>
                <a:spcPts val="600"/>
              </a:spcAft>
            </a:pPr>
            <a:r>
              <a:rPr sz="1300" b="0">
                <a:solidFill>
                  <a:srgbClr val="52514E"/>
                </a:solidFill>
                <a:latin typeface="Calibri"/>
              </a:rPr>
              <a:t>spectral group, mean |SHAP|</a:t>
            </a:r>
          </a:p>
        </p:txBody>
      </p:sp>
      <p:sp>
        <p:nvSpPr>
          <p:cNvPr id="14" name="Rounded Rectangle 13"/>
          <p:cNvSpPr/>
          <p:nvPr/>
        </p:nvSpPr>
        <p:spPr>
          <a:xfrm>
            <a:off x="8183879" y="4800600"/>
            <a:ext cx="16002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4846320"/>
            <a:ext cx="1463040" cy="349250"/>
          </a:xfrm>
          <a:prstGeom prst="rect">
            <a:avLst/>
          </a:prstGeom>
          <a:noFill/>
        </p:spPr>
        <p:txBody>
          <a:bodyPr wrap="square" anchor="t" lIns="45720" rIns="45720">
            <a:spAutoFit/>
          </a:bodyPr>
          <a:lstStyle/>
          <a:p>
            <a:pPr algn="l">
              <a:spcAft>
                <a:spcPts val="600"/>
              </a:spcAft>
            </a:pPr>
            <a:r>
              <a:rPr sz="2200" b="1">
                <a:solidFill>
                  <a:srgbClr val="2A78D6"/>
                </a:solidFill>
                <a:latin typeface="Calibri"/>
              </a:rPr>
              <a:t>ρ 0.99</a:t>
            </a:r>
          </a:p>
        </p:txBody>
      </p:sp>
      <p:sp>
        <p:nvSpPr>
          <p:cNvPr id="16" name="TextBox 15"/>
          <p:cNvSpPr txBox="1"/>
          <p:nvPr/>
        </p:nvSpPr>
        <p:spPr>
          <a:xfrm>
            <a:off x="8275320" y="5195570"/>
            <a:ext cx="1463040" cy="822960"/>
          </a:xfrm>
          <a:prstGeom prst="rect">
            <a:avLst/>
          </a:prstGeom>
          <a:noFill/>
        </p:spPr>
        <p:txBody>
          <a:bodyPr wrap="square" anchor="t" lIns="45720" rIns="45720">
            <a:spAutoFit/>
          </a:bodyPr>
          <a:lstStyle/>
          <a:p>
            <a:pPr algn="l">
              <a:spcAft>
                <a:spcPts val="600"/>
              </a:spcAft>
            </a:pPr>
            <a:r>
              <a:rPr sz="1300" b="0">
                <a:solidFill>
                  <a:srgbClr val="52514E"/>
                </a:solidFill>
                <a:latin typeface="Calibri"/>
              </a:rPr>
              <a:t>same ranking in XGBoost</a:t>
            </a:r>
          </a:p>
        </p:txBody>
      </p:sp>
      <p:sp>
        <p:nvSpPr>
          <p:cNvPr id="17" name="Rounded Rectangle 16"/>
          <p:cNvSpPr/>
          <p:nvPr/>
        </p:nvSpPr>
        <p:spPr>
          <a:xfrm>
            <a:off x="9921240" y="4800600"/>
            <a:ext cx="16002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4846320"/>
            <a:ext cx="1463040" cy="349250"/>
          </a:xfrm>
          <a:prstGeom prst="rect">
            <a:avLst/>
          </a:prstGeom>
          <a:noFill/>
        </p:spPr>
        <p:txBody>
          <a:bodyPr wrap="square" anchor="t" lIns="45720" rIns="45720">
            <a:spAutoFit/>
          </a:bodyPr>
          <a:lstStyle/>
          <a:p>
            <a:pPr algn="l">
              <a:spcAft>
                <a:spcPts val="600"/>
              </a:spcAft>
            </a:pPr>
            <a:r>
              <a:rPr sz="2200" b="1">
                <a:solidFill>
                  <a:srgbClr val="2A78D6"/>
                </a:solidFill>
                <a:latin typeface="Calibri"/>
              </a:rPr>
              <a:t>95%</a:t>
            </a:r>
          </a:p>
        </p:txBody>
      </p:sp>
      <p:sp>
        <p:nvSpPr>
          <p:cNvPr id="19" name="TextBox 18"/>
          <p:cNvSpPr txBox="1"/>
          <p:nvPr/>
        </p:nvSpPr>
        <p:spPr>
          <a:xfrm>
            <a:off x="10012680" y="5195570"/>
            <a:ext cx="1463040" cy="822960"/>
          </a:xfrm>
          <a:prstGeom prst="rect">
            <a:avLst/>
          </a:prstGeom>
          <a:noFill/>
        </p:spPr>
        <p:txBody>
          <a:bodyPr wrap="square" anchor="t" lIns="45720" rIns="45720">
            <a:spAutoFit/>
          </a:bodyPr>
          <a:lstStyle/>
          <a:p>
            <a:pPr algn="l">
              <a:spcAft>
                <a:spcPts val="600"/>
              </a:spcAft>
            </a:pPr>
            <a:r>
              <a:rPr sz="1300" b="0">
                <a:solidFill>
                  <a:srgbClr val="52514E"/>
                </a:solidFill>
                <a:latin typeface="Calibri"/>
              </a:rPr>
              <a:t>same leading group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if tree cover increases?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COUNTERFACTUAL ANALYSIS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12 / 16</a:t>
            </a:r>
          </a:p>
        </p:txBody>
      </p:sp>
      <p:sp>
        <p:nvSpPr>
          <p:cNvPr id="7" name="Rounded Rectangle 6"/>
          <p:cNvSpPr/>
          <p:nvPr/>
        </p:nvSpPr>
        <p:spPr>
          <a:xfrm>
            <a:off x="548640" y="1417320"/>
            <a:ext cx="3419856"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57276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72768"/>
            <a:ext cx="640080" cy="45720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1</a:t>
            </a:r>
          </a:p>
        </p:txBody>
      </p:sp>
      <p:sp>
        <p:nvSpPr>
          <p:cNvPr id="10" name="TextBox 9"/>
          <p:cNvSpPr txBox="1"/>
          <p:nvPr/>
        </p:nvSpPr>
        <p:spPr>
          <a:xfrm>
            <a:off x="1325880" y="1572768"/>
            <a:ext cx="256032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Current</a:t>
            </a:r>
          </a:p>
        </p:txBody>
      </p:sp>
      <p:sp>
        <p:nvSpPr>
          <p:cNvPr id="11" name="TextBox 10"/>
          <p:cNvSpPr txBox="1"/>
          <p:nvPr/>
        </p:nvSpPr>
        <p:spPr>
          <a:xfrm>
            <a:off x="731520" y="2103120"/>
            <a:ext cx="3108960" cy="685800"/>
          </a:xfrm>
          <a:prstGeom prst="rect">
            <a:avLst/>
          </a:prstGeom>
          <a:noFill/>
        </p:spPr>
        <p:txBody>
          <a:bodyPr wrap="square" anchor="t" lIns="45720" rIns="45720">
            <a:spAutoFit/>
          </a:bodyPr>
          <a:lstStyle/>
          <a:p>
            <a:pPr algn="l">
              <a:spcAft>
                <a:spcPts val="0"/>
              </a:spcAft>
            </a:pPr>
            <a:r>
              <a:rPr sz="1500" b="0">
                <a:solidFill>
                  <a:srgbClr val="52514E"/>
                </a:solidFill>
                <a:latin typeface="Calibri"/>
              </a:rPr>
              <a:t>2,673 hottest urban cells, tree-sparse</a:t>
            </a:r>
          </a:p>
        </p:txBody>
      </p:sp>
      <p:sp>
        <p:nvSpPr>
          <p:cNvPr id="12" name="Right Arrow 11"/>
          <p:cNvSpPr/>
          <p:nvPr/>
        </p:nvSpPr>
        <p:spPr>
          <a:xfrm>
            <a:off x="4023359" y="1938528"/>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0831" y="1417320"/>
            <a:ext cx="3419856"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3712" y="157276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572768"/>
            <a:ext cx="640080" cy="45720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2</a:t>
            </a:r>
          </a:p>
        </p:txBody>
      </p:sp>
      <p:sp>
        <p:nvSpPr>
          <p:cNvPr id="16" name="TextBox 15"/>
          <p:cNvSpPr txBox="1"/>
          <p:nvPr/>
        </p:nvSpPr>
        <p:spPr>
          <a:xfrm>
            <a:off x="5148071" y="1572768"/>
            <a:ext cx="2560320" cy="457200"/>
          </a:xfrm>
          <a:prstGeom prst="rect">
            <a:avLst/>
          </a:prstGeom>
          <a:noFill/>
        </p:spPr>
        <p:txBody>
          <a:bodyPr wrap="square" anchor="t" lIns="45720" rIns="45720">
            <a:spAutoFit/>
          </a:bodyPr>
          <a:lstStyle/>
          <a:p>
            <a:pPr algn="l">
              <a:spcAft>
                <a:spcPts val="0"/>
              </a:spcAft>
            </a:pPr>
            <a:r>
              <a:rPr sz="1800" b="1">
                <a:solidFill>
                  <a:srgbClr val="0B0B0B"/>
                </a:solidFill>
                <a:latin typeface="Calibri"/>
              </a:rPr>
              <a:t>Modified</a:t>
            </a:r>
          </a:p>
        </p:txBody>
      </p:sp>
      <p:sp>
        <p:nvSpPr>
          <p:cNvPr id="17" name="TextBox 16"/>
          <p:cNvSpPr txBox="1"/>
          <p:nvPr/>
        </p:nvSpPr>
        <p:spPr>
          <a:xfrm>
            <a:off x="4553712" y="2103120"/>
            <a:ext cx="3108960" cy="68580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+10 points tree cover, taken from built, bare, grass</a:t>
            </a:r>
          </a:p>
        </p:txBody>
      </p:sp>
      <p:sp>
        <p:nvSpPr>
          <p:cNvPr id="18" name="Right Arrow 17"/>
          <p:cNvSpPr/>
          <p:nvPr/>
        </p:nvSpPr>
        <p:spPr>
          <a:xfrm>
            <a:off x="7845551" y="1938528"/>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93023" y="1417320"/>
            <a:ext cx="3419856" cy="137160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75903" y="15727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4463" y="1572768"/>
            <a:ext cx="640080" cy="457200"/>
          </a:xfrm>
          <a:prstGeom prst="rect">
            <a:avLst/>
          </a:prstGeom>
          <a:noFill/>
        </p:spPr>
        <p:txBody>
          <a:bodyPr wrap="square" anchor="ctr" lIns="45720" rIns="45720">
            <a:spAutoFit/>
          </a:bodyPr>
          <a:lstStyle/>
          <a:p>
            <a:pPr algn="ctr">
              <a:spcAft>
                <a:spcPts val="0"/>
              </a:spcAft>
            </a:pPr>
            <a:r>
              <a:rPr sz="1500" b="1">
                <a:solidFill>
                  <a:srgbClr val="2A78D6"/>
                </a:solidFill>
                <a:latin typeface="Calibri"/>
              </a:rPr>
              <a:t>3</a:t>
            </a:r>
          </a:p>
        </p:txBody>
      </p:sp>
      <p:sp>
        <p:nvSpPr>
          <p:cNvPr id="22" name="TextBox 21"/>
          <p:cNvSpPr txBox="1"/>
          <p:nvPr/>
        </p:nvSpPr>
        <p:spPr>
          <a:xfrm>
            <a:off x="8970263" y="1572768"/>
            <a:ext cx="2560320" cy="457200"/>
          </a:xfrm>
          <a:prstGeom prst="rect">
            <a:avLst/>
          </a:prstGeom>
          <a:noFill/>
        </p:spPr>
        <p:txBody>
          <a:bodyPr wrap="square" anchor="t" lIns="45720" rIns="45720">
            <a:spAutoFit/>
          </a:bodyPr>
          <a:lstStyle/>
          <a:p>
            <a:pPr algn="l">
              <a:spcAft>
                <a:spcPts val="0"/>
              </a:spcAft>
            </a:pPr>
            <a:r>
              <a:rPr sz="1800" b="1">
                <a:solidFill>
                  <a:srgbClr val="FFFFFF"/>
                </a:solidFill>
                <a:latin typeface="Calibri"/>
              </a:rPr>
              <a:t>Predicted cooling</a:t>
            </a:r>
          </a:p>
        </p:txBody>
      </p:sp>
      <p:sp>
        <p:nvSpPr>
          <p:cNvPr id="23" name="TextBox 22"/>
          <p:cNvSpPr txBox="1"/>
          <p:nvPr/>
        </p:nvSpPr>
        <p:spPr>
          <a:xfrm>
            <a:off x="8375903" y="2103120"/>
            <a:ext cx="3108960" cy="685800"/>
          </a:xfrm>
          <a:prstGeom prst="rect">
            <a:avLst/>
          </a:prstGeom>
          <a:noFill/>
        </p:spPr>
        <p:txBody>
          <a:bodyPr wrap="square" anchor="t" lIns="45720" rIns="45720">
            <a:spAutoFit/>
          </a:bodyPr>
          <a:lstStyle/>
          <a:p>
            <a:pPr algn="l">
              <a:spcAft>
                <a:spcPts val="0"/>
              </a:spcAft>
            </a:pPr>
            <a:r>
              <a:rPr sz="1500" b="0">
                <a:solidFill>
                  <a:srgbClr val="FFFFFF"/>
                </a:solidFill>
                <a:latin typeface="Calibri"/>
              </a:rPr>
              <a:t>0.37–1.02 °C cooler (lower–realistic)</a:t>
            </a:r>
          </a:p>
        </p:txBody>
      </p:sp>
      <p:pic>
        <p:nvPicPr>
          <p:cNvPr id="24" name="Picture 23" descr="image.png"/>
          <p:cNvPicPr>
            <a:picLocks noChangeAspect="1"/>
          </p:cNvPicPr>
          <p:nvPr/>
        </p:nvPicPr>
        <p:blipFill>
          <a:blip r:embed="rId3"/>
          <a:stretch>
            <a:fillRect/>
          </a:stretch>
        </p:blipFill>
        <p:spPr>
          <a:xfrm>
            <a:off x="958609" y="2926080"/>
            <a:ext cx="10244300" cy="2788920"/>
          </a:xfrm>
          <a:prstGeom prst="rect">
            <a:avLst/>
          </a:prstGeom>
        </p:spPr>
      </p:pic>
      <p:sp>
        <p:nvSpPr>
          <p:cNvPr id="25" name="TextBox 24"/>
          <p:cNvSpPr txBox="1"/>
          <p:nvPr/>
        </p:nvSpPr>
        <p:spPr>
          <a:xfrm>
            <a:off x="548640" y="5852160"/>
            <a:ext cx="11064240" cy="457200"/>
          </a:xfrm>
          <a:prstGeom prst="rect">
            <a:avLst/>
          </a:prstGeom>
          <a:noFill/>
        </p:spPr>
        <p:txBody>
          <a:bodyPr wrap="square" anchor="t" lIns="45720" rIns="45720">
            <a:spAutoFit/>
          </a:bodyPr>
          <a:lstStyle/>
          <a:p>
            <a:pPr algn="l">
              <a:spcAft>
                <a:spcPts val="600"/>
              </a:spcAft>
            </a:pPr>
            <a:r>
              <a:rPr sz="1500" b="1">
                <a:solidFill>
                  <a:srgbClr val="2A78D6"/>
                </a:solidFill>
                <a:latin typeface="Calibri"/>
              </a:rPr>
              <a:t>Policy simulation:  </a:t>
            </a:r>
            <a:r>
              <a:rPr sz="1500" b="0">
                <a:solidFill>
                  <a:srgbClr val="52514E"/>
                </a:solidFill>
                <a:latin typeface="Calibri"/>
              </a:rPr>
              <a:t>+20 points → 0.56–1.63 °C · gains per point halve past ~10.2% · associations, not causal effects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From a heat map to decisions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APPLICATIONS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13 / 16</a:t>
            </a:r>
          </a:p>
        </p:txBody>
      </p:sp>
      <p:sp>
        <p:nvSpPr>
          <p:cNvPr id="7" name="Rounded Rectangle 6"/>
          <p:cNvSpPr/>
          <p:nvPr/>
        </p:nvSpPr>
        <p:spPr>
          <a:xfrm>
            <a:off x="548640" y="146304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66420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6420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1</a:t>
            </a:r>
          </a:p>
        </p:txBody>
      </p:sp>
      <p:sp>
        <p:nvSpPr>
          <p:cNvPr id="10" name="TextBox 9"/>
          <p:cNvSpPr txBox="1"/>
          <p:nvPr/>
        </p:nvSpPr>
        <p:spPr>
          <a:xfrm>
            <a:off x="1463040" y="166420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Smart cities</a:t>
            </a:r>
          </a:p>
        </p:txBody>
      </p:sp>
      <p:sp>
        <p:nvSpPr>
          <p:cNvPr id="11" name="TextBox 10"/>
          <p:cNvSpPr txBox="1"/>
          <p:nvPr/>
        </p:nvSpPr>
        <p:spPr>
          <a:xfrm>
            <a:off x="777240" y="237744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seasonal 100 m heat map from open data</a:t>
            </a:r>
          </a:p>
        </p:txBody>
      </p:sp>
      <p:sp>
        <p:nvSpPr>
          <p:cNvPr id="12" name="Rounded Rectangle 11"/>
          <p:cNvSpPr/>
          <p:nvPr/>
        </p:nvSpPr>
        <p:spPr>
          <a:xfrm>
            <a:off x="4315968" y="146304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166420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166420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2</a:t>
            </a:r>
          </a:p>
        </p:txBody>
      </p:sp>
      <p:sp>
        <p:nvSpPr>
          <p:cNvPr id="15" name="TextBox 14"/>
          <p:cNvSpPr txBox="1"/>
          <p:nvPr/>
        </p:nvSpPr>
        <p:spPr>
          <a:xfrm>
            <a:off x="5230368" y="166420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Urban planning</a:t>
            </a:r>
          </a:p>
        </p:txBody>
      </p:sp>
      <p:sp>
        <p:nvSpPr>
          <p:cNvPr id="16" name="TextBox 15"/>
          <p:cNvSpPr txBox="1"/>
          <p:nvPr/>
        </p:nvSpPr>
        <p:spPr>
          <a:xfrm>
            <a:off x="4544568" y="237744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target the dry fringe, not the core</a:t>
            </a:r>
          </a:p>
        </p:txBody>
      </p:sp>
      <p:sp>
        <p:nvSpPr>
          <p:cNvPr id="17" name="Rounded Rectangle 16"/>
          <p:cNvSpPr/>
          <p:nvPr/>
        </p:nvSpPr>
        <p:spPr>
          <a:xfrm>
            <a:off x="8083296" y="146304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1896" y="166420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0456" y="166420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3</a:t>
            </a:r>
          </a:p>
        </p:txBody>
      </p:sp>
      <p:sp>
        <p:nvSpPr>
          <p:cNvPr id="20" name="TextBox 19"/>
          <p:cNvSpPr txBox="1"/>
          <p:nvPr/>
        </p:nvSpPr>
        <p:spPr>
          <a:xfrm>
            <a:off x="8997696" y="166420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Green infrastructure</a:t>
            </a:r>
          </a:p>
        </p:txBody>
      </p:sp>
      <p:sp>
        <p:nvSpPr>
          <p:cNvPr id="21" name="TextBox 20"/>
          <p:cNvSpPr txBox="1"/>
          <p:nvPr/>
        </p:nvSpPr>
        <p:spPr>
          <a:xfrm>
            <a:off x="8311896" y="237744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spread canopy to ~10% cover</a:t>
            </a:r>
          </a:p>
        </p:txBody>
      </p:sp>
      <p:sp>
        <p:nvSpPr>
          <p:cNvPr id="22" name="Rounded Rectangle 21"/>
          <p:cNvSpPr/>
          <p:nvPr/>
        </p:nvSpPr>
        <p:spPr>
          <a:xfrm>
            <a:off x="548640" y="347472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367588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7588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4</a:t>
            </a:r>
          </a:p>
        </p:txBody>
      </p:sp>
      <p:sp>
        <p:nvSpPr>
          <p:cNvPr id="25" name="TextBox 24"/>
          <p:cNvSpPr txBox="1"/>
          <p:nvPr/>
        </p:nvSpPr>
        <p:spPr>
          <a:xfrm>
            <a:off x="1463040" y="367588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Tree plantation</a:t>
            </a:r>
          </a:p>
        </p:txBody>
      </p:sp>
      <p:sp>
        <p:nvSpPr>
          <p:cNvPr id="26" name="TextBox 25"/>
          <p:cNvSpPr txBox="1"/>
          <p:nvPr/>
        </p:nvSpPr>
        <p:spPr>
          <a:xfrm>
            <a:off x="777240" y="438912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priority list: 2,673 hottest urban cells</a:t>
            </a:r>
          </a:p>
        </p:txBody>
      </p:sp>
      <p:sp>
        <p:nvSpPr>
          <p:cNvPr id="27" name="Rounded Rectangle 26"/>
          <p:cNvSpPr/>
          <p:nvPr/>
        </p:nvSpPr>
        <p:spPr>
          <a:xfrm>
            <a:off x="4315968" y="347472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44568" y="367588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53128" y="367588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5</a:t>
            </a:r>
          </a:p>
        </p:txBody>
      </p:sp>
      <p:sp>
        <p:nvSpPr>
          <p:cNvPr id="30" name="TextBox 29"/>
          <p:cNvSpPr txBox="1"/>
          <p:nvPr/>
        </p:nvSpPr>
        <p:spPr>
          <a:xfrm>
            <a:off x="5230368" y="367588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Heat mitigation</a:t>
            </a:r>
          </a:p>
        </p:txBody>
      </p:sp>
      <p:sp>
        <p:nvSpPr>
          <p:cNvPr id="31" name="TextBox 30"/>
          <p:cNvSpPr txBox="1"/>
          <p:nvPr/>
        </p:nvSpPr>
        <p:spPr>
          <a:xfrm>
            <a:off x="4544568" y="438912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know where and why it is hot</a:t>
            </a:r>
          </a:p>
        </p:txBody>
      </p:sp>
      <p:sp>
        <p:nvSpPr>
          <p:cNvPr id="32" name="Rounded Rectangle 31"/>
          <p:cNvSpPr/>
          <p:nvPr/>
        </p:nvSpPr>
        <p:spPr>
          <a:xfrm>
            <a:off x="8083296" y="347472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11896" y="367588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0456" y="367588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6</a:t>
            </a:r>
          </a:p>
        </p:txBody>
      </p:sp>
      <p:sp>
        <p:nvSpPr>
          <p:cNvPr id="35" name="TextBox 34"/>
          <p:cNvSpPr txBox="1"/>
          <p:nvPr/>
        </p:nvSpPr>
        <p:spPr>
          <a:xfrm>
            <a:off x="8997696" y="367588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Climate adaptation</a:t>
            </a:r>
          </a:p>
        </p:txBody>
      </p:sp>
      <p:sp>
        <p:nvSpPr>
          <p:cNvPr id="36" name="TextBox 35"/>
          <p:cNvSpPr txBox="1"/>
          <p:nvPr/>
        </p:nvSpPr>
        <p:spPr>
          <a:xfrm>
            <a:off x="8311896" y="438912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reproducible baseline for future seasons</a:t>
            </a:r>
          </a:p>
        </p:txBody>
      </p:sp>
      <p:sp>
        <p:nvSpPr>
          <p:cNvPr id="37" name="Rounded Rectangle 36"/>
          <p:cNvSpPr/>
          <p:nvPr/>
        </p:nvSpPr>
        <p:spPr>
          <a:xfrm>
            <a:off x="548640" y="5486400"/>
            <a:ext cx="11064240" cy="713232"/>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486400"/>
            <a:ext cx="10607040" cy="713232"/>
          </a:xfrm>
          <a:prstGeom prst="rect">
            <a:avLst/>
          </a:prstGeom>
          <a:noFill/>
        </p:spPr>
        <p:txBody>
          <a:bodyPr wrap="square" anchor="ctr" lIns="45720" rIns="45720">
            <a:spAutoFit/>
          </a:bodyPr>
          <a:lstStyle/>
          <a:p>
            <a:pPr algn="l">
              <a:spcAft>
                <a:spcPts val="0"/>
              </a:spcAft>
            </a:pPr>
            <a:r>
              <a:rPr sz="1700" b="1">
                <a:solidFill>
                  <a:srgbClr val="FFFFFF"/>
                </a:solidFill>
                <a:latin typeface="Calibri"/>
              </a:rPr>
              <a:t>Dashboard:  </a:t>
            </a:r>
            <a:r>
              <a:rPr sz="1700" b="0">
                <a:solidFill>
                  <a:srgbClr val="C9D6EA"/>
                </a:solidFill>
                <a:latin typeface="Calibri"/>
              </a:rPr>
              <a:t>pick a cell, read its SHAP breakdown, try a greening what-if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these results cannot tell us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LIMITATIONS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14 / 16</a:t>
            </a:r>
          </a:p>
        </p:txBody>
      </p:sp>
      <p:sp>
        <p:nvSpPr>
          <p:cNvPr id="7" name="Oval 6"/>
          <p:cNvSpPr/>
          <p:nvPr/>
        </p:nvSpPr>
        <p:spPr>
          <a:xfrm>
            <a:off x="548640" y="153619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36192"/>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1</a:t>
            </a:r>
          </a:p>
        </p:txBody>
      </p:sp>
      <p:sp>
        <p:nvSpPr>
          <p:cNvPr id="9" name="TextBox 8"/>
          <p:cNvSpPr txBox="1"/>
          <p:nvPr/>
        </p:nvSpPr>
        <p:spPr>
          <a:xfrm>
            <a:off x="1234440" y="1463040"/>
            <a:ext cx="4480560" cy="777240"/>
          </a:xfrm>
          <a:prstGeom prst="rect">
            <a:avLst/>
          </a:prstGeom>
          <a:noFill/>
        </p:spPr>
        <p:txBody>
          <a:bodyPr wrap="square" anchor="t" lIns="45720" rIns="45720">
            <a:spAutoFit/>
          </a:bodyPr>
          <a:lstStyle/>
          <a:p>
            <a:pPr algn="l">
              <a:spcAft>
                <a:spcPts val="0"/>
              </a:spcAft>
            </a:pPr>
            <a:r>
              <a:rPr sz="1800" b="1">
                <a:solidFill>
                  <a:srgbClr val="0B0B0B"/>
                </a:solidFill>
                <a:latin typeface="Calibri"/>
              </a:rPr>
              <a:t>Pune only</a:t>
            </a:r>
          </a:p>
          <a:p>
            <a:pPr algn="l">
              <a:spcAft>
                <a:spcPts val="0"/>
              </a:spcAft>
            </a:pPr>
            <a:r>
              <a:rPr sz="1500" b="0">
                <a:solidFill>
                  <a:srgbClr val="52514E"/>
                </a:solidFill>
                <a:latin typeface="Calibri"/>
              </a:rPr>
              <a:t>one city, one climate</a:t>
            </a:r>
          </a:p>
        </p:txBody>
      </p:sp>
      <p:sp>
        <p:nvSpPr>
          <p:cNvPr id="10" name="Oval 9"/>
          <p:cNvSpPr/>
          <p:nvPr/>
        </p:nvSpPr>
        <p:spPr>
          <a:xfrm>
            <a:off x="548640" y="2432304"/>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432304"/>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2</a:t>
            </a:r>
          </a:p>
        </p:txBody>
      </p:sp>
      <p:sp>
        <p:nvSpPr>
          <p:cNvPr id="12" name="TextBox 11"/>
          <p:cNvSpPr txBox="1"/>
          <p:nvPr/>
        </p:nvSpPr>
        <p:spPr>
          <a:xfrm>
            <a:off x="1234440" y="2359152"/>
            <a:ext cx="4480560" cy="777240"/>
          </a:xfrm>
          <a:prstGeom prst="rect">
            <a:avLst/>
          </a:prstGeom>
          <a:noFill/>
        </p:spPr>
        <p:txBody>
          <a:bodyPr wrap="square" anchor="t" lIns="45720" rIns="45720">
            <a:spAutoFit/>
          </a:bodyPr>
          <a:lstStyle/>
          <a:p>
            <a:pPr algn="l">
              <a:spcAft>
                <a:spcPts val="0"/>
              </a:spcAft>
            </a:pPr>
            <a:r>
              <a:rPr sz="1800" b="1">
                <a:solidFill>
                  <a:srgbClr val="0B0B0B"/>
                </a:solidFill>
                <a:latin typeface="Calibri"/>
              </a:rPr>
              <a:t>Pre-monsoon data</a:t>
            </a:r>
          </a:p>
          <a:p>
            <a:pPr algn="l">
              <a:spcAft>
                <a:spcPts val="0"/>
              </a:spcAft>
            </a:pPr>
            <a:r>
              <a:rPr sz="1500" b="0">
                <a:solidFill>
                  <a:srgbClr val="52514E"/>
                </a:solidFill>
                <a:latin typeface="Calibri"/>
              </a:rPr>
              <a:t>daytime, Mar–May</a:t>
            </a:r>
          </a:p>
        </p:txBody>
      </p:sp>
      <p:sp>
        <p:nvSpPr>
          <p:cNvPr id="13" name="Oval 12"/>
          <p:cNvSpPr/>
          <p:nvPr/>
        </p:nvSpPr>
        <p:spPr>
          <a:xfrm>
            <a:off x="548640" y="3328416"/>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328416"/>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3</a:t>
            </a:r>
          </a:p>
        </p:txBody>
      </p:sp>
      <p:sp>
        <p:nvSpPr>
          <p:cNvPr id="15" name="TextBox 14"/>
          <p:cNvSpPr txBox="1"/>
          <p:nvPr/>
        </p:nvSpPr>
        <p:spPr>
          <a:xfrm>
            <a:off x="1234440" y="3255264"/>
            <a:ext cx="4480560" cy="777240"/>
          </a:xfrm>
          <a:prstGeom prst="rect">
            <a:avLst/>
          </a:prstGeom>
          <a:noFill/>
        </p:spPr>
        <p:txBody>
          <a:bodyPr wrap="square" anchor="t" lIns="45720" rIns="45720">
            <a:spAutoFit/>
          </a:bodyPr>
          <a:lstStyle/>
          <a:p>
            <a:pPr algn="l">
              <a:spcAft>
                <a:spcPts val="0"/>
              </a:spcAft>
            </a:pPr>
            <a:r>
              <a:rPr sz="1800" b="1">
                <a:solidFill>
                  <a:srgbClr val="0B0B0B"/>
                </a:solidFill>
                <a:latin typeface="Calibri"/>
              </a:rPr>
              <a:t>100 m thermal resolution</a:t>
            </a:r>
          </a:p>
          <a:p>
            <a:pPr algn="l">
              <a:spcAft>
                <a:spcPts val="0"/>
              </a:spcAft>
            </a:pPr>
            <a:r>
              <a:rPr sz="1500" b="0">
                <a:solidFill>
                  <a:srgbClr val="52514E"/>
                </a:solidFill>
                <a:latin typeface="Calibri"/>
              </a:rPr>
              <a:t>mixed pixels</a:t>
            </a:r>
          </a:p>
        </p:txBody>
      </p:sp>
      <p:sp>
        <p:nvSpPr>
          <p:cNvPr id="16" name="Oval 15"/>
          <p:cNvSpPr/>
          <p:nvPr/>
        </p:nvSpPr>
        <p:spPr>
          <a:xfrm>
            <a:off x="548640" y="422452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224528"/>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4</a:t>
            </a:r>
          </a:p>
        </p:txBody>
      </p:sp>
      <p:sp>
        <p:nvSpPr>
          <p:cNvPr id="18" name="TextBox 17"/>
          <p:cNvSpPr txBox="1"/>
          <p:nvPr/>
        </p:nvSpPr>
        <p:spPr>
          <a:xfrm>
            <a:off x="1234440" y="4151376"/>
            <a:ext cx="4480560" cy="777240"/>
          </a:xfrm>
          <a:prstGeom prst="rect">
            <a:avLst/>
          </a:prstGeom>
          <a:noFill/>
        </p:spPr>
        <p:txBody>
          <a:bodyPr wrap="square" anchor="t" lIns="45720" rIns="45720">
            <a:spAutoFit/>
          </a:bodyPr>
          <a:lstStyle/>
          <a:p>
            <a:pPr algn="l">
              <a:spcAft>
                <a:spcPts val="0"/>
              </a:spcAft>
            </a:pPr>
            <a:r>
              <a:rPr sz="1800" b="1">
                <a:solidFill>
                  <a:srgbClr val="0B0B0B"/>
                </a:solidFill>
                <a:latin typeface="Calibri"/>
              </a:rPr>
              <a:t>Correlation ≠ causation</a:t>
            </a:r>
          </a:p>
          <a:p>
            <a:pPr algn="l">
              <a:spcAft>
                <a:spcPts val="0"/>
              </a:spcAft>
            </a:pPr>
            <a:r>
              <a:rPr sz="1500" b="0">
                <a:solidFill>
                  <a:srgbClr val="52514E"/>
                </a:solidFill>
                <a:latin typeface="Calibri"/>
              </a:rPr>
              <a:t>associations only</a:t>
            </a:r>
          </a:p>
        </p:txBody>
      </p:sp>
      <p:sp>
        <p:nvSpPr>
          <p:cNvPr id="19" name="Oval 18"/>
          <p:cNvSpPr/>
          <p:nvPr/>
        </p:nvSpPr>
        <p:spPr>
          <a:xfrm>
            <a:off x="548640" y="512064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120640"/>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5</a:t>
            </a:r>
          </a:p>
        </p:txBody>
      </p:sp>
      <p:sp>
        <p:nvSpPr>
          <p:cNvPr id="21" name="TextBox 20"/>
          <p:cNvSpPr txBox="1"/>
          <p:nvPr/>
        </p:nvSpPr>
        <p:spPr>
          <a:xfrm>
            <a:off x="1234440" y="5047488"/>
            <a:ext cx="4480560" cy="777240"/>
          </a:xfrm>
          <a:prstGeom prst="rect">
            <a:avLst/>
          </a:prstGeom>
          <a:noFill/>
        </p:spPr>
        <p:txBody>
          <a:bodyPr wrap="square" anchor="t" lIns="45720" rIns="45720">
            <a:spAutoFit/>
          </a:bodyPr>
          <a:lstStyle/>
          <a:p>
            <a:pPr algn="l">
              <a:spcAft>
                <a:spcPts val="0"/>
              </a:spcAft>
            </a:pPr>
            <a:r>
              <a:rPr sz="1800" b="1">
                <a:solidFill>
                  <a:srgbClr val="0B0B0B"/>
                </a:solidFill>
                <a:latin typeface="Calibri"/>
              </a:rPr>
              <a:t>Static land cover</a:t>
            </a:r>
          </a:p>
          <a:p>
            <a:pPr algn="l">
              <a:spcAft>
                <a:spcPts val="0"/>
              </a:spcAft>
            </a:pPr>
            <a:r>
              <a:rPr sz="1500" b="0">
                <a:solidFill>
                  <a:srgbClr val="52514E"/>
                </a:solidFill>
                <a:latin typeface="Calibri"/>
              </a:rPr>
              <a:t>WorldCover 2021</a:t>
            </a:r>
          </a:p>
        </p:txBody>
      </p:sp>
      <p:pic>
        <p:nvPicPr>
          <p:cNvPr id="22" name="Picture 21" descr="05_residual_map.png"/>
          <p:cNvPicPr>
            <a:picLocks noChangeAspect="1"/>
          </p:cNvPicPr>
          <p:nvPr/>
        </p:nvPicPr>
        <p:blipFill>
          <a:blip r:embed="rId3"/>
          <a:stretch>
            <a:fillRect/>
          </a:stretch>
        </p:blipFill>
        <p:spPr>
          <a:xfrm>
            <a:off x="5852160" y="1467417"/>
            <a:ext cx="6035039" cy="465468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Where the work goes next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FUTURE WORK</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15 / 16</a:t>
            </a:r>
          </a:p>
        </p:txBody>
      </p:sp>
      <p:cxnSp>
        <p:nvCxnSpPr>
          <p:cNvPr id="7" name="Connector 6"/>
          <p:cNvCxnSpPr/>
          <p:nvPr/>
        </p:nvCxnSpPr>
        <p:spPr>
          <a:xfrm>
            <a:off x="1097280" y="2788920"/>
            <a:ext cx="9966960" cy="0"/>
          </a:xfrm>
          <a:prstGeom prst="line">
            <a:avLst/>
          </a:prstGeom>
          <a:ln w="38100">
            <a:solidFill>
              <a:srgbClr val="2A78D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554480"/>
            <a:ext cx="3566160" cy="411480"/>
          </a:xfrm>
          <a:prstGeom prst="rect">
            <a:avLst/>
          </a:prstGeom>
          <a:noFill/>
        </p:spPr>
        <p:txBody>
          <a:bodyPr wrap="square" anchor="t" lIns="45720" rIns="45720">
            <a:spAutoFit/>
          </a:bodyPr>
          <a:lstStyle/>
          <a:p>
            <a:pPr algn="ctr">
              <a:spcAft>
                <a:spcPts val="0"/>
              </a:spcAft>
            </a:pPr>
            <a:r>
              <a:rPr sz="1800" b="1">
                <a:solidFill>
                  <a:srgbClr val="2A78D6"/>
                </a:solidFill>
                <a:latin typeface="Calibri"/>
              </a:rPr>
              <a:t>Near term</a:t>
            </a:r>
          </a:p>
        </p:txBody>
      </p:sp>
      <p:sp>
        <p:nvSpPr>
          <p:cNvPr id="9" name="TextBox 8"/>
          <p:cNvSpPr txBox="1"/>
          <p:nvPr/>
        </p:nvSpPr>
        <p:spPr>
          <a:xfrm>
            <a:off x="4297679" y="1554480"/>
            <a:ext cx="3566160" cy="411480"/>
          </a:xfrm>
          <a:prstGeom prst="rect">
            <a:avLst/>
          </a:prstGeom>
          <a:noFill/>
        </p:spPr>
        <p:txBody>
          <a:bodyPr wrap="square" anchor="t" lIns="45720" rIns="45720">
            <a:spAutoFit/>
          </a:bodyPr>
          <a:lstStyle/>
          <a:p>
            <a:pPr algn="ctr">
              <a:spcAft>
                <a:spcPts val="0"/>
              </a:spcAft>
            </a:pPr>
            <a:r>
              <a:rPr sz="1800" b="1">
                <a:solidFill>
                  <a:srgbClr val="2A78D6"/>
                </a:solidFill>
                <a:latin typeface="Calibri"/>
              </a:rPr>
              <a:t>Medium term</a:t>
            </a:r>
          </a:p>
        </p:txBody>
      </p:sp>
      <p:sp>
        <p:nvSpPr>
          <p:cNvPr id="10" name="TextBox 9"/>
          <p:cNvSpPr txBox="1"/>
          <p:nvPr/>
        </p:nvSpPr>
        <p:spPr>
          <a:xfrm>
            <a:off x="8046719" y="1554480"/>
            <a:ext cx="3566160" cy="411480"/>
          </a:xfrm>
          <a:prstGeom prst="rect">
            <a:avLst/>
          </a:prstGeom>
          <a:noFill/>
        </p:spPr>
        <p:txBody>
          <a:bodyPr wrap="square" anchor="t" lIns="45720" rIns="45720">
            <a:spAutoFit/>
          </a:bodyPr>
          <a:lstStyle/>
          <a:p>
            <a:pPr algn="ctr">
              <a:spcAft>
                <a:spcPts val="0"/>
              </a:spcAft>
            </a:pPr>
            <a:r>
              <a:rPr sz="1800" b="1">
                <a:solidFill>
                  <a:srgbClr val="2A78D6"/>
                </a:solidFill>
                <a:latin typeface="Calibri"/>
              </a:rPr>
              <a:t>Long term</a:t>
            </a:r>
          </a:p>
        </p:txBody>
      </p:sp>
      <p:sp>
        <p:nvSpPr>
          <p:cNvPr id="11" name="Oval 10"/>
          <p:cNvSpPr/>
          <p:nvPr/>
        </p:nvSpPr>
        <p:spPr>
          <a:xfrm>
            <a:off x="1188720" y="25146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51460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1</a:t>
            </a:r>
          </a:p>
        </p:txBody>
      </p:sp>
      <p:sp>
        <p:nvSpPr>
          <p:cNvPr id="13" name="Rounded Rectangle 12"/>
          <p:cNvSpPr/>
          <p:nvPr/>
        </p:nvSpPr>
        <p:spPr>
          <a:xfrm>
            <a:off x="594360" y="3429000"/>
            <a:ext cx="1737360" cy="18288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56616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More cities</a:t>
            </a:r>
          </a:p>
        </p:txBody>
      </p:sp>
      <p:sp>
        <p:nvSpPr>
          <p:cNvPr id="15" name="TextBox 14"/>
          <p:cNvSpPr txBox="1"/>
          <p:nvPr/>
        </p:nvSpPr>
        <p:spPr>
          <a:xfrm>
            <a:off x="685800" y="434340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test whether drivers transfer</a:t>
            </a:r>
          </a:p>
        </p:txBody>
      </p:sp>
      <p:sp>
        <p:nvSpPr>
          <p:cNvPr id="16" name="Oval 15"/>
          <p:cNvSpPr/>
          <p:nvPr/>
        </p:nvSpPr>
        <p:spPr>
          <a:xfrm>
            <a:off x="3063240" y="25146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251460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2</a:t>
            </a:r>
          </a:p>
        </p:txBody>
      </p:sp>
      <p:sp>
        <p:nvSpPr>
          <p:cNvPr id="18" name="Rounded Rectangle 17"/>
          <p:cNvSpPr/>
          <p:nvPr/>
        </p:nvSpPr>
        <p:spPr>
          <a:xfrm>
            <a:off x="2468880" y="3429000"/>
            <a:ext cx="1737360" cy="18288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0" y="356616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Multiple seasons</a:t>
            </a:r>
          </a:p>
        </p:txBody>
      </p:sp>
      <p:sp>
        <p:nvSpPr>
          <p:cNvPr id="20" name="TextBox 19"/>
          <p:cNvSpPr txBox="1"/>
          <p:nvPr/>
        </p:nvSpPr>
        <p:spPr>
          <a:xfrm>
            <a:off x="2560320" y="434340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night, post-monsoon, winter</a:t>
            </a:r>
          </a:p>
        </p:txBody>
      </p:sp>
      <p:sp>
        <p:nvSpPr>
          <p:cNvPr id="21" name="Oval 20"/>
          <p:cNvSpPr/>
          <p:nvPr/>
        </p:nvSpPr>
        <p:spPr>
          <a:xfrm>
            <a:off x="4937759" y="25146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251460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3</a:t>
            </a:r>
          </a:p>
        </p:txBody>
      </p:sp>
      <p:sp>
        <p:nvSpPr>
          <p:cNvPr id="23" name="Rounded Rectangle 22"/>
          <p:cNvSpPr/>
          <p:nvPr/>
        </p:nvSpPr>
        <p:spPr>
          <a:xfrm>
            <a:off x="4343399" y="3429000"/>
            <a:ext cx="1737360" cy="18288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356616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Higher resolution</a:t>
            </a:r>
          </a:p>
        </p:txBody>
      </p:sp>
      <p:sp>
        <p:nvSpPr>
          <p:cNvPr id="25" name="TextBox 24"/>
          <p:cNvSpPr txBox="1"/>
          <p:nvPr/>
        </p:nvSpPr>
        <p:spPr>
          <a:xfrm>
            <a:off x="4434840" y="434340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~70 m thermal, building heights</a:t>
            </a:r>
          </a:p>
        </p:txBody>
      </p:sp>
      <p:sp>
        <p:nvSpPr>
          <p:cNvPr id="26" name="Oval 25"/>
          <p:cNvSpPr/>
          <p:nvPr/>
        </p:nvSpPr>
        <p:spPr>
          <a:xfrm>
            <a:off x="6812280" y="25146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51460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4</a:t>
            </a:r>
          </a:p>
        </p:txBody>
      </p:sp>
      <p:sp>
        <p:nvSpPr>
          <p:cNvPr id="28" name="Rounded Rectangle 27"/>
          <p:cNvSpPr/>
          <p:nvPr/>
        </p:nvSpPr>
        <p:spPr>
          <a:xfrm>
            <a:off x="6217920" y="3429000"/>
            <a:ext cx="1737360" cy="18288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356616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Meteorology</a:t>
            </a:r>
          </a:p>
        </p:txBody>
      </p:sp>
      <p:sp>
        <p:nvSpPr>
          <p:cNvPr id="30" name="TextBox 29"/>
          <p:cNvSpPr txBox="1"/>
          <p:nvPr/>
        </p:nvSpPr>
        <p:spPr>
          <a:xfrm>
            <a:off x="6309360" y="434340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air temperature, humidity, wind</a:t>
            </a:r>
          </a:p>
        </p:txBody>
      </p:sp>
      <p:sp>
        <p:nvSpPr>
          <p:cNvPr id="31" name="Oval 30"/>
          <p:cNvSpPr/>
          <p:nvPr/>
        </p:nvSpPr>
        <p:spPr>
          <a:xfrm>
            <a:off x="8686799" y="25146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59" y="251460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5</a:t>
            </a:r>
          </a:p>
        </p:txBody>
      </p:sp>
      <p:sp>
        <p:nvSpPr>
          <p:cNvPr id="33" name="Rounded Rectangle 32"/>
          <p:cNvSpPr/>
          <p:nvPr/>
        </p:nvSpPr>
        <p:spPr>
          <a:xfrm>
            <a:off x="8092440" y="3429000"/>
            <a:ext cx="1737360" cy="18288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356616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Real-time dashboard</a:t>
            </a:r>
          </a:p>
        </p:txBody>
      </p:sp>
      <p:sp>
        <p:nvSpPr>
          <p:cNvPr id="35" name="TextBox 34"/>
          <p:cNvSpPr txBox="1"/>
          <p:nvPr/>
        </p:nvSpPr>
        <p:spPr>
          <a:xfrm>
            <a:off x="8183879" y="434340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auto-update every season</a:t>
            </a:r>
          </a:p>
        </p:txBody>
      </p:sp>
      <p:sp>
        <p:nvSpPr>
          <p:cNvPr id="36" name="Oval 35"/>
          <p:cNvSpPr/>
          <p:nvPr/>
        </p:nvSpPr>
        <p:spPr>
          <a:xfrm>
            <a:off x="10561319" y="25146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69880" y="251460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6</a:t>
            </a:r>
          </a:p>
        </p:txBody>
      </p:sp>
      <p:sp>
        <p:nvSpPr>
          <p:cNvPr id="38" name="Rounded Rectangle 37"/>
          <p:cNvSpPr/>
          <p:nvPr/>
        </p:nvSpPr>
        <p:spPr>
          <a:xfrm>
            <a:off x="9966960" y="3429000"/>
            <a:ext cx="1737360" cy="18288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0" y="356616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Climate projections</a:t>
            </a:r>
          </a:p>
        </p:txBody>
      </p:sp>
      <p:sp>
        <p:nvSpPr>
          <p:cNvPr id="40" name="TextBox 39"/>
          <p:cNvSpPr txBox="1"/>
          <p:nvPr/>
        </p:nvSpPr>
        <p:spPr>
          <a:xfrm>
            <a:off x="10058400" y="434340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canopy needed for future warming</a:t>
            </a:r>
          </a:p>
        </p:txBody>
      </p:sp>
      <p:sp>
        <p:nvSpPr>
          <p:cNvPr id="41" name="TextBox 40"/>
          <p:cNvSpPr txBox="1"/>
          <p:nvPr/>
        </p:nvSpPr>
        <p:spPr>
          <a:xfrm>
            <a:off x="548640" y="5532120"/>
            <a:ext cx="11064240" cy="548640"/>
          </a:xfrm>
          <a:prstGeom prst="rect">
            <a:avLst/>
          </a:prstGeom>
          <a:noFill/>
        </p:spPr>
        <p:txBody>
          <a:bodyPr wrap="square" anchor="t" lIns="45720" rIns="45720">
            <a:spAutoFit/>
          </a:bodyPr>
          <a:lstStyle/>
          <a:p>
            <a:pPr algn="l">
              <a:spcAft>
                <a:spcPts val="600"/>
              </a:spcAft>
            </a:pPr>
            <a:r>
              <a:rPr sz="1700" b="1">
                <a:solidFill>
                  <a:srgbClr val="2A78D6"/>
                </a:solidFill>
                <a:latin typeface="Calibri"/>
              </a:rPr>
              <a:t>Method:  </a:t>
            </a:r>
            <a:r>
              <a:rPr sz="1700" b="0">
                <a:solidFill>
                  <a:srgbClr val="52514E"/>
                </a:solidFill>
                <a:latin typeface="Calibri"/>
              </a:rPr>
              <a:t>nested spatial CV · before-and-after land-cover change, toward causal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From satellite pixels to planning evidence</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CONCLUSION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16 / 16</a:t>
            </a:r>
          </a:p>
        </p:txBody>
      </p:sp>
      <p:sp>
        <p:nvSpPr>
          <p:cNvPr id="7" name="Pentagon 6"/>
          <p:cNvSpPr/>
          <p:nvPr/>
        </p:nvSpPr>
        <p:spPr>
          <a:xfrm>
            <a:off x="548640" y="1463040"/>
            <a:ext cx="2212848" cy="822960"/>
          </a:xfrm>
          <a:prstGeom prst="homePlat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Problem</a:t>
            </a:r>
          </a:p>
        </p:txBody>
      </p:sp>
      <p:sp>
        <p:nvSpPr>
          <p:cNvPr id="9" name="TextBox 8"/>
          <p:cNvSpPr txBox="1"/>
          <p:nvPr/>
        </p:nvSpPr>
        <p:spPr>
          <a:xfrm>
            <a:off x="685800" y="2468880"/>
            <a:ext cx="2011680" cy="11887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where is Pune hot, and why?</a:t>
            </a:r>
          </a:p>
        </p:txBody>
      </p:sp>
      <p:sp>
        <p:nvSpPr>
          <p:cNvPr id="10" name="Chevron 9"/>
          <p:cNvSpPr/>
          <p:nvPr/>
        </p:nvSpPr>
        <p:spPr>
          <a:xfrm>
            <a:off x="2743200" y="1463040"/>
            <a:ext cx="2212848" cy="822960"/>
          </a:xfrm>
          <a:prstGeom prst="chevro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Method</a:t>
            </a:r>
          </a:p>
        </p:txBody>
      </p:sp>
      <p:sp>
        <p:nvSpPr>
          <p:cNvPr id="12" name="TextBox 11"/>
          <p:cNvSpPr txBox="1"/>
          <p:nvPr/>
        </p:nvSpPr>
        <p:spPr>
          <a:xfrm>
            <a:off x="2880360" y="2468880"/>
            <a:ext cx="2011680" cy="11887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13 features · 4 km spatial CV</a:t>
            </a:r>
          </a:p>
        </p:txBody>
      </p:sp>
      <p:sp>
        <p:nvSpPr>
          <p:cNvPr id="13" name="Chevron 12"/>
          <p:cNvSpPr/>
          <p:nvPr/>
        </p:nvSpPr>
        <p:spPr>
          <a:xfrm>
            <a:off x="4937759" y="1463040"/>
            <a:ext cx="2212848" cy="822960"/>
          </a:xfrm>
          <a:prstGeom prst="chevro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Results</a:t>
            </a:r>
          </a:p>
        </p:txBody>
      </p:sp>
      <p:sp>
        <p:nvSpPr>
          <p:cNvPr id="15" name="TextBox 14"/>
          <p:cNvSpPr txBox="1"/>
          <p:nvPr/>
        </p:nvSpPr>
        <p:spPr>
          <a:xfrm>
            <a:off x="5074920" y="2468880"/>
            <a:ext cx="2011680" cy="11887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1.75 °C RMSE · R² 0.72 on 2025</a:t>
            </a:r>
          </a:p>
        </p:txBody>
      </p:sp>
      <p:sp>
        <p:nvSpPr>
          <p:cNvPr id="16" name="Chevron 15"/>
          <p:cNvSpPr/>
          <p:nvPr/>
        </p:nvSpPr>
        <p:spPr>
          <a:xfrm>
            <a:off x="7132319" y="1463040"/>
            <a:ext cx="2212848" cy="822960"/>
          </a:xfrm>
          <a:prstGeom prst="chevro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Explainability</a:t>
            </a:r>
          </a:p>
        </p:txBody>
      </p:sp>
      <p:sp>
        <p:nvSpPr>
          <p:cNvPr id="18" name="TextBox 17"/>
          <p:cNvSpPr txBox="1"/>
          <p:nvPr/>
        </p:nvSpPr>
        <p:spPr>
          <a:xfrm>
            <a:off x="7269479" y="2468880"/>
            <a:ext cx="2011680" cy="11887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vegetation and dryness lead; built-up smallest</a:t>
            </a:r>
          </a:p>
        </p:txBody>
      </p:sp>
      <p:sp>
        <p:nvSpPr>
          <p:cNvPr id="19" name="Chevron 18"/>
          <p:cNvSpPr/>
          <p:nvPr/>
        </p:nvSpPr>
        <p:spPr>
          <a:xfrm>
            <a:off x="9326880" y="1463040"/>
            <a:ext cx="2212848" cy="822960"/>
          </a:xfrm>
          <a:prstGeom prst="chevron">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Impact</a:t>
            </a:r>
          </a:p>
        </p:txBody>
      </p:sp>
      <p:sp>
        <p:nvSpPr>
          <p:cNvPr id="21" name="TextBox 20"/>
          <p:cNvSpPr txBox="1"/>
          <p:nvPr/>
        </p:nvSpPr>
        <p:spPr>
          <a:xfrm>
            <a:off x="9464040" y="2468880"/>
            <a:ext cx="2011680" cy="11887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~10% canopy: 0.4–1.0 °C cooler</a:t>
            </a:r>
          </a:p>
        </p:txBody>
      </p:sp>
      <p:sp>
        <p:nvSpPr>
          <p:cNvPr id="22" name="Rounded Rectangle 21"/>
          <p:cNvSpPr/>
          <p:nvPr/>
        </p:nvSpPr>
        <p:spPr>
          <a:xfrm>
            <a:off x="548640" y="3657600"/>
            <a:ext cx="11064240" cy="2514600"/>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31920"/>
            <a:ext cx="5486400" cy="914400"/>
          </a:xfrm>
          <a:prstGeom prst="rect">
            <a:avLst/>
          </a:prstGeom>
          <a:noFill/>
        </p:spPr>
        <p:txBody>
          <a:bodyPr wrap="square" anchor="t" lIns="45720" rIns="45720">
            <a:spAutoFit/>
          </a:bodyPr>
          <a:lstStyle/>
          <a:p>
            <a:pPr algn="l">
              <a:spcAft>
                <a:spcPts val="0"/>
              </a:spcAft>
            </a:pPr>
            <a:r>
              <a:rPr sz="4400" b="1">
                <a:solidFill>
                  <a:srgbClr val="FFFFFF"/>
                </a:solidFill>
                <a:latin typeface="Calibri"/>
              </a:rPr>
              <a:t>Thank you</a:t>
            </a:r>
          </a:p>
        </p:txBody>
      </p:sp>
      <p:sp>
        <p:nvSpPr>
          <p:cNvPr id="24" name="TextBox 23"/>
          <p:cNvSpPr txBox="1"/>
          <p:nvPr/>
        </p:nvSpPr>
        <p:spPr>
          <a:xfrm>
            <a:off x="914400" y="4937760"/>
            <a:ext cx="5486400" cy="731520"/>
          </a:xfrm>
          <a:prstGeom prst="rect">
            <a:avLst/>
          </a:prstGeom>
          <a:noFill/>
        </p:spPr>
        <p:txBody>
          <a:bodyPr wrap="square" anchor="t" lIns="45720" rIns="45720">
            <a:spAutoFit/>
          </a:bodyPr>
          <a:lstStyle/>
          <a:p>
            <a:pPr algn="l">
              <a:spcAft>
                <a:spcPts val="0"/>
              </a:spcAft>
            </a:pPr>
            <a:r>
              <a:rPr sz="3200" b="1">
                <a:solidFill>
                  <a:srgbClr val="2A78D6"/>
                </a:solidFill>
                <a:latin typeface="Calibri"/>
              </a:rPr>
              <a:t>Questions?</a:t>
            </a:r>
          </a:p>
        </p:txBody>
      </p:sp>
      <p:sp>
        <p:nvSpPr>
          <p:cNvPr id="25" name="TextBox 24"/>
          <p:cNvSpPr txBox="1"/>
          <p:nvPr/>
        </p:nvSpPr>
        <p:spPr>
          <a:xfrm>
            <a:off x="6583680" y="4114800"/>
            <a:ext cx="4846320" cy="1828800"/>
          </a:xfrm>
          <a:prstGeom prst="rect">
            <a:avLst/>
          </a:prstGeom>
          <a:noFill/>
        </p:spPr>
        <p:txBody>
          <a:bodyPr wrap="square" anchor="t" lIns="45720" rIns="45720">
            <a:spAutoFit/>
          </a:bodyPr>
          <a:lstStyle/>
          <a:p>
            <a:pPr algn="l">
              <a:spcAft>
                <a:spcPts val="600"/>
              </a:spcAft>
            </a:pPr>
            <a:r>
              <a:rPr sz="1700" b="0">
                <a:solidFill>
                  <a:srgbClr val="FFFFFF"/>
                </a:solidFill>
                <a:latin typeface="Calibri"/>
              </a:rPr>
              <a:t>Shourya Tiwari · Shashwat Kumar</a:t>
            </a:r>
          </a:p>
          <a:p>
            <a:pPr algn="l">
              <a:spcAft>
                <a:spcPts val="600"/>
              </a:spcAft>
            </a:pPr>
            <a:r>
              <a:rPr sz="1700" b="0">
                <a:solidFill>
                  <a:srgbClr val="FFFFFF"/>
                </a:solidFill>
                <a:latin typeface="Calibri"/>
              </a:rPr>
              <a:t>Rishik Sinha · Shubhankar Bhan</a:t>
            </a:r>
          </a:p>
          <a:p>
            <a:pPr algn="l">
              <a:spcAft>
                <a:spcPts val="600"/>
              </a:spcAft>
            </a:pPr>
            <a:r>
              <a:rPr sz="1400" b="0">
                <a:solidFill>
                  <a:srgbClr val="C9D6EA"/>
                </a:solidFill>
                <a:latin typeface="Calibri"/>
              </a:rPr>
              <a:t>Symbiosis Institute of Technology, Pune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Concrete vs. Canopy: Explainable Machine Learning for Urban Heat Island Drivers in Pune</dc:title>
  <dc:subject>MirageAI · TE7483 case study, Symbiosis Institute of Technology, Pune · version 2</dc:subject>
  <dc:creator>Shourya Tiwari; Shashwat Kumar; Rishik Sinha; Shubhankar Bhan</dc:creator>
  <cp:keywords>urban heat island; land surface temperature; spatial cross-validation; SHAP</cp:keywords>
  <dc:description/>
  <cp:lastModifiedBy>Shourya Tiwari; Shashwat Kumar; Rishik Sinha; Shubhankar Bhan</cp:lastModifiedBy>
  <cp:revision>1</cp:revision>
  <dcterms:created xsi:type="dcterms:W3CDTF">2013-01-27T09:14:16Z</dcterms:created>
  <dcterms:modified xsi:type="dcterms:W3CDTF">2013-01-27T09:15:58Z</dcterms:modified>
  <cp:category/>
</cp:coreProperties>
</file>